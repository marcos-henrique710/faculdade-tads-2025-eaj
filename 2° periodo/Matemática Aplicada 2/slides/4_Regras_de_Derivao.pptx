
<file path=[Content_Types].xml><?xml version="1.0" encoding="utf-8"?>
<Types xmlns="http://schemas.openxmlformats.org/package/2006/content-types">
  <Default Extension="jpeg" ContentType="image/jpeg"/>
  <Default Extension="JPG" ContentType="image/.jpg"/>
  <Default Extension="tiff" ContentType="image/tif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4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85" r:id="rId22"/>
    <p:sldId id="286" r:id="rId23"/>
    <p:sldId id="287" r:id="rId24"/>
    <p:sldId id="288" r:id="rId25"/>
    <p:sldId id="289" r:id="rId26"/>
    <p:sldId id="290" r:id="rId27"/>
    <p:sldId id="291" r:id="rId28"/>
    <p:sldId id="292" r:id="rId29"/>
    <p:sldId id="293" r:id="rId30"/>
    <p:sldId id="294" r:id="rId31"/>
    <p:sldId id="295" r:id="rId32"/>
    <p:sldId id="296" r:id="rId33"/>
    <p:sldId id="297" r:id="rId34"/>
    <p:sldId id="298" r:id="rId35"/>
    <p:sldId id="299" r:id="rId36"/>
    <p:sldId id="300" r:id="rId37"/>
    <p:sldId id="301" r:id="rId38"/>
    <p:sldId id="302" r:id="rId39"/>
    <p:sldId id="303" r:id="rId40"/>
    <p:sldId id="304" r:id="rId41"/>
    <p:sldId id="305" r:id="rId42"/>
    <p:sldId id="306" r:id="rId43"/>
    <p:sldId id="307" r:id="rId44"/>
    <p:sldId id="308" r:id="rId45"/>
    <p:sldId id="309" r:id="rId46"/>
    <p:sldId id="310" r:id="rId47"/>
    <p:sldId id="311" r:id="rId48"/>
    <p:sldId id="367" r:id="rId49"/>
    <p:sldId id="368" r:id="rId50"/>
    <p:sldId id="369" r:id="rId51"/>
    <p:sldId id="370" r:id="rId52"/>
    <p:sldId id="371" r:id="rId53"/>
    <p:sldId id="372" r:id="rId54"/>
    <p:sldId id="373" r:id="rId55"/>
    <p:sldId id="374" r:id="rId56"/>
    <p:sldId id="375" r:id="rId57"/>
    <p:sldId id="376" r:id="rId58"/>
    <p:sldId id="312" r:id="rId59"/>
    <p:sldId id="313" r:id="rId60"/>
    <p:sldId id="314" r:id="rId61"/>
    <p:sldId id="315" r:id="rId62"/>
    <p:sldId id="316" r:id="rId63"/>
    <p:sldId id="317" r:id="rId64"/>
    <p:sldId id="318" r:id="rId65"/>
    <p:sldId id="319" r:id="rId66"/>
    <p:sldId id="320" r:id="rId67"/>
    <p:sldId id="321" r:id="rId68"/>
    <p:sldId id="322" r:id="rId69"/>
    <p:sldId id="323" r:id="rId70"/>
    <p:sldId id="324" r:id="rId71"/>
    <p:sldId id="325" r:id="rId72"/>
    <p:sldId id="326" r:id="rId73"/>
    <p:sldId id="327" r:id="rId74"/>
    <p:sldId id="328" r:id="rId75"/>
    <p:sldId id="329" r:id="rId76"/>
    <p:sldId id="330" r:id="rId77"/>
    <p:sldId id="331" r:id="rId78"/>
    <p:sldId id="332" r:id="rId79"/>
    <p:sldId id="333" r:id="rId80"/>
    <p:sldId id="334" r:id="rId81"/>
    <p:sldId id="335" r:id="rId82"/>
    <p:sldId id="336" r:id="rId83"/>
    <p:sldId id="337" r:id="rId84"/>
    <p:sldId id="338" r:id="rId85"/>
    <p:sldId id="339" r:id="rId86"/>
    <p:sldId id="340" r:id="rId87"/>
    <p:sldId id="341" r:id="rId88"/>
    <p:sldId id="342" r:id="rId89"/>
    <p:sldId id="343" r:id="rId90"/>
    <p:sldId id="344" r:id="rId91"/>
    <p:sldId id="345" r:id="rId92"/>
    <p:sldId id="346" r:id="rId93"/>
    <p:sldId id="347" r:id="rId94"/>
    <p:sldId id="348" r:id="rId95"/>
    <p:sldId id="349" r:id="rId96"/>
    <p:sldId id="350" r:id="rId97"/>
    <p:sldId id="351" r:id="rId98"/>
    <p:sldId id="352" r:id="rId99"/>
    <p:sldId id="353" r:id="rId100"/>
    <p:sldId id="354" r:id="rId101"/>
    <p:sldId id="355" r:id="rId102"/>
    <p:sldId id="356" r:id="rId103"/>
    <p:sldId id="357" r:id="rId104"/>
    <p:sldId id="358" r:id="rId105"/>
    <p:sldId id="359" r:id="rId106"/>
    <p:sldId id="360" r:id="rId107"/>
    <p:sldId id="361" r:id="rId108"/>
    <p:sldId id="362" r:id="rId109"/>
    <p:sldId id="363" r:id="rId110"/>
    <p:sldId id="364" r:id="rId111"/>
    <p:sldId id="365" r:id="rId112"/>
    <p:sldId id="366" r:id="rId113"/>
  </p:sldIdLst>
  <p:sldSz cx="13004800" cy="97536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24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1pPr>
    <a:lvl2pPr marL="0" marR="0" indent="2286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24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2pPr>
    <a:lvl3pPr marL="0" marR="0" indent="4572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24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3pPr>
    <a:lvl4pPr marL="0" marR="0" indent="6858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24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4pPr>
    <a:lvl5pPr marL="0" marR="0" indent="9144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24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5pPr>
    <a:lvl6pPr marL="0" marR="0" indent="11430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24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6pPr>
    <a:lvl7pPr marL="0" marR="0" indent="13716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24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7pPr>
    <a:lvl8pPr marL="0" marR="0" indent="16002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24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8pPr>
    <a:lvl9pPr marL="0" marR="0" indent="18288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24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940675A-B579-460E-94D1-54222C63F5D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9" Type="http://schemas.openxmlformats.org/officeDocument/2006/relationships/slide" Target="slides/slide97.xml"/><Relationship Id="rId98" Type="http://schemas.openxmlformats.org/officeDocument/2006/relationships/slide" Target="slides/slide96.xml"/><Relationship Id="rId97" Type="http://schemas.openxmlformats.org/officeDocument/2006/relationships/slide" Target="slides/slide95.xml"/><Relationship Id="rId96" Type="http://schemas.openxmlformats.org/officeDocument/2006/relationships/slide" Target="slides/slide94.xml"/><Relationship Id="rId95" Type="http://schemas.openxmlformats.org/officeDocument/2006/relationships/slide" Target="slides/slide93.xml"/><Relationship Id="rId94" Type="http://schemas.openxmlformats.org/officeDocument/2006/relationships/slide" Target="slides/slide92.xml"/><Relationship Id="rId93" Type="http://schemas.openxmlformats.org/officeDocument/2006/relationships/slide" Target="slides/slide91.xml"/><Relationship Id="rId92" Type="http://schemas.openxmlformats.org/officeDocument/2006/relationships/slide" Target="slides/slide90.xml"/><Relationship Id="rId91" Type="http://schemas.openxmlformats.org/officeDocument/2006/relationships/slide" Target="slides/slide89.xml"/><Relationship Id="rId90" Type="http://schemas.openxmlformats.org/officeDocument/2006/relationships/slide" Target="slides/slide88.xml"/><Relationship Id="rId9" Type="http://schemas.openxmlformats.org/officeDocument/2006/relationships/slide" Target="slides/slide7.xml"/><Relationship Id="rId89" Type="http://schemas.openxmlformats.org/officeDocument/2006/relationships/slide" Target="slides/slide87.xml"/><Relationship Id="rId88" Type="http://schemas.openxmlformats.org/officeDocument/2006/relationships/slide" Target="slides/slide86.xml"/><Relationship Id="rId87" Type="http://schemas.openxmlformats.org/officeDocument/2006/relationships/slide" Target="slides/slide85.xml"/><Relationship Id="rId86" Type="http://schemas.openxmlformats.org/officeDocument/2006/relationships/slide" Target="slides/slide84.xml"/><Relationship Id="rId85" Type="http://schemas.openxmlformats.org/officeDocument/2006/relationships/slide" Target="slides/slide83.xml"/><Relationship Id="rId84" Type="http://schemas.openxmlformats.org/officeDocument/2006/relationships/slide" Target="slides/slide82.xml"/><Relationship Id="rId83" Type="http://schemas.openxmlformats.org/officeDocument/2006/relationships/slide" Target="slides/slide81.xml"/><Relationship Id="rId82" Type="http://schemas.openxmlformats.org/officeDocument/2006/relationships/slide" Target="slides/slide80.xml"/><Relationship Id="rId81" Type="http://schemas.openxmlformats.org/officeDocument/2006/relationships/slide" Target="slides/slide79.xml"/><Relationship Id="rId80" Type="http://schemas.openxmlformats.org/officeDocument/2006/relationships/slide" Target="slides/slide78.xml"/><Relationship Id="rId8" Type="http://schemas.openxmlformats.org/officeDocument/2006/relationships/slide" Target="slides/slide6.xml"/><Relationship Id="rId79" Type="http://schemas.openxmlformats.org/officeDocument/2006/relationships/slide" Target="slides/slide77.xml"/><Relationship Id="rId78" Type="http://schemas.openxmlformats.org/officeDocument/2006/relationships/slide" Target="slides/slide76.xml"/><Relationship Id="rId77" Type="http://schemas.openxmlformats.org/officeDocument/2006/relationships/slide" Target="slides/slide75.xml"/><Relationship Id="rId76" Type="http://schemas.openxmlformats.org/officeDocument/2006/relationships/slide" Target="slides/slide74.xml"/><Relationship Id="rId75" Type="http://schemas.openxmlformats.org/officeDocument/2006/relationships/slide" Target="slides/slide73.xml"/><Relationship Id="rId74" Type="http://schemas.openxmlformats.org/officeDocument/2006/relationships/slide" Target="slides/slide72.xml"/><Relationship Id="rId73" Type="http://schemas.openxmlformats.org/officeDocument/2006/relationships/slide" Target="slides/slide71.xml"/><Relationship Id="rId72" Type="http://schemas.openxmlformats.org/officeDocument/2006/relationships/slide" Target="slides/slide70.xml"/><Relationship Id="rId71" Type="http://schemas.openxmlformats.org/officeDocument/2006/relationships/slide" Target="slides/slide69.xml"/><Relationship Id="rId70" Type="http://schemas.openxmlformats.org/officeDocument/2006/relationships/slide" Target="slides/slide68.xml"/><Relationship Id="rId7" Type="http://schemas.openxmlformats.org/officeDocument/2006/relationships/slide" Target="slides/slide5.xml"/><Relationship Id="rId69" Type="http://schemas.openxmlformats.org/officeDocument/2006/relationships/slide" Target="slides/slide67.xml"/><Relationship Id="rId68" Type="http://schemas.openxmlformats.org/officeDocument/2006/relationships/slide" Target="slides/slide66.xml"/><Relationship Id="rId67" Type="http://schemas.openxmlformats.org/officeDocument/2006/relationships/slide" Target="slides/slide65.xml"/><Relationship Id="rId66" Type="http://schemas.openxmlformats.org/officeDocument/2006/relationships/slide" Target="slides/slide64.xml"/><Relationship Id="rId65" Type="http://schemas.openxmlformats.org/officeDocument/2006/relationships/slide" Target="slides/slide63.xml"/><Relationship Id="rId64" Type="http://schemas.openxmlformats.org/officeDocument/2006/relationships/slide" Target="slides/slide62.xml"/><Relationship Id="rId63" Type="http://schemas.openxmlformats.org/officeDocument/2006/relationships/slide" Target="slides/slide61.xml"/><Relationship Id="rId62" Type="http://schemas.openxmlformats.org/officeDocument/2006/relationships/slide" Target="slides/slide60.xml"/><Relationship Id="rId61" Type="http://schemas.openxmlformats.org/officeDocument/2006/relationships/slide" Target="slides/slide59.xml"/><Relationship Id="rId60" Type="http://schemas.openxmlformats.org/officeDocument/2006/relationships/slide" Target="slides/slide58.xml"/><Relationship Id="rId6" Type="http://schemas.openxmlformats.org/officeDocument/2006/relationships/slide" Target="slides/slide4.xml"/><Relationship Id="rId59" Type="http://schemas.openxmlformats.org/officeDocument/2006/relationships/slide" Target="slides/slide57.xml"/><Relationship Id="rId58" Type="http://schemas.openxmlformats.org/officeDocument/2006/relationships/slide" Target="slides/slide56.xml"/><Relationship Id="rId57" Type="http://schemas.openxmlformats.org/officeDocument/2006/relationships/slide" Target="slides/slide55.xml"/><Relationship Id="rId56" Type="http://schemas.openxmlformats.org/officeDocument/2006/relationships/slide" Target="slides/slide54.xml"/><Relationship Id="rId55" Type="http://schemas.openxmlformats.org/officeDocument/2006/relationships/slide" Target="slides/slide53.xml"/><Relationship Id="rId54" Type="http://schemas.openxmlformats.org/officeDocument/2006/relationships/slide" Target="slides/slide52.xml"/><Relationship Id="rId53" Type="http://schemas.openxmlformats.org/officeDocument/2006/relationships/slide" Target="slides/slide51.xml"/><Relationship Id="rId52" Type="http://schemas.openxmlformats.org/officeDocument/2006/relationships/slide" Target="slides/slide50.xml"/><Relationship Id="rId51" Type="http://schemas.openxmlformats.org/officeDocument/2006/relationships/slide" Target="slides/slide49.xml"/><Relationship Id="rId50" Type="http://schemas.openxmlformats.org/officeDocument/2006/relationships/slide" Target="slides/slide48.xml"/><Relationship Id="rId5" Type="http://schemas.openxmlformats.org/officeDocument/2006/relationships/slide" Target="slides/slide3.xml"/><Relationship Id="rId49" Type="http://schemas.openxmlformats.org/officeDocument/2006/relationships/slide" Target="slides/slide47.xml"/><Relationship Id="rId48" Type="http://schemas.openxmlformats.org/officeDocument/2006/relationships/slide" Target="slides/slide46.xml"/><Relationship Id="rId47" Type="http://schemas.openxmlformats.org/officeDocument/2006/relationships/slide" Target="slides/slide45.xml"/><Relationship Id="rId46" Type="http://schemas.openxmlformats.org/officeDocument/2006/relationships/slide" Target="slides/slide44.xml"/><Relationship Id="rId45" Type="http://schemas.openxmlformats.org/officeDocument/2006/relationships/slide" Target="slides/slide43.xml"/><Relationship Id="rId44" Type="http://schemas.openxmlformats.org/officeDocument/2006/relationships/slide" Target="slides/slide42.xml"/><Relationship Id="rId43" Type="http://schemas.openxmlformats.org/officeDocument/2006/relationships/slide" Target="slides/slide4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7" Type="http://schemas.openxmlformats.org/officeDocument/2006/relationships/tableStyles" Target="tableStyles.xml"/><Relationship Id="rId116" Type="http://schemas.openxmlformats.org/officeDocument/2006/relationships/viewProps" Target="viewProps.xml"/><Relationship Id="rId115" Type="http://schemas.openxmlformats.org/officeDocument/2006/relationships/presProps" Target="presProps.xml"/><Relationship Id="rId114" Type="http://schemas.openxmlformats.org/officeDocument/2006/relationships/notesMaster" Target="notesMasters/notesMaster1.xml"/><Relationship Id="rId113" Type="http://schemas.openxmlformats.org/officeDocument/2006/relationships/slide" Target="slides/slide111.xml"/><Relationship Id="rId112" Type="http://schemas.openxmlformats.org/officeDocument/2006/relationships/slide" Target="slides/slide110.xml"/><Relationship Id="rId111" Type="http://schemas.openxmlformats.org/officeDocument/2006/relationships/slide" Target="slides/slide109.xml"/><Relationship Id="rId110" Type="http://schemas.openxmlformats.org/officeDocument/2006/relationships/slide" Target="slides/slide108.xml"/><Relationship Id="rId11" Type="http://schemas.openxmlformats.org/officeDocument/2006/relationships/slide" Target="slides/slide9.xml"/><Relationship Id="rId109" Type="http://schemas.openxmlformats.org/officeDocument/2006/relationships/slide" Target="slides/slide107.xml"/><Relationship Id="rId108" Type="http://schemas.openxmlformats.org/officeDocument/2006/relationships/slide" Target="slides/slide106.xml"/><Relationship Id="rId107" Type="http://schemas.openxmlformats.org/officeDocument/2006/relationships/slide" Target="slides/slide105.xml"/><Relationship Id="rId106" Type="http://schemas.openxmlformats.org/officeDocument/2006/relationships/slide" Target="slides/slide104.xml"/><Relationship Id="rId105" Type="http://schemas.openxmlformats.org/officeDocument/2006/relationships/slide" Target="slides/slide103.xml"/><Relationship Id="rId104" Type="http://schemas.openxmlformats.org/officeDocument/2006/relationships/slide" Target="slides/slide102.xml"/><Relationship Id="rId103" Type="http://schemas.openxmlformats.org/officeDocument/2006/relationships/slide" Target="slides/slide101.xml"/><Relationship Id="rId102" Type="http://schemas.openxmlformats.org/officeDocument/2006/relationships/slide" Target="slides/slide100.xml"/><Relationship Id="rId101" Type="http://schemas.openxmlformats.org/officeDocument/2006/relationships/slide" Target="slides/slide99.xml"/><Relationship Id="rId100" Type="http://schemas.openxmlformats.org/officeDocument/2006/relationships/slide" Target="slides/slide98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Shape 260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261" name="Shape 261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ítulo e sub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o do título"/>
          <p:cNvSpPr txBox="1"/>
          <p:nvPr>
            <p:ph type="title" hasCustomPrompt="1"/>
          </p:nvPr>
        </p:nvSpPr>
        <p:spPr>
          <a:xfrm>
            <a:off x="1270000" y="1638300"/>
            <a:ext cx="10464800" cy="3302000"/>
          </a:xfrm>
          <a:prstGeom prst="rect">
            <a:avLst/>
          </a:prstGeom>
        </p:spPr>
        <p:txBody>
          <a:bodyPr anchor="b"/>
          <a:lstStyle/>
          <a:p>
            <a:r>
              <a:t>Texto do título</a:t>
            </a:r>
          </a:p>
        </p:txBody>
      </p:sp>
      <p:sp>
        <p:nvSpPr>
          <p:cNvPr id="12" name="Nível um…"/>
          <p:cNvSpPr txBox="1"/>
          <p:nvPr>
            <p:ph type="body" sz="quarter" idx="1" hasCustomPrompt="1"/>
          </p:nvPr>
        </p:nvSpPr>
        <p:spPr>
          <a:xfrm>
            <a:off x="1270000" y="5041900"/>
            <a:ext cx="10464800" cy="11303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3700"/>
            </a:lvl1pPr>
            <a:lvl2pPr marL="0" indent="0" algn="ctr">
              <a:spcBef>
                <a:spcPts val="0"/>
              </a:spcBef>
              <a:buSzTx/>
              <a:buNone/>
              <a:defRPr sz="3700"/>
            </a:lvl2pPr>
            <a:lvl3pPr marL="0" indent="0" algn="ctr">
              <a:spcBef>
                <a:spcPts val="0"/>
              </a:spcBef>
              <a:buSzTx/>
              <a:buNone/>
              <a:defRPr sz="3700"/>
            </a:lvl3pPr>
            <a:lvl4pPr marL="0" indent="0" algn="ctr">
              <a:spcBef>
                <a:spcPts val="0"/>
              </a:spcBef>
              <a:buSzTx/>
              <a:buNone/>
              <a:defRPr sz="3700"/>
            </a:lvl4pPr>
            <a:lvl5pPr marL="0" indent="0" algn="ctr">
              <a:spcBef>
                <a:spcPts val="0"/>
              </a:spcBef>
              <a:buSzTx/>
              <a:buNone/>
              <a:defRPr sz="3700"/>
            </a:lvl5pPr>
          </a:lstStyle>
          <a:p>
            <a:r>
              <a:t>Nível um</a:t>
            </a:r>
          </a:p>
          <a:p>
            <a:pPr lvl="1"/>
            <a:r>
              <a:t>Nível dois</a:t>
            </a:r>
          </a:p>
          <a:p>
            <a:pPr lvl="2"/>
            <a:r>
              <a:t>Nível três</a:t>
            </a:r>
          </a:p>
          <a:p>
            <a:pPr lvl="3"/>
            <a:r>
              <a:t>Nível quatro</a:t>
            </a:r>
          </a:p>
          <a:p>
            <a:pPr lvl="4"/>
            <a:r>
              <a:t>Nível cinco</a:t>
            </a:r>
          </a:p>
        </p:txBody>
      </p:sp>
      <p:sp>
        <p:nvSpPr>
          <p:cNvPr id="13" name="Número do diapositivo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Helvetica Neue Thin"/>
                <a:ea typeface="Helvetica Neue Thin"/>
                <a:cs typeface="Helvetica Neue Thin"/>
                <a:sym typeface="Helvetica Neue Thin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Fotografia -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Imagem"/>
          <p:cNvSpPr/>
          <p:nvPr>
            <p:ph type="pic" idx="13"/>
          </p:nvPr>
        </p:nvSpPr>
        <p:spPr>
          <a:xfrm>
            <a:off x="1622088" y="289099"/>
            <a:ext cx="9753603" cy="6505789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/>
        </p:txBody>
      </p:sp>
      <p:sp>
        <p:nvSpPr>
          <p:cNvPr id="21" name="Texto do título"/>
          <p:cNvSpPr txBox="1"/>
          <p:nvPr>
            <p:ph type="title" hasCustomPrompt="1"/>
          </p:nvPr>
        </p:nvSpPr>
        <p:spPr>
          <a:xfrm>
            <a:off x="1270000" y="6718300"/>
            <a:ext cx="10464800" cy="1422400"/>
          </a:xfrm>
          <a:prstGeom prst="rect">
            <a:avLst/>
          </a:prstGeom>
        </p:spPr>
        <p:txBody>
          <a:bodyPr anchor="b"/>
          <a:lstStyle/>
          <a:p>
            <a:r>
              <a:t>Texto do título</a:t>
            </a:r>
          </a:p>
        </p:txBody>
      </p:sp>
      <p:sp>
        <p:nvSpPr>
          <p:cNvPr id="22" name="Nível um…"/>
          <p:cNvSpPr txBox="1"/>
          <p:nvPr>
            <p:ph type="body" sz="quarter" idx="1" hasCustomPrompt="1"/>
          </p:nvPr>
        </p:nvSpPr>
        <p:spPr>
          <a:xfrm>
            <a:off x="1270000" y="8153400"/>
            <a:ext cx="10464800" cy="11303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3700"/>
            </a:lvl1pPr>
            <a:lvl2pPr marL="0" indent="0" algn="ctr">
              <a:spcBef>
                <a:spcPts val="0"/>
              </a:spcBef>
              <a:buSzTx/>
              <a:buNone/>
              <a:defRPr sz="3700"/>
            </a:lvl2pPr>
            <a:lvl3pPr marL="0" indent="0" algn="ctr">
              <a:spcBef>
                <a:spcPts val="0"/>
              </a:spcBef>
              <a:buSzTx/>
              <a:buNone/>
              <a:defRPr sz="3700"/>
            </a:lvl3pPr>
            <a:lvl4pPr marL="0" indent="0" algn="ctr">
              <a:spcBef>
                <a:spcPts val="0"/>
              </a:spcBef>
              <a:buSzTx/>
              <a:buNone/>
              <a:defRPr sz="3700"/>
            </a:lvl4pPr>
            <a:lvl5pPr marL="0" indent="0" algn="ctr">
              <a:spcBef>
                <a:spcPts val="0"/>
              </a:spcBef>
              <a:buSzTx/>
              <a:buNone/>
              <a:defRPr sz="3700"/>
            </a:lvl5pPr>
          </a:lstStyle>
          <a:p>
            <a:r>
              <a:t>Nível um</a:t>
            </a:r>
          </a:p>
          <a:p>
            <a:pPr lvl="1"/>
            <a:r>
              <a:t>Nível dois</a:t>
            </a:r>
          </a:p>
          <a:p>
            <a:pPr lvl="2"/>
            <a:r>
              <a:t>Nível três</a:t>
            </a:r>
          </a:p>
          <a:p>
            <a:pPr lvl="3"/>
            <a:r>
              <a:t>Nível quatro</a:t>
            </a:r>
          </a:p>
          <a:p>
            <a:pPr lvl="4"/>
            <a:r>
              <a:t>Nível cinco</a:t>
            </a:r>
          </a:p>
        </p:txBody>
      </p:sp>
      <p:sp>
        <p:nvSpPr>
          <p:cNvPr id="23" name="Número do diapositivo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ítulo - cent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o do título"/>
          <p:cNvSpPr txBox="1"/>
          <p:nvPr>
            <p:ph type="title" hasCustomPrompt="1"/>
          </p:nvPr>
        </p:nvSpPr>
        <p:spPr>
          <a:xfrm>
            <a:off x="1270000" y="3225800"/>
            <a:ext cx="10464800" cy="3302000"/>
          </a:xfrm>
          <a:prstGeom prst="rect">
            <a:avLst/>
          </a:prstGeom>
        </p:spPr>
        <p:txBody>
          <a:bodyPr/>
          <a:lstStyle/>
          <a:p>
            <a:r>
              <a:t>Texto do título</a:t>
            </a:r>
          </a:p>
        </p:txBody>
      </p:sp>
      <p:sp>
        <p:nvSpPr>
          <p:cNvPr id="31" name="Número do diapositivo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Fotografia -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Imagem"/>
          <p:cNvSpPr/>
          <p:nvPr>
            <p:ph type="pic" idx="13"/>
          </p:nvPr>
        </p:nvSpPr>
        <p:spPr>
          <a:xfrm>
            <a:off x="2263775" y="613833"/>
            <a:ext cx="12401550" cy="8267701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/>
        </p:txBody>
      </p:sp>
      <p:sp>
        <p:nvSpPr>
          <p:cNvPr id="39" name="Texto do título"/>
          <p:cNvSpPr txBox="1"/>
          <p:nvPr>
            <p:ph type="title" hasCustomPrompt="1"/>
          </p:nvPr>
        </p:nvSpPr>
        <p:spPr>
          <a:xfrm>
            <a:off x="952500" y="635000"/>
            <a:ext cx="5334000" cy="3987800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t>Texto do título</a:t>
            </a:r>
          </a:p>
        </p:txBody>
      </p:sp>
      <p:sp>
        <p:nvSpPr>
          <p:cNvPr id="40" name="Nível um…"/>
          <p:cNvSpPr txBox="1"/>
          <p:nvPr>
            <p:ph type="body" sz="quarter" idx="1" hasCustomPrompt="1"/>
          </p:nvPr>
        </p:nvSpPr>
        <p:spPr>
          <a:xfrm>
            <a:off x="952500" y="4724400"/>
            <a:ext cx="5334000" cy="41148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3700"/>
            </a:lvl1pPr>
            <a:lvl2pPr marL="0" indent="0" algn="ctr">
              <a:spcBef>
                <a:spcPts val="0"/>
              </a:spcBef>
              <a:buSzTx/>
              <a:buNone/>
              <a:defRPr sz="3700"/>
            </a:lvl2pPr>
            <a:lvl3pPr marL="0" indent="0" algn="ctr">
              <a:spcBef>
                <a:spcPts val="0"/>
              </a:spcBef>
              <a:buSzTx/>
              <a:buNone/>
              <a:defRPr sz="3700"/>
            </a:lvl3pPr>
            <a:lvl4pPr marL="0" indent="0" algn="ctr">
              <a:spcBef>
                <a:spcPts val="0"/>
              </a:spcBef>
              <a:buSzTx/>
              <a:buNone/>
              <a:defRPr sz="3700"/>
            </a:lvl4pPr>
            <a:lvl5pPr marL="0" indent="0" algn="ctr">
              <a:spcBef>
                <a:spcPts val="0"/>
              </a:spcBef>
              <a:buSzTx/>
              <a:buNone/>
              <a:defRPr sz="3700"/>
            </a:lvl5pPr>
          </a:lstStyle>
          <a:p>
            <a:r>
              <a:t>Nível um</a:t>
            </a:r>
          </a:p>
          <a:p>
            <a:pPr lvl="1"/>
            <a:r>
              <a:t>Nível dois</a:t>
            </a:r>
          </a:p>
          <a:p>
            <a:pPr lvl="2"/>
            <a:r>
              <a:t>Nível três</a:t>
            </a:r>
          </a:p>
          <a:p>
            <a:pPr lvl="3"/>
            <a:r>
              <a:t>Nível quatro</a:t>
            </a:r>
          </a:p>
          <a:p>
            <a:pPr lvl="4"/>
            <a:r>
              <a:t>Nível cinco</a:t>
            </a:r>
          </a:p>
        </p:txBody>
      </p:sp>
      <p:sp>
        <p:nvSpPr>
          <p:cNvPr id="41" name="Número do diapositivo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ítulo - to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exto do título"/>
          <p:cNvSpPr txBox="1"/>
          <p:nvPr>
            <p:ph type="title" hasCustomPrompt="1"/>
          </p:nvPr>
        </p:nvSpPr>
        <p:spPr>
          <a:xfrm>
            <a:off x="0" y="0"/>
            <a:ext cx="13004800" cy="1663700"/>
          </a:xfrm>
          <a:prstGeom prst="rect">
            <a:avLst/>
          </a:prstGeom>
          <a:solidFill>
            <a:schemeClr val="accent1">
              <a:lumOff val="-13573"/>
            </a:schemeClr>
          </a:solidFill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t>Texto do título</a:t>
            </a:r>
          </a:p>
        </p:txBody>
      </p:sp>
      <p:sp>
        <p:nvSpPr>
          <p:cNvPr id="49" name="Número do diapositivo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ítulo e alíne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exto do título"/>
          <p:cNvSpPr txBox="1"/>
          <p:nvPr>
            <p:ph type="title" hasCustomPrompt="1"/>
          </p:nvPr>
        </p:nvSpPr>
        <p:spPr>
          <a:xfrm>
            <a:off x="0" y="0"/>
            <a:ext cx="13004800" cy="1663700"/>
          </a:xfrm>
          <a:prstGeom prst="rect">
            <a:avLst/>
          </a:prstGeom>
          <a:solidFill>
            <a:schemeClr val="accent1">
              <a:lumOff val="-13573"/>
            </a:schemeClr>
          </a:solidFill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t>Texto do título</a:t>
            </a:r>
          </a:p>
        </p:txBody>
      </p:sp>
      <p:sp>
        <p:nvSpPr>
          <p:cNvPr id="57" name="Nível um…"/>
          <p:cNvSpPr txBox="1"/>
          <p:nvPr>
            <p:ph type="body" idx="1" hasCustomPrompt="1"/>
          </p:nvPr>
        </p:nvSpPr>
        <p:spPr>
          <a:xfrm>
            <a:off x="952500" y="2590800"/>
            <a:ext cx="11099800" cy="6286500"/>
          </a:xfrm>
          <a:prstGeom prst="rect">
            <a:avLst/>
          </a:prstGeom>
        </p:spPr>
        <p:txBody>
          <a:bodyPr/>
          <a:lstStyle/>
          <a:p>
            <a:r>
              <a:t>Nível um</a:t>
            </a:r>
          </a:p>
          <a:p>
            <a:pPr lvl="1"/>
            <a:r>
              <a:t>Nível dois</a:t>
            </a:r>
          </a:p>
          <a:p>
            <a:pPr lvl="2"/>
            <a:r>
              <a:t>Nível três</a:t>
            </a:r>
          </a:p>
          <a:p>
            <a:pPr lvl="3"/>
            <a:r>
              <a:t>Nível quatro</a:t>
            </a:r>
          </a:p>
          <a:p>
            <a:pPr lvl="4"/>
            <a:r>
              <a:t>Nível cinco</a:t>
            </a:r>
          </a:p>
        </p:txBody>
      </p:sp>
      <p:sp>
        <p:nvSpPr>
          <p:cNvPr id="58" name="Número do diapositivo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ítulo, alíneas e fotograf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Imagem"/>
          <p:cNvSpPr/>
          <p:nvPr>
            <p:ph type="pic" idx="13"/>
          </p:nvPr>
        </p:nvSpPr>
        <p:spPr>
          <a:xfrm>
            <a:off x="4086225" y="2586566"/>
            <a:ext cx="9429750" cy="6286501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/>
        </p:txBody>
      </p:sp>
      <p:sp>
        <p:nvSpPr>
          <p:cNvPr id="66" name="Texto do título"/>
          <p:cNvSpPr txBox="1"/>
          <p:nvPr>
            <p:ph type="title" hasCustomPrompt="1"/>
          </p:nvPr>
        </p:nvSpPr>
        <p:spPr>
          <a:xfrm>
            <a:off x="0" y="0"/>
            <a:ext cx="13004800" cy="1663700"/>
          </a:xfrm>
          <a:prstGeom prst="rect">
            <a:avLst/>
          </a:prstGeom>
          <a:solidFill>
            <a:schemeClr val="accent1">
              <a:lumOff val="-13573"/>
            </a:schemeClr>
          </a:solidFill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t>Texto do título</a:t>
            </a:r>
          </a:p>
        </p:txBody>
      </p:sp>
      <p:sp>
        <p:nvSpPr>
          <p:cNvPr id="67" name="Nível um…"/>
          <p:cNvSpPr txBox="1"/>
          <p:nvPr>
            <p:ph type="body" sz="half" idx="1" hasCustomPrompt="1"/>
          </p:nvPr>
        </p:nvSpPr>
        <p:spPr>
          <a:xfrm>
            <a:off x="952500" y="2590800"/>
            <a:ext cx="5334000" cy="6286500"/>
          </a:xfrm>
          <a:prstGeom prst="rect">
            <a:avLst/>
          </a:prstGeom>
        </p:spPr>
        <p:txBody>
          <a:bodyPr/>
          <a:lstStyle>
            <a:lvl1pPr marL="342900" indent="-342900">
              <a:spcBef>
                <a:spcPts val="3200"/>
              </a:spcBef>
              <a:defRPr sz="2800"/>
            </a:lvl1pPr>
            <a:lvl2pPr marL="685800" indent="-342900">
              <a:spcBef>
                <a:spcPts val="3200"/>
              </a:spcBef>
              <a:defRPr sz="2800"/>
            </a:lvl2pPr>
            <a:lvl3pPr marL="1028700" indent="-342900">
              <a:spcBef>
                <a:spcPts val="3200"/>
              </a:spcBef>
              <a:defRPr sz="2800"/>
            </a:lvl3pPr>
            <a:lvl4pPr marL="1371600" indent="-342900">
              <a:spcBef>
                <a:spcPts val="3200"/>
              </a:spcBef>
              <a:defRPr sz="2800"/>
            </a:lvl4pPr>
            <a:lvl5pPr marL="1714500" indent="-342900">
              <a:spcBef>
                <a:spcPts val="3200"/>
              </a:spcBef>
              <a:defRPr sz="2800"/>
            </a:lvl5pPr>
          </a:lstStyle>
          <a:p>
            <a:r>
              <a:t>Nível um</a:t>
            </a:r>
          </a:p>
          <a:p>
            <a:pPr lvl="1"/>
            <a:r>
              <a:t>Nível dois</a:t>
            </a:r>
          </a:p>
          <a:p>
            <a:pPr lvl="2"/>
            <a:r>
              <a:t>Nível três</a:t>
            </a:r>
          </a:p>
          <a:p>
            <a:pPr lvl="3"/>
            <a:r>
              <a:t>Nível quatro</a:t>
            </a:r>
          </a:p>
          <a:p>
            <a:pPr lvl="4"/>
            <a:r>
              <a:t>Nível cinco</a:t>
            </a:r>
          </a:p>
        </p:txBody>
      </p:sp>
      <p:sp>
        <p:nvSpPr>
          <p:cNvPr id="68" name="Número do diapositivo"/>
          <p:cNvSpPr txBox="1"/>
          <p:nvPr>
            <p:ph type="sldNum" sz="quarter" idx="2"/>
          </p:nvPr>
        </p:nvSpPr>
        <p:spPr>
          <a:xfrm>
            <a:off x="6328884" y="9296400"/>
            <a:ext cx="340259" cy="342900"/>
          </a:xfrm>
          <a:prstGeom prst="rect">
            <a:avLst/>
          </a:prstGeom>
        </p:spPr>
        <p:txBody>
          <a:bodyPr/>
          <a:lstStyle>
            <a:lvl1pPr>
              <a:defRPr>
                <a:latin typeface="Helvetica Light"/>
                <a:ea typeface="Helvetica Light"/>
                <a:cs typeface="Helvetica Light"/>
                <a:sym typeface="Helvetica Light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Marc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Nível um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Nível um</a:t>
            </a:r>
          </a:p>
          <a:p>
            <a:pPr lvl="1"/>
            <a:r>
              <a:t>Nível dois</a:t>
            </a:r>
          </a:p>
          <a:p>
            <a:pPr lvl="2"/>
            <a:r>
              <a:t>Nível três</a:t>
            </a:r>
          </a:p>
          <a:p>
            <a:pPr lvl="3"/>
            <a:r>
              <a:t>Nível quatro</a:t>
            </a:r>
          </a:p>
          <a:p>
            <a:pPr lvl="4"/>
            <a:r>
              <a:t>Nível cinco</a:t>
            </a:r>
          </a:p>
        </p:txBody>
      </p:sp>
      <p:sp>
        <p:nvSpPr>
          <p:cNvPr id="76" name="Número do diapositivo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Fotografia -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Imagem"/>
          <p:cNvSpPr/>
          <p:nvPr>
            <p:ph type="pic" sz="quarter" idx="13"/>
          </p:nvPr>
        </p:nvSpPr>
        <p:spPr>
          <a:xfrm>
            <a:off x="6680200" y="5029200"/>
            <a:ext cx="6054748" cy="40386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/>
        </p:txBody>
      </p:sp>
      <p:sp>
        <p:nvSpPr>
          <p:cNvPr id="84" name="Imagem"/>
          <p:cNvSpPr/>
          <p:nvPr>
            <p:ph type="pic" sz="quarter" idx="14"/>
          </p:nvPr>
        </p:nvSpPr>
        <p:spPr>
          <a:xfrm>
            <a:off x="6502400" y="889000"/>
            <a:ext cx="5867400" cy="3911601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/>
        </p:txBody>
      </p:sp>
      <p:sp>
        <p:nvSpPr>
          <p:cNvPr id="85" name="Imagem"/>
          <p:cNvSpPr/>
          <p:nvPr>
            <p:ph type="pic" idx="15"/>
          </p:nvPr>
        </p:nvSpPr>
        <p:spPr>
          <a:xfrm>
            <a:off x="-2374900" y="889000"/>
            <a:ext cx="11982450" cy="79883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/>
        </p:txBody>
      </p:sp>
      <p:sp>
        <p:nvSpPr>
          <p:cNvPr id="86" name="Número do diapositivo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it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–Manuel Macieira"/>
          <p:cNvSpPr txBox="1"/>
          <p:nvPr>
            <p:ph type="body" sz="quarter" idx="13" hasCustomPrompt="1"/>
          </p:nvPr>
        </p:nvSpPr>
        <p:spPr>
          <a:xfrm>
            <a:off x="1270000" y="6362700"/>
            <a:ext cx="10464800" cy="461366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  <a:defRPr sz="2400" i="1"/>
            </a:lvl1pPr>
          </a:lstStyle>
          <a:p>
            <a:r>
              <a:t>–Manuel Macieira</a:t>
            </a:r>
          </a:p>
        </p:txBody>
      </p:sp>
      <p:sp>
        <p:nvSpPr>
          <p:cNvPr id="94" name="“Digite aqui uma citação.”"/>
          <p:cNvSpPr txBox="1"/>
          <p:nvPr>
            <p:ph type="body" sz="quarter" idx="14" hasCustomPrompt="1"/>
          </p:nvPr>
        </p:nvSpPr>
        <p:spPr>
          <a:xfrm>
            <a:off x="1270000" y="4267112"/>
            <a:ext cx="10464800" cy="609776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  <a:defRPr sz="3400">
                <a:latin typeface="+mn-lt"/>
                <a:ea typeface="+mn-ea"/>
                <a:cs typeface="+mn-cs"/>
                <a:sym typeface="Helvetica Neue Medium"/>
              </a:defRPr>
            </a:lvl1pPr>
          </a:lstStyle>
          <a:p>
            <a:r>
              <a:t>“Digite aqui uma citação.” </a:t>
            </a:r>
          </a:p>
        </p:txBody>
      </p:sp>
      <p:sp>
        <p:nvSpPr>
          <p:cNvPr id="95" name="Número do diapositivo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Fotograf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Imagem"/>
          <p:cNvSpPr/>
          <p:nvPr>
            <p:ph type="pic" idx="13"/>
          </p:nvPr>
        </p:nvSpPr>
        <p:spPr>
          <a:xfrm>
            <a:off x="-949853" y="0"/>
            <a:ext cx="14904506" cy="99441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/>
        </p:txBody>
      </p:sp>
      <p:sp>
        <p:nvSpPr>
          <p:cNvPr id="103" name="Número do diapositivo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Número do diapositivo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ítulo e alíne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Nível um…"/>
          <p:cNvSpPr txBox="1"/>
          <p:nvPr>
            <p:ph type="body" idx="1" hasCustomPrompt="1"/>
          </p:nvPr>
        </p:nvSpPr>
        <p:spPr>
          <a:xfrm>
            <a:off x="952500" y="2590800"/>
            <a:ext cx="11099800" cy="6286500"/>
          </a:xfrm>
          <a:prstGeom prst="rect">
            <a:avLst/>
          </a:prstGeom>
        </p:spPr>
        <p:txBody>
          <a:bodyPr/>
          <a:lstStyle/>
          <a:p>
            <a:r>
              <a:t>Nível um</a:t>
            </a:r>
          </a:p>
          <a:p>
            <a:pPr lvl="1"/>
            <a:r>
              <a:t>Nível dois</a:t>
            </a:r>
          </a:p>
          <a:p>
            <a:pPr lvl="2"/>
            <a:r>
              <a:t>Nível três</a:t>
            </a:r>
          </a:p>
          <a:p>
            <a:pPr lvl="3"/>
            <a:r>
              <a:t>Nível quatro</a:t>
            </a:r>
          </a:p>
          <a:p>
            <a:pPr lvl="4"/>
            <a:r>
              <a:t>Nível cinco</a:t>
            </a:r>
          </a:p>
        </p:txBody>
      </p:sp>
      <p:sp>
        <p:nvSpPr>
          <p:cNvPr id="118" name="Texto do título"/>
          <p:cNvSpPr txBox="1"/>
          <p:nvPr>
            <p:ph type="title" hasCustomPrompt="1"/>
          </p:nvPr>
        </p:nvSpPr>
        <p:spPr>
          <a:xfrm>
            <a:off x="4564" y="-16934"/>
            <a:ext cx="13004801" cy="1662511"/>
          </a:xfrm>
          <a:prstGeom prst="rect">
            <a:avLst/>
          </a:prstGeom>
          <a:solidFill>
            <a:schemeClr val="accent1">
              <a:lumOff val="-13573"/>
            </a:schemeClr>
          </a:solidFill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t>Texto do título</a:t>
            </a:r>
          </a:p>
        </p:txBody>
      </p:sp>
      <p:sp>
        <p:nvSpPr>
          <p:cNvPr id="119" name="Número do diapositivo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ítulo, alíneas e fotograf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Imagem"/>
          <p:cNvSpPr/>
          <p:nvPr>
            <p:ph type="pic" idx="13"/>
          </p:nvPr>
        </p:nvSpPr>
        <p:spPr>
          <a:xfrm>
            <a:off x="4086225" y="2586566"/>
            <a:ext cx="9429750" cy="6286501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/>
        </p:txBody>
      </p:sp>
      <p:sp>
        <p:nvSpPr>
          <p:cNvPr id="127" name="Nível um…"/>
          <p:cNvSpPr txBox="1"/>
          <p:nvPr>
            <p:ph type="body" sz="half" idx="1" hasCustomPrompt="1"/>
          </p:nvPr>
        </p:nvSpPr>
        <p:spPr>
          <a:xfrm>
            <a:off x="952500" y="2590800"/>
            <a:ext cx="5334000" cy="6286500"/>
          </a:xfrm>
          <a:prstGeom prst="rect">
            <a:avLst/>
          </a:prstGeom>
        </p:spPr>
        <p:txBody>
          <a:bodyPr/>
          <a:lstStyle>
            <a:lvl1pPr marL="342900" indent="-342900">
              <a:spcBef>
                <a:spcPts val="3200"/>
              </a:spcBef>
              <a:defRPr sz="2800"/>
            </a:lvl1pPr>
            <a:lvl2pPr marL="685800" indent="-342900">
              <a:spcBef>
                <a:spcPts val="3200"/>
              </a:spcBef>
              <a:defRPr sz="2800"/>
            </a:lvl2pPr>
            <a:lvl3pPr marL="1028700" indent="-342900">
              <a:spcBef>
                <a:spcPts val="3200"/>
              </a:spcBef>
              <a:defRPr sz="2800"/>
            </a:lvl3pPr>
            <a:lvl4pPr marL="1371600" indent="-342900">
              <a:spcBef>
                <a:spcPts val="3200"/>
              </a:spcBef>
              <a:defRPr sz="2800"/>
            </a:lvl4pPr>
            <a:lvl5pPr marL="1714500" indent="-342900">
              <a:spcBef>
                <a:spcPts val="3200"/>
              </a:spcBef>
              <a:defRPr sz="2800"/>
            </a:lvl5pPr>
          </a:lstStyle>
          <a:p>
            <a:r>
              <a:t>Nível um</a:t>
            </a:r>
          </a:p>
          <a:p>
            <a:pPr lvl="1"/>
            <a:r>
              <a:t>Nível dois</a:t>
            </a:r>
          </a:p>
          <a:p>
            <a:pPr lvl="2"/>
            <a:r>
              <a:t>Nível três</a:t>
            </a:r>
          </a:p>
          <a:p>
            <a:pPr lvl="3"/>
            <a:r>
              <a:t>Nível quatro</a:t>
            </a:r>
          </a:p>
          <a:p>
            <a:pPr lvl="4"/>
            <a:r>
              <a:t>Nível cinco</a:t>
            </a:r>
          </a:p>
        </p:txBody>
      </p:sp>
      <p:sp>
        <p:nvSpPr>
          <p:cNvPr id="128" name="Texto do título"/>
          <p:cNvSpPr txBox="1"/>
          <p:nvPr>
            <p:ph type="title" hasCustomPrompt="1"/>
          </p:nvPr>
        </p:nvSpPr>
        <p:spPr>
          <a:xfrm>
            <a:off x="-1588" y="0"/>
            <a:ext cx="13007976" cy="1666611"/>
          </a:xfrm>
          <a:prstGeom prst="rect">
            <a:avLst/>
          </a:prstGeom>
          <a:solidFill>
            <a:schemeClr val="accent1">
              <a:lumOff val="-13573"/>
            </a:schemeClr>
          </a:solidFill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t>Texto do título</a:t>
            </a:r>
          </a:p>
        </p:txBody>
      </p:sp>
      <p:sp>
        <p:nvSpPr>
          <p:cNvPr id="129" name="Número do diapositivo"/>
          <p:cNvSpPr txBox="1"/>
          <p:nvPr>
            <p:ph type="sldNum" sz="quarter" idx="2"/>
          </p:nvPr>
        </p:nvSpPr>
        <p:spPr>
          <a:xfrm>
            <a:off x="6328884" y="9296400"/>
            <a:ext cx="340259" cy="342900"/>
          </a:xfrm>
          <a:prstGeom prst="rect">
            <a:avLst/>
          </a:prstGeom>
        </p:spPr>
        <p:txBody>
          <a:bodyPr/>
          <a:lstStyle>
            <a:lvl1pPr>
              <a:defRPr>
                <a:latin typeface="Helvetica Light"/>
                <a:ea typeface="Helvetica Light"/>
                <a:cs typeface="Helvetica Light"/>
                <a:sym typeface="Helvetica Light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ítulo e conteúdo">
    <p:bg>
      <p:bgPr>
        <a:gradFill flip="none" rotWithShape="1">
          <a:gsLst>
            <a:gs pos="0">
              <a:srgbClr val="FFFFFF"/>
            </a:gs>
            <a:gs pos="100000">
              <a:srgbClr val="DFE8C4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8" name="Group 22"/>
          <p:cNvGrpSpPr/>
          <p:nvPr/>
        </p:nvGrpSpPr>
        <p:grpSpPr>
          <a:xfrm>
            <a:off x="0" y="1463039"/>
            <a:ext cx="3041619" cy="7081205"/>
            <a:chOff x="0" y="0"/>
            <a:chExt cx="3041617" cy="7081203"/>
          </a:xfrm>
        </p:grpSpPr>
        <p:sp>
          <p:nvSpPr>
            <p:cNvPr id="136" name="Freeform 11"/>
            <p:cNvSpPr/>
            <p:nvPr/>
          </p:nvSpPr>
          <p:spPr>
            <a:xfrm>
              <a:off x="-1" y="2502873"/>
              <a:ext cx="107353" cy="6679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1600"/>
                  </a:moveTo>
                  <a:cubicBezTo>
                    <a:pt x="19636" y="18582"/>
                    <a:pt x="18655" y="15724"/>
                    <a:pt x="16691" y="12706"/>
                  </a:cubicBezTo>
                  <a:cubicBezTo>
                    <a:pt x="10800" y="8576"/>
                    <a:pt x="5891" y="4288"/>
                    <a:pt x="0" y="0"/>
                  </a:cubicBezTo>
                  <a:cubicBezTo>
                    <a:pt x="0" y="5559"/>
                    <a:pt x="0" y="5559"/>
                    <a:pt x="0" y="5559"/>
                  </a:cubicBezTo>
                  <a:cubicBezTo>
                    <a:pt x="5891" y="10165"/>
                    <a:pt x="12764" y="14929"/>
                    <a:pt x="19636" y="19694"/>
                  </a:cubicBezTo>
                  <a:cubicBezTo>
                    <a:pt x="19636" y="20329"/>
                    <a:pt x="20618" y="20965"/>
                    <a:pt x="21600" y="21600"/>
                  </a:cubicBezTo>
                  <a:close/>
                </a:path>
              </a:pathLst>
            </a:custGeom>
            <a:solidFill>
              <a:srgbClr val="766F54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8767" tIns="48767" rIns="48767" bIns="48767" numCol="1" anchor="t">
              <a:noAutofit/>
            </a:bodyPr>
            <a:lstStyle/>
            <a:p>
              <a:pPr algn="l" defTabSz="1300480">
                <a:defRPr b="0">
                  <a:latin typeface="Century Gothic" panose="020B0502020202020204"/>
                  <a:ea typeface="Century Gothic" panose="020B0502020202020204"/>
                  <a:cs typeface="Century Gothic" panose="020B0502020202020204"/>
                  <a:sym typeface="Century Gothic" panose="020B0502020202020204"/>
                </a:defRPr>
              </a:pPr>
            </a:p>
          </p:txBody>
        </p:sp>
        <p:sp>
          <p:nvSpPr>
            <p:cNvPr id="137" name="Freeform 12"/>
            <p:cNvSpPr/>
            <p:nvPr/>
          </p:nvSpPr>
          <p:spPr>
            <a:xfrm>
              <a:off x="137171" y="3123125"/>
              <a:ext cx="689833" cy="247703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3269" y="15000"/>
                  </a:moveTo>
                  <a:cubicBezTo>
                    <a:pt x="15891" y="17229"/>
                    <a:pt x="18514" y="19414"/>
                    <a:pt x="21446" y="21600"/>
                  </a:cubicBezTo>
                  <a:cubicBezTo>
                    <a:pt x="21446" y="21214"/>
                    <a:pt x="21446" y="20871"/>
                    <a:pt x="21600" y="20486"/>
                  </a:cubicBezTo>
                  <a:cubicBezTo>
                    <a:pt x="19131" y="18643"/>
                    <a:pt x="16817" y="16757"/>
                    <a:pt x="14657" y="14871"/>
                  </a:cubicBezTo>
                  <a:cubicBezTo>
                    <a:pt x="8949" y="9986"/>
                    <a:pt x="4166" y="5014"/>
                    <a:pt x="0" y="0"/>
                  </a:cubicBezTo>
                  <a:cubicBezTo>
                    <a:pt x="309" y="857"/>
                    <a:pt x="617" y="1757"/>
                    <a:pt x="926" y="2614"/>
                  </a:cubicBezTo>
                  <a:cubicBezTo>
                    <a:pt x="4629" y="6771"/>
                    <a:pt x="8640" y="10929"/>
                    <a:pt x="13269" y="15000"/>
                  </a:cubicBezTo>
                  <a:close/>
                </a:path>
              </a:pathLst>
            </a:custGeom>
            <a:solidFill>
              <a:srgbClr val="766F54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8767" tIns="48767" rIns="48767" bIns="48767" numCol="1" anchor="t">
              <a:noAutofit/>
            </a:bodyPr>
            <a:lstStyle/>
            <a:p>
              <a:pPr algn="l" defTabSz="1300480">
                <a:defRPr b="0">
                  <a:latin typeface="Century Gothic" panose="020B0502020202020204"/>
                  <a:ea typeface="Century Gothic" panose="020B0502020202020204"/>
                  <a:cs typeface="Century Gothic" panose="020B0502020202020204"/>
                  <a:sym typeface="Century Gothic" panose="020B0502020202020204"/>
                </a:defRPr>
              </a:pPr>
            </a:p>
          </p:txBody>
        </p:sp>
        <p:sp>
          <p:nvSpPr>
            <p:cNvPr id="138" name="Freeform 13"/>
            <p:cNvSpPr/>
            <p:nvPr/>
          </p:nvSpPr>
          <p:spPr>
            <a:xfrm>
              <a:off x="860798" y="5566357"/>
              <a:ext cx="650073" cy="151484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309" y="1543"/>
                  </a:moveTo>
                  <a:cubicBezTo>
                    <a:pt x="818" y="1052"/>
                    <a:pt x="327" y="561"/>
                    <a:pt x="0" y="0"/>
                  </a:cubicBezTo>
                  <a:cubicBezTo>
                    <a:pt x="0" y="701"/>
                    <a:pt x="0" y="1332"/>
                    <a:pt x="0" y="2034"/>
                  </a:cubicBezTo>
                  <a:cubicBezTo>
                    <a:pt x="3436" y="5961"/>
                    <a:pt x="7200" y="9818"/>
                    <a:pt x="11127" y="13605"/>
                  </a:cubicBezTo>
                  <a:cubicBezTo>
                    <a:pt x="13909" y="16270"/>
                    <a:pt x="17018" y="18935"/>
                    <a:pt x="20127" y="21600"/>
                  </a:cubicBezTo>
                  <a:cubicBezTo>
                    <a:pt x="21600" y="21600"/>
                    <a:pt x="21600" y="21600"/>
                    <a:pt x="21600" y="21600"/>
                  </a:cubicBezTo>
                  <a:cubicBezTo>
                    <a:pt x="18491" y="18865"/>
                    <a:pt x="15382" y="16130"/>
                    <a:pt x="12600" y="13325"/>
                  </a:cubicBezTo>
                  <a:cubicBezTo>
                    <a:pt x="8509" y="9468"/>
                    <a:pt x="4745" y="5540"/>
                    <a:pt x="1309" y="1543"/>
                  </a:cubicBezTo>
                  <a:close/>
                </a:path>
              </a:pathLst>
            </a:custGeom>
            <a:solidFill>
              <a:srgbClr val="766F54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8767" tIns="48767" rIns="48767" bIns="48767" numCol="1" anchor="t">
              <a:noAutofit/>
            </a:bodyPr>
            <a:lstStyle/>
            <a:p>
              <a:pPr algn="l" defTabSz="1300480">
                <a:defRPr b="0">
                  <a:latin typeface="Century Gothic" panose="020B0502020202020204"/>
                  <a:ea typeface="Century Gothic" panose="020B0502020202020204"/>
                  <a:cs typeface="Century Gothic" panose="020B0502020202020204"/>
                  <a:sym typeface="Century Gothic" panose="020B0502020202020204"/>
                </a:defRPr>
              </a:pPr>
            </a:p>
          </p:txBody>
        </p:sp>
        <p:sp>
          <p:nvSpPr>
            <p:cNvPr id="139" name="Freeform 14"/>
            <p:cNvSpPr/>
            <p:nvPr/>
          </p:nvSpPr>
          <p:spPr>
            <a:xfrm>
              <a:off x="1023812" y="6693545"/>
              <a:ext cx="182896" cy="3876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6346" y="21600"/>
                  </a:moveTo>
                  <a:cubicBezTo>
                    <a:pt x="21600" y="21600"/>
                    <a:pt x="21600" y="21600"/>
                    <a:pt x="21600" y="21600"/>
                  </a:cubicBezTo>
                  <a:cubicBezTo>
                    <a:pt x="14011" y="14491"/>
                    <a:pt x="7005" y="7382"/>
                    <a:pt x="0" y="0"/>
                  </a:cubicBezTo>
                  <a:cubicBezTo>
                    <a:pt x="4670" y="7382"/>
                    <a:pt x="9924" y="14491"/>
                    <a:pt x="16346" y="21600"/>
                  </a:cubicBezTo>
                  <a:close/>
                </a:path>
              </a:pathLst>
            </a:custGeom>
            <a:solidFill>
              <a:srgbClr val="766F54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8767" tIns="48767" rIns="48767" bIns="48767" numCol="1" anchor="t">
              <a:noAutofit/>
            </a:bodyPr>
            <a:lstStyle/>
            <a:p>
              <a:pPr algn="l" defTabSz="1300480">
                <a:defRPr b="0">
                  <a:latin typeface="Century Gothic" panose="020B0502020202020204"/>
                  <a:ea typeface="Century Gothic" panose="020B0502020202020204"/>
                  <a:cs typeface="Century Gothic" panose="020B0502020202020204"/>
                  <a:sym typeface="Century Gothic" panose="020B0502020202020204"/>
                </a:defRPr>
              </a:pPr>
            </a:p>
          </p:txBody>
        </p:sp>
        <p:sp>
          <p:nvSpPr>
            <p:cNvPr id="140" name="Freeform 15"/>
            <p:cNvSpPr/>
            <p:nvPr/>
          </p:nvSpPr>
          <p:spPr>
            <a:xfrm>
              <a:off x="107351" y="3170836"/>
              <a:ext cx="876703" cy="355054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658" y="19745"/>
                  </a:moveTo>
                  <a:cubicBezTo>
                    <a:pt x="17596" y="18489"/>
                    <a:pt x="15775" y="17232"/>
                    <a:pt x="14076" y="15976"/>
                  </a:cubicBezTo>
                  <a:cubicBezTo>
                    <a:pt x="10193" y="13074"/>
                    <a:pt x="7160" y="10082"/>
                    <a:pt x="4854" y="7060"/>
                  </a:cubicBezTo>
                  <a:cubicBezTo>
                    <a:pt x="3519" y="5235"/>
                    <a:pt x="2427" y="3381"/>
                    <a:pt x="1456" y="1526"/>
                  </a:cubicBezTo>
                  <a:cubicBezTo>
                    <a:pt x="971" y="1017"/>
                    <a:pt x="485" y="509"/>
                    <a:pt x="0" y="0"/>
                  </a:cubicBezTo>
                  <a:cubicBezTo>
                    <a:pt x="971" y="2363"/>
                    <a:pt x="2306" y="4757"/>
                    <a:pt x="4004" y="7090"/>
                  </a:cubicBezTo>
                  <a:cubicBezTo>
                    <a:pt x="6189" y="10142"/>
                    <a:pt x="9222" y="13134"/>
                    <a:pt x="12984" y="16065"/>
                  </a:cubicBezTo>
                  <a:cubicBezTo>
                    <a:pt x="14926" y="17531"/>
                    <a:pt x="17110" y="18967"/>
                    <a:pt x="19416" y="20373"/>
                  </a:cubicBezTo>
                  <a:cubicBezTo>
                    <a:pt x="20144" y="20792"/>
                    <a:pt x="20872" y="21181"/>
                    <a:pt x="21600" y="21600"/>
                  </a:cubicBezTo>
                  <a:cubicBezTo>
                    <a:pt x="21357" y="21450"/>
                    <a:pt x="21236" y="21331"/>
                    <a:pt x="21115" y="21181"/>
                  </a:cubicBezTo>
                  <a:cubicBezTo>
                    <a:pt x="20508" y="20702"/>
                    <a:pt x="20022" y="20224"/>
                    <a:pt x="19658" y="19745"/>
                  </a:cubicBezTo>
                  <a:close/>
                </a:path>
              </a:pathLst>
            </a:custGeom>
            <a:solidFill>
              <a:srgbClr val="766F54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8767" tIns="48767" rIns="48767" bIns="48767" numCol="1" anchor="t">
              <a:noAutofit/>
            </a:bodyPr>
            <a:lstStyle/>
            <a:p>
              <a:pPr algn="l" defTabSz="1300480">
                <a:defRPr b="0">
                  <a:latin typeface="Century Gothic" panose="020B0502020202020204"/>
                  <a:ea typeface="Century Gothic" panose="020B0502020202020204"/>
                  <a:cs typeface="Century Gothic" panose="020B0502020202020204"/>
                  <a:sym typeface="Century Gothic" panose="020B0502020202020204"/>
                </a:defRPr>
              </a:pPr>
            </a:p>
          </p:txBody>
        </p:sp>
        <p:sp>
          <p:nvSpPr>
            <p:cNvPr id="141" name="Freeform 16"/>
            <p:cNvSpPr/>
            <p:nvPr/>
          </p:nvSpPr>
          <p:spPr>
            <a:xfrm>
              <a:off x="27868" y="0"/>
              <a:ext cx="109304" cy="312312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35" h="21600" extrusionOk="0">
                  <a:moveTo>
                    <a:pt x="9565" y="19627"/>
                  </a:moveTo>
                  <a:cubicBezTo>
                    <a:pt x="10505" y="19763"/>
                    <a:pt x="10505" y="19899"/>
                    <a:pt x="10505" y="20035"/>
                  </a:cubicBezTo>
                  <a:cubicBezTo>
                    <a:pt x="13322" y="20511"/>
                    <a:pt x="17078" y="20988"/>
                    <a:pt x="19896" y="21498"/>
                  </a:cubicBezTo>
                  <a:cubicBezTo>
                    <a:pt x="19896" y="21532"/>
                    <a:pt x="19896" y="21566"/>
                    <a:pt x="20835" y="21600"/>
                  </a:cubicBezTo>
                  <a:cubicBezTo>
                    <a:pt x="18957" y="20920"/>
                    <a:pt x="17078" y="20273"/>
                    <a:pt x="15200" y="19593"/>
                  </a:cubicBezTo>
                  <a:cubicBezTo>
                    <a:pt x="7687" y="16123"/>
                    <a:pt x="3931" y="12654"/>
                    <a:pt x="3931" y="9150"/>
                  </a:cubicBezTo>
                  <a:cubicBezTo>
                    <a:pt x="4870" y="6089"/>
                    <a:pt x="7687" y="3061"/>
                    <a:pt x="13322" y="0"/>
                  </a:cubicBezTo>
                  <a:cubicBezTo>
                    <a:pt x="10505" y="0"/>
                    <a:pt x="10505" y="0"/>
                    <a:pt x="10505" y="0"/>
                  </a:cubicBezTo>
                  <a:cubicBezTo>
                    <a:pt x="3931" y="3027"/>
                    <a:pt x="1113" y="6089"/>
                    <a:pt x="174" y="9150"/>
                  </a:cubicBezTo>
                  <a:cubicBezTo>
                    <a:pt x="-765" y="12654"/>
                    <a:pt x="2052" y="16123"/>
                    <a:pt x="9565" y="19627"/>
                  </a:cubicBezTo>
                  <a:close/>
                </a:path>
              </a:pathLst>
            </a:custGeom>
            <a:solidFill>
              <a:srgbClr val="766F54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8767" tIns="48767" rIns="48767" bIns="48767" numCol="1" anchor="t">
              <a:noAutofit/>
            </a:bodyPr>
            <a:lstStyle/>
            <a:p>
              <a:pPr algn="l" defTabSz="1300480">
                <a:defRPr b="0">
                  <a:latin typeface="Century Gothic" panose="020B0502020202020204"/>
                  <a:ea typeface="Century Gothic" panose="020B0502020202020204"/>
                  <a:cs typeface="Century Gothic" panose="020B0502020202020204"/>
                  <a:sym typeface="Century Gothic" panose="020B0502020202020204"/>
                </a:defRPr>
              </a:pPr>
            </a:p>
          </p:txBody>
        </p:sp>
        <p:sp>
          <p:nvSpPr>
            <p:cNvPr id="142" name="Freeform 17"/>
            <p:cNvSpPr/>
            <p:nvPr/>
          </p:nvSpPr>
          <p:spPr>
            <a:xfrm>
              <a:off x="83495" y="2896494"/>
              <a:ext cx="83496" cy="52681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cubicBezTo>
                    <a:pt x="2541" y="3836"/>
                    <a:pt x="3812" y="7469"/>
                    <a:pt x="6353" y="11305"/>
                  </a:cubicBezTo>
                  <a:cubicBezTo>
                    <a:pt x="11435" y="14736"/>
                    <a:pt x="16518" y="18168"/>
                    <a:pt x="21600" y="21600"/>
                  </a:cubicBezTo>
                  <a:cubicBezTo>
                    <a:pt x="19059" y="17563"/>
                    <a:pt x="16518" y="13323"/>
                    <a:pt x="13976" y="9286"/>
                  </a:cubicBezTo>
                  <a:cubicBezTo>
                    <a:pt x="12706" y="9084"/>
                    <a:pt x="12706" y="8882"/>
                    <a:pt x="12706" y="8680"/>
                  </a:cubicBezTo>
                  <a:cubicBezTo>
                    <a:pt x="8894" y="5652"/>
                    <a:pt x="3812" y="2826"/>
                    <a:pt x="0" y="0"/>
                  </a:cubicBezTo>
                  <a:close/>
                </a:path>
              </a:pathLst>
            </a:custGeom>
            <a:solidFill>
              <a:srgbClr val="766F54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8767" tIns="48767" rIns="48767" bIns="48767" numCol="1" anchor="t">
              <a:noAutofit/>
            </a:bodyPr>
            <a:lstStyle/>
            <a:p>
              <a:pPr algn="l" defTabSz="1300480">
                <a:defRPr b="0">
                  <a:latin typeface="Century Gothic" panose="020B0502020202020204"/>
                  <a:ea typeface="Century Gothic" panose="020B0502020202020204"/>
                  <a:cs typeface="Century Gothic" panose="020B0502020202020204"/>
                  <a:sym typeface="Century Gothic" panose="020B0502020202020204"/>
                </a:defRPr>
              </a:pPr>
            </a:p>
          </p:txBody>
        </p:sp>
        <p:sp>
          <p:nvSpPr>
            <p:cNvPr id="143" name="Freeform 18"/>
            <p:cNvSpPr/>
            <p:nvPr/>
          </p:nvSpPr>
          <p:spPr>
            <a:xfrm>
              <a:off x="821038" y="5600154"/>
              <a:ext cx="202775" cy="109339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cubicBezTo>
                    <a:pt x="0" y="3016"/>
                    <a:pt x="1054" y="6032"/>
                    <a:pt x="2634" y="9049"/>
                  </a:cubicBezTo>
                  <a:cubicBezTo>
                    <a:pt x="4215" y="11384"/>
                    <a:pt x="6322" y="13816"/>
                    <a:pt x="8956" y="16151"/>
                  </a:cubicBezTo>
                  <a:cubicBezTo>
                    <a:pt x="10010" y="16735"/>
                    <a:pt x="11590" y="17319"/>
                    <a:pt x="12644" y="17903"/>
                  </a:cubicBezTo>
                  <a:cubicBezTo>
                    <a:pt x="15805" y="19168"/>
                    <a:pt x="18439" y="20335"/>
                    <a:pt x="21600" y="21600"/>
                  </a:cubicBezTo>
                  <a:cubicBezTo>
                    <a:pt x="21073" y="21308"/>
                    <a:pt x="20546" y="20919"/>
                    <a:pt x="20020" y="20627"/>
                  </a:cubicBezTo>
                  <a:cubicBezTo>
                    <a:pt x="13698" y="16735"/>
                    <a:pt x="9483" y="12843"/>
                    <a:pt x="6849" y="8951"/>
                  </a:cubicBezTo>
                  <a:cubicBezTo>
                    <a:pt x="5795" y="6616"/>
                    <a:pt x="4741" y="4378"/>
                    <a:pt x="4215" y="2141"/>
                  </a:cubicBezTo>
                  <a:cubicBezTo>
                    <a:pt x="4215" y="2043"/>
                    <a:pt x="3688" y="1946"/>
                    <a:pt x="3688" y="1751"/>
                  </a:cubicBezTo>
                  <a:cubicBezTo>
                    <a:pt x="2634" y="1168"/>
                    <a:pt x="1054" y="584"/>
                    <a:pt x="0" y="0"/>
                  </a:cubicBezTo>
                  <a:close/>
                </a:path>
              </a:pathLst>
            </a:custGeom>
            <a:solidFill>
              <a:srgbClr val="766F54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8767" tIns="48767" rIns="48767" bIns="48767" numCol="1" anchor="t">
              <a:noAutofit/>
            </a:bodyPr>
            <a:lstStyle/>
            <a:p>
              <a:pPr algn="l" defTabSz="1300480">
                <a:defRPr b="0">
                  <a:latin typeface="Century Gothic" panose="020B0502020202020204"/>
                  <a:ea typeface="Century Gothic" panose="020B0502020202020204"/>
                  <a:cs typeface="Century Gothic" panose="020B0502020202020204"/>
                  <a:sym typeface="Century Gothic" panose="020B0502020202020204"/>
                </a:defRPr>
              </a:pPr>
            </a:p>
          </p:txBody>
        </p:sp>
        <p:sp>
          <p:nvSpPr>
            <p:cNvPr id="144" name="Freeform 19"/>
            <p:cNvSpPr/>
            <p:nvPr/>
          </p:nvSpPr>
          <p:spPr>
            <a:xfrm>
              <a:off x="827001" y="1248454"/>
              <a:ext cx="2214617" cy="431790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336" y="21010"/>
                  </a:moveTo>
                  <a:cubicBezTo>
                    <a:pt x="480" y="18992"/>
                    <a:pt x="1248" y="17000"/>
                    <a:pt x="2400" y="15081"/>
                  </a:cubicBezTo>
                  <a:cubicBezTo>
                    <a:pt x="3600" y="13162"/>
                    <a:pt x="5232" y="11317"/>
                    <a:pt x="7152" y="9545"/>
                  </a:cubicBezTo>
                  <a:cubicBezTo>
                    <a:pt x="9072" y="7774"/>
                    <a:pt x="11280" y="6101"/>
                    <a:pt x="13680" y="4502"/>
                  </a:cubicBezTo>
                  <a:cubicBezTo>
                    <a:pt x="14880" y="3715"/>
                    <a:pt x="16176" y="2928"/>
                    <a:pt x="17472" y="2190"/>
                  </a:cubicBezTo>
                  <a:cubicBezTo>
                    <a:pt x="18144" y="1821"/>
                    <a:pt x="18816" y="1427"/>
                    <a:pt x="19488" y="1082"/>
                  </a:cubicBezTo>
                  <a:cubicBezTo>
                    <a:pt x="20208" y="713"/>
                    <a:pt x="20880" y="369"/>
                    <a:pt x="21600" y="25"/>
                  </a:cubicBezTo>
                  <a:cubicBezTo>
                    <a:pt x="21600" y="0"/>
                    <a:pt x="21600" y="0"/>
                    <a:pt x="21600" y="0"/>
                  </a:cubicBezTo>
                  <a:cubicBezTo>
                    <a:pt x="20832" y="344"/>
                    <a:pt x="20160" y="689"/>
                    <a:pt x="19440" y="1058"/>
                  </a:cubicBezTo>
                  <a:cubicBezTo>
                    <a:pt x="18768" y="1402"/>
                    <a:pt x="18096" y="1771"/>
                    <a:pt x="17424" y="2165"/>
                  </a:cubicBezTo>
                  <a:cubicBezTo>
                    <a:pt x="16080" y="2903"/>
                    <a:pt x="14784" y="3666"/>
                    <a:pt x="13584" y="4453"/>
                  </a:cubicBezTo>
                  <a:cubicBezTo>
                    <a:pt x="11136" y="6052"/>
                    <a:pt x="8880" y="7725"/>
                    <a:pt x="6960" y="9496"/>
                  </a:cubicBezTo>
                  <a:cubicBezTo>
                    <a:pt x="4992" y="11243"/>
                    <a:pt x="3360" y="13113"/>
                    <a:pt x="2160" y="15031"/>
                  </a:cubicBezTo>
                  <a:cubicBezTo>
                    <a:pt x="912" y="16975"/>
                    <a:pt x="144" y="18968"/>
                    <a:pt x="0" y="21010"/>
                  </a:cubicBezTo>
                  <a:cubicBezTo>
                    <a:pt x="0" y="21059"/>
                    <a:pt x="0" y="21083"/>
                    <a:pt x="0" y="21133"/>
                  </a:cubicBezTo>
                  <a:cubicBezTo>
                    <a:pt x="96" y="21280"/>
                    <a:pt x="192" y="21452"/>
                    <a:pt x="336" y="21600"/>
                  </a:cubicBezTo>
                  <a:cubicBezTo>
                    <a:pt x="336" y="21403"/>
                    <a:pt x="336" y="21206"/>
                    <a:pt x="336" y="21010"/>
                  </a:cubicBezTo>
                  <a:close/>
                </a:path>
              </a:pathLst>
            </a:custGeom>
            <a:solidFill>
              <a:srgbClr val="766F54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8767" tIns="48767" rIns="48767" bIns="48767" numCol="1" anchor="t">
              <a:noAutofit/>
            </a:bodyPr>
            <a:lstStyle/>
            <a:p>
              <a:pPr algn="l" defTabSz="1300480">
                <a:defRPr b="0">
                  <a:latin typeface="Century Gothic" panose="020B0502020202020204"/>
                  <a:ea typeface="Century Gothic" panose="020B0502020202020204"/>
                  <a:cs typeface="Century Gothic" panose="020B0502020202020204"/>
                  <a:sym typeface="Century Gothic" panose="020B0502020202020204"/>
                </a:defRPr>
              </a:pPr>
            </a:p>
          </p:txBody>
        </p:sp>
        <p:sp>
          <p:nvSpPr>
            <p:cNvPr id="145" name="Freeform 20"/>
            <p:cNvSpPr/>
            <p:nvPr/>
          </p:nvSpPr>
          <p:spPr>
            <a:xfrm>
              <a:off x="984053" y="6721377"/>
              <a:ext cx="172956" cy="35982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cubicBezTo>
                    <a:pt x="4320" y="7101"/>
                    <a:pt x="9874" y="14499"/>
                    <a:pt x="16046" y="21600"/>
                  </a:cubicBezTo>
                  <a:cubicBezTo>
                    <a:pt x="21600" y="21600"/>
                    <a:pt x="21600" y="21600"/>
                    <a:pt x="21600" y="21600"/>
                  </a:cubicBezTo>
                  <a:cubicBezTo>
                    <a:pt x="14194" y="14499"/>
                    <a:pt x="6789" y="7101"/>
                    <a:pt x="0" y="0"/>
                  </a:cubicBezTo>
                  <a:close/>
                </a:path>
              </a:pathLst>
            </a:custGeom>
            <a:solidFill>
              <a:srgbClr val="766F54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8767" tIns="48767" rIns="48767" bIns="48767" numCol="1" anchor="t">
              <a:noAutofit/>
            </a:bodyPr>
            <a:lstStyle/>
            <a:p>
              <a:pPr algn="l" defTabSz="1300480">
                <a:defRPr b="0">
                  <a:latin typeface="Century Gothic" panose="020B0502020202020204"/>
                  <a:ea typeface="Century Gothic" panose="020B0502020202020204"/>
                  <a:cs typeface="Century Gothic" panose="020B0502020202020204"/>
                  <a:sym typeface="Century Gothic" panose="020B0502020202020204"/>
                </a:defRPr>
              </a:pPr>
            </a:p>
          </p:txBody>
        </p:sp>
        <p:sp>
          <p:nvSpPr>
            <p:cNvPr id="146" name="Freeform 21"/>
            <p:cNvSpPr/>
            <p:nvPr/>
          </p:nvSpPr>
          <p:spPr>
            <a:xfrm>
              <a:off x="821038" y="5472923"/>
              <a:ext cx="39761" cy="23657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900" y="19800"/>
                  </a:moveTo>
                  <a:cubicBezTo>
                    <a:pt x="18900" y="20700"/>
                    <a:pt x="21600" y="21150"/>
                    <a:pt x="21600" y="21600"/>
                  </a:cubicBezTo>
                  <a:cubicBezTo>
                    <a:pt x="21600" y="17100"/>
                    <a:pt x="21600" y="13050"/>
                    <a:pt x="21600" y="8550"/>
                  </a:cubicBezTo>
                  <a:cubicBezTo>
                    <a:pt x="13500" y="5850"/>
                    <a:pt x="8100" y="2700"/>
                    <a:pt x="2700" y="0"/>
                  </a:cubicBezTo>
                  <a:cubicBezTo>
                    <a:pt x="0" y="4050"/>
                    <a:pt x="0" y="7650"/>
                    <a:pt x="0" y="11700"/>
                  </a:cubicBezTo>
                  <a:cubicBezTo>
                    <a:pt x="5400" y="14400"/>
                    <a:pt x="13500" y="17100"/>
                    <a:pt x="18900" y="19800"/>
                  </a:cubicBezTo>
                  <a:close/>
                </a:path>
              </a:pathLst>
            </a:custGeom>
            <a:solidFill>
              <a:srgbClr val="766F54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8767" tIns="48767" rIns="48767" bIns="48767" numCol="1" anchor="t">
              <a:noAutofit/>
            </a:bodyPr>
            <a:lstStyle/>
            <a:p>
              <a:pPr algn="l" defTabSz="1300480">
                <a:defRPr b="0">
                  <a:latin typeface="Century Gothic" panose="020B0502020202020204"/>
                  <a:ea typeface="Century Gothic" panose="020B0502020202020204"/>
                  <a:cs typeface="Century Gothic" panose="020B0502020202020204"/>
                  <a:sym typeface="Century Gothic" panose="020B0502020202020204"/>
                </a:defRPr>
              </a:pPr>
            </a:p>
          </p:txBody>
        </p:sp>
        <p:sp>
          <p:nvSpPr>
            <p:cNvPr id="147" name="Freeform 22"/>
            <p:cNvSpPr/>
            <p:nvPr/>
          </p:nvSpPr>
          <p:spPr>
            <a:xfrm>
              <a:off x="906521" y="6417215"/>
              <a:ext cx="254463" cy="66398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908" y="2880"/>
                  </a:moveTo>
                  <a:cubicBezTo>
                    <a:pt x="2077" y="1920"/>
                    <a:pt x="831" y="960"/>
                    <a:pt x="0" y="0"/>
                  </a:cubicBezTo>
                  <a:cubicBezTo>
                    <a:pt x="1246" y="2560"/>
                    <a:pt x="2908" y="5120"/>
                    <a:pt x="4985" y="7680"/>
                  </a:cubicBezTo>
                  <a:cubicBezTo>
                    <a:pt x="5400" y="8480"/>
                    <a:pt x="5815" y="9120"/>
                    <a:pt x="6646" y="9920"/>
                  </a:cubicBezTo>
                  <a:cubicBezTo>
                    <a:pt x="11215" y="13760"/>
                    <a:pt x="16200" y="17760"/>
                    <a:pt x="21185" y="21600"/>
                  </a:cubicBezTo>
                  <a:cubicBezTo>
                    <a:pt x="21600" y="21600"/>
                    <a:pt x="21600" y="21600"/>
                    <a:pt x="21600" y="21600"/>
                  </a:cubicBezTo>
                  <a:cubicBezTo>
                    <a:pt x="17031" y="17440"/>
                    <a:pt x="13292" y="13280"/>
                    <a:pt x="9969" y="8960"/>
                  </a:cubicBezTo>
                  <a:cubicBezTo>
                    <a:pt x="7477" y="6880"/>
                    <a:pt x="5400" y="4960"/>
                    <a:pt x="2908" y="2880"/>
                  </a:cubicBezTo>
                  <a:close/>
                </a:path>
              </a:pathLst>
            </a:custGeom>
            <a:solidFill>
              <a:srgbClr val="766F54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8767" tIns="48767" rIns="48767" bIns="48767" numCol="1" anchor="t">
              <a:noAutofit/>
            </a:bodyPr>
            <a:lstStyle/>
            <a:p>
              <a:pPr algn="l" defTabSz="1300480">
                <a:defRPr b="0">
                  <a:latin typeface="Century Gothic" panose="020B0502020202020204"/>
                  <a:ea typeface="Century Gothic" panose="020B0502020202020204"/>
                  <a:cs typeface="Century Gothic" panose="020B0502020202020204"/>
                  <a:sym typeface="Century Gothic" panose="020B0502020202020204"/>
                </a:defRPr>
              </a:pPr>
            </a:p>
          </p:txBody>
        </p:sp>
      </p:grpSp>
      <p:grpSp>
        <p:nvGrpSpPr>
          <p:cNvPr id="161" name="Group 9"/>
          <p:cNvGrpSpPr/>
          <p:nvPr/>
        </p:nvGrpSpPr>
        <p:grpSpPr>
          <a:xfrm>
            <a:off x="29035" y="1218361"/>
            <a:ext cx="2513787" cy="7310977"/>
            <a:chOff x="0" y="0"/>
            <a:chExt cx="2513785" cy="7310975"/>
          </a:xfrm>
        </p:grpSpPr>
        <p:sp>
          <p:nvSpPr>
            <p:cNvPr id="149" name="Freeform 27"/>
            <p:cNvSpPr/>
            <p:nvPr/>
          </p:nvSpPr>
          <p:spPr>
            <a:xfrm>
              <a:off x="0" y="-1"/>
              <a:ext cx="527282" cy="469444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68" y="4930"/>
                  </a:moveTo>
                  <a:cubicBezTo>
                    <a:pt x="2307" y="6762"/>
                    <a:pt x="3565" y="8617"/>
                    <a:pt x="5452" y="10448"/>
                  </a:cubicBezTo>
                  <a:cubicBezTo>
                    <a:pt x="7130" y="12279"/>
                    <a:pt x="9227" y="14110"/>
                    <a:pt x="11953" y="15942"/>
                  </a:cubicBezTo>
                  <a:cubicBezTo>
                    <a:pt x="14470" y="17773"/>
                    <a:pt x="17616" y="19581"/>
                    <a:pt x="21181" y="21389"/>
                  </a:cubicBezTo>
                  <a:cubicBezTo>
                    <a:pt x="21390" y="21459"/>
                    <a:pt x="21600" y="21530"/>
                    <a:pt x="21600" y="21600"/>
                  </a:cubicBezTo>
                  <a:cubicBezTo>
                    <a:pt x="21390" y="21248"/>
                    <a:pt x="20971" y="20872"/>
                    <a:pt x="20761" y="20520"/>
                  </a:cubicBezTo>
                  <a:cubicBezTo>
                    <a:pt x="20761" y="20450"/>
                    <a:pt x="20761" y="20379"/>
                    <a:pt x="20761" y="20332"/>
                  </a:cubicBezTo>
                  <a:cubicBezTo>
                    <a:pt x="17825" y="18853"/>
                    <a:pt x="15309" y="17397"/>
                    <a:pt x="13212" y="15918"/>
                  </a:cubicBezTo>
                  <a:cubicBezTo>
                    <a:pt x="10485" y="14087"/>
                    <a:pt x="8179" y="12279"/>
                    <a:pt x="6291" y="10424"/>
                  </a:cubicBezTo>
                  <a:cubicBezTo>
                    <a:pt x="4404" y="8593"/>
                    <a:pt x="2936" y="6762"/>
                    <a:pt x="1887" y="4907"/>
                  </a:cubicBezTo>
                  <a:cubicBezTo>
                    <a:pt x="1468" y="3991"/>
                    <a:pt x="1049" y="3076"/>
                    <a:pt x="629" y="2160"/>
                  </a:cubicBezTo>
                  <a:cubicBezTo>
                    <a:pt x="419" y="1432"/>
                    <a:pt x="210" y="728"/>
                    <a:pt x="21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728"/>
                    <a:pt x="210" y="1432"/>
                    <a:pt x="210" y="2160"/>
                  </a:cubicBezTo>
                  <a:cubicBezTo>
                    <a:pt x="629" y="3076"/>
                    <a:pt x="839" y="3991"/>
                    <a:pt x="1468" y="4930"/>
                  </a:cubicBezTo>
                  <a:close/>
                </a:path>
              </a:pathLst>
            </a:custGeom>
            <a:solidFill>
              <a:srgbClr val="766F54"/>
            </a:solidFill>
            <a:ln w="12700" cap="flat">
              <a:noFill/>
              <a:miter lim="400000"/>
            </a:ln>
            <a:effectLst/>
          </p:spPr>
          <p:txBody>
            <a:bodyPr wrap="square" lIns="48767" tIns="48767" rIns="48767" bIns="48767" numCol="1" anchor="t">
              <a:noAutofit/>
            </a:bodyPr>
            <a:lstStyle/>
            <a:p>
              <a:pPr algn="l" defTabSz="1300480">
                <a:defRPr b="0">
                  <a:latin typeface="Century Gothic" panose="020B0502020202020204"/>
                  <a:ea typeface="Century Gothic" panose="020B0502020202020204"/>
                  <a:cs typeface="Century Gothic" panose="020B0502020202020204"/>
                  <a:sym typeface="Century Gothic" panose="020B0502020202020204"/>
                </a:defRPr>
              </a:pPr>
            </a:p>
          </p:txBody>
        </p:sp>
        <p:sp>
          <p:nvSpPr>
            <p:cNvPr id="150" name="Freeform 28"/>
            <p:cNvSpPr/>
            <p:nvPr/>
          </p:nvSpPr>
          <p:spPr>
            <a:xfrm>
              <a:off x="557938" y="4605075"/>
              <a:ext cx="451666" cy="16860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3009" y="14989"/>
                  </a:moveTo>
                  <a:cubicBezTo>
                    <a:pt x="15709" y="17215"/>
                    <a:pt x="18409" y="19440"/>
                    <a:pt x="21600" y="21600"/>
                  </a:cubicBezTo>
                  <a:cubicBezTo>
                    <a:pt x="21600" y="21142"/>
                    <a:pt x="21600" y="20618"/>
                    <a:pt x="21600" y="20160"/>
                  </a:cubicBezTo>
                  <a:cubicBezTo>
                    <a:pt x="21600" y="20095"/>
                    <a:pt x="21600" y="19964"/>
                    <a:pt x="21600" y="19898"/>
                  </a:cubicBezTo>
                  <a:cubicBezTo>
                    <a:pt x="19391" y="18196"/>
                    <a:pt x="17182" y="16495"/>
                    <a:pt x="15218" y="14793"/>
                  </a:cubicBezTo>
                  <a:cubicBezTo>
                    <a:pt x="9327" y="9949"/>
                    <a:pt x="4173" y="4975"/>
                    <a:pt x="0" y="0"/>
                  </a:cubicBezTo>
                  <a:cubicBezTo>
                    <a:pt x="491" y="1375"/>
                    <a:pt x="982" y="2749"/>
                    <a:pt x="1718" y="4124"/>
                  </a:cubicBezTo>
                  <a:cubicBezTo>
                    <a:pt x="5155" y="7789"/>
                    <a:pt x="8836" y="11389"/>
                    <a:pt x="13009" y="14989"/>
                  </a:cubicBezTo>
                  <a:close/>
                </a:path>
              </a:pathLst>
            </a:custGeom>
            <a:solidFill>
              <a:srgbClr val="766F54"/>
            </a:solidFill>
            <a:ln w="12700" cap="flat">
              <a:noFill/>
              <a:miter lim="400000"/>
            </a:ln>
            <a:effectLst/>
          </p:spPr>
          <p:txBody>
            <a:bodyPr wrap="square" lIns="48767" tIns="48767" rIns="48767" bIns="48767" numCol="1" anchor="t">
              <a:noAutofit/>
            </a:bodyPr>
            <a:lstStyle/>
            <a:p>
              <a:pPr algn="l" defTabSz="1300480">
                <a:defRPr b="0">
                  <a:latin typeface="Century Gothic" panose="020B0502020202020204"/>
                  <a:ea typeface="Century Gothic" panose="020B0502020202020204"/>
                  <a:cs typeface="Century Gothic" panose="020B0502020202020204"/>
                  <a:sym typeface="Century Gothic" panose="020B0502020202020204"/>
                </a:defRPr>
              </a:pPr>
            </a:p>
          </p:txBody>
        </p:sp>
        <p:sp>
          <p:nvSpPr>
            <p:cNvPr id="151" name="Freeform 29"/>
            <p:cNvSpPr/>
            <p:nvPr/>
          </p:nvSpPr>
          <p:spPr>
            <a:xfrm>
              <a:off x="1044345" y="6254366"/>
              <a:ext cx="459841" cy="105661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40" y="1565"/>
                  </a:moveTo>
                  <a:cubicBezTo>
                    <a:pt x="960" y="1043"/>
                    <a:pt x="480" y="522"/>
                    <a:pt x="0" y="0"/>
                  </a:cubicBezTo>
                  <a:cubicBezTo>
                    <a:pt x="0" y="939"/>
                    <a:pt x="0" y="1983"/>
                    <a:pt x="240" y="3026"/>
                  </a:cubicBezTo>
                  <a:cubicBezTo>
                    <a:pt x="3360" y="6470"/>
                    <a:pt x="6480" y="9913"/>
                    <a:pt x="10080" y="13252"/>
                  </a:cubicBezTo>
                  <a:cubicBezTo>
                    <a:pt x="12960" y="16070"/>
                    <a:pt x="16080" y="18887"/>
                    <a:pt x="19200" y="21600"/>
                  </a:cubicBezTo>
                  <a:cubicBezTo>
                    <a:pt x="21600" y="21600"/>
                    <a:pt x="21600" y="21600"/>
                    <a:pt x="21600" y="21600"/>
                  </a:cubicBezTo>
                  <a:cubicBezTo>
                    <a:pt x="18240" y="18783"/>
                    <a:pt x="15120" y="15861"/>
                    <a:pt x="12000" y="12835"/>
                  </a:cubicBezTo>
                  <a:cubicBezTo>
                    <a:pt x="8160" y="9183"/>
                    <a:pt x="4800" y="5322"/>
                    <a:pt x="1440" y="1565"/>
                  </a:cubicBezTo>
                  <a:close/>
                </a:path>
              </a:pathLst>
            </a:custGeom>
            <a:solidFill>
              <a:srgbClr val="766F54"/>
            </a:solidFill>
            <a:ln w="12700" cap="flat">
              <a:noFill/>
              <a:miter lim="400000"/>
            </a:ln>
            <a:effectLst/>
          </p:spPr>
          <p:txBody>
            <a:bodyPr wrap="square" lIns="48767" tIns="48767" rIns="48767" bIns="48767" numCol="1" anchor="t">
              <a:noAutofit/>
            </a:bodyPr>
            <a:lstStyle/>
            <a:p>
              <a:pPr algn="l" defTabSz="1300480">
                <a:defRPr b="0">
                  <a:latin typeface="Century Gothic" panose="020B0502020202020204"/>
                  <a:ea typeface="Century Gothic" panose="020B0502020202020204"/>
                  <a:cs typeface="Century Gothic" panose="020B0502020202020204"/>
                  <a:sym typeface="Century Gothic" panose="020B0502020202020204"/>
                </a:defRPr>
              </a:pPr>
            </a:p>
          </p:txBody>
        </p:sp>
        <p:sp>
          <p:nvSpPr>
            <p:cNvPr id="152" name="Freeform 30"/>
            <p:cNvSpPr/>
            <p:nvPr/>
          </p:nvSpPr>
          <p:spPr>
            <a:xfrm>
              <a:off x="527281" y="4656169"/>
              <a:ext cx="588595" cy="238503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970" y="18917"/>
                  </a:moveTo>
                  <a:cubicBezTo>
                    <a:pt x="17468" y="17946"/>
                    <a:pt x="15965" y="16928"/>
                    <a:pt x="14650" y="15911"/>
                  </a:cubicBezTo>
                  <a:cubicBezTo>
                    <a:pt x="10706" y="12997"/>
                    <a:pt x="7701" y="9991"/>
                    <a:pt x="5447" y="6984"/>
                  </a:cubicBezTo>
                  <a:cubicBezTo>
                    <a:pt x="4132" y="5504"/>
                    <a:pt x="3193" y="3978"/>
                    <a:pt x="2442" y="2451"/>
                  </a:cubicBezTo>
                  <a:cubicBezTo>
                    <a:pt x="1690" y="1619"/>
                    <a:pt x="751" y="833"/>
                    <a:pt x="0" y="0"/>
                  </a:cubicBezTo>
                  <a:cubicBezTo>
                    <a:pt x="939" y="2359"/>
                    <a:pt x="2254" y="4718"/>
                    <a:pt x="3944" y="7030"/>
                  </a:cubicBezTo>
                  <a:cubicBezTo>
                    <a:pt x="6198" y="10083"/>
                    <a:pt x="9203" y="13090"/>
                    <a:pt x="12960" y="16050"/>
                  </a:cubicBezTo>
                  <a:cubicBezTo>
                    <a:pt x="14838" y="17484"/>
                    <a:pt x="16904" y="18964"/>
                    <a:pt x="19346" y="20397"/>
                  </a:cubicBezTo>
                  <a:cubicBezTo>
                    <a:pt x="20097" y="20767"/>
                    <a:pt x="20849" y="21184"/>
                    <a:pt x="21600" y="21600"/>
                  </a:cubicBezTo>
                  <a:cubicBezTo>
                    <a:pt x="21412" y="21461"/>
                    <a:pt x="21224" y="21322"/>
                    <a:pt x="21037" y="21184"/>
                  </a:cubicBezTo>
                  <a:cubicBezTo>
                    <a:pt x="20285" y="20444"/>
                    <a:pt x="19534" y="19657"/>
                    <a:pt x="18970" y="18917"/>
                  </a:cubicBezTo>
                  <a:close/>
                </a:path>
              </a:pathLst>
            </a:custGeom>
            <a:solidFill>
              <a:srgbClr val="766F54"/>
            </a:solidFill>
            <a:ln w="12700" cap="flat">
              <a:noFill/>
              <a:miter lim="400000"/>
            </a:ln>
            <a:effectLst/>
          </p:spPr>
          <p:txBody>
            <a:bodyPr wrap="square" lIns="48767" tIns="48767" rIns="48767" bIns="48767" numCol="1" anchor="t">
              <a:noAutofit/>
            </a:bodyPr>
            <a:lstStyle/>
            <a:p>
              <a:pPr algn="l" defTabSz="1300480">
                <a:defRPr b="0">
                  <a:latin typeface="Century Gothic" panose="020B0502020202020204"/>
                  <a:ea typeface="Century Gothic" panose="020B0502020202020204"/>
                  <a:cs typeface="Century Gothic" panose="020B0502020202020204"/>
                  <a:sym typeface="Century Gothic" panose="020B0502020202020204"/>
                </a:defRPr>
              </a:pPr>
            </a:p>
          </p:txBody>
        </p:sp>
        <p:sp>
          <p:nvSpPr>
            <p:cNvPr id="153" name="Freeform 31"/>
            <p:cNvSpPr/>
            <p:nvPr/>
          </p:nvSpPr>
          <p:spPr>
            <a:xfrm>
              <a:off x="473932" y="1375982"/>
              <a:ext cx="182106" cy="322909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150" h="21600" extrusionOk="0">
                  <a:moveTo>
                    <a:pt x="9750" y="21600"/>
                  </a:moveTo>
                  <a:cubicBezTo>
                    <a:pt x="8550" y="21191"/>
                    <a:pt x="7950" y="20781"/>
                    <a:pt x="7350" y="20372"/>
                  </a:cubicBezTo>
                  <a:cubicBezTo>
                    <a:pt x="4350" y="18085"/>
                    <a:pt x="2550" y="15833"/>
                    <a:pt x="2550" y="13581"/>
                  </a:cubicBezTo>
                  <a:cubicBezTo>
                    <a:pt x="2550" y="11295"/>
                    <a:pt x="4350" y="9043"/>
                    <a:pt x="7350" y="6756"/>
                  </a:cubicBezTo>
                  <a:cubicBezTo>
                    <a:pt x="8550" y="5630"/>
                    <a:pt x="10350" y="4504"/>
                    <a:pt x="12750" y="3378"/>
                  </a:cubicBezTo>
                  <a:cubicBezTo>
                    <a:pt x="15150" y="2252"/>
                    <a:pt x="17550" y="1126"/>
                    <a:pt x="21150" y="0"/>
                  </a:cubicBezTo>
                  <a:cubicBezTo>
                    <a:pt x="20550" y="0"/>
                    <a:pt x="20550" y="0"/>
                    <a:pt x="20550" y="0"/>
                  </a:cubicBezTo>
                  <a:cubicBezTo>
                    <a:pt x="16950" y="1126"/>
                    <a:pt x="13950" y="2252"/>
                    <a:pt x="11550" y="3378"/>
                  </a:cubicBezTo>
                  <a:cubicBezTo>
                    <a:pt x="9150" y="4504"/>
                    <a:pt x="7350" y="5630"/>
                    <a:pt x="5550" y="6756"/>
                  </a:cubicBezTo>
                  <a:cubicBezTo>
                    <a:pt x="1950" y="9009"/>
                    <a:pt x="150" y="11295"/>
                    <a:pt x="150" y="13581"/>
                  </a:cubicBezTo>
                  <a:cubicBezTo>
                    <a:pt x="-450" y="15731"/>
                    <a:pt x="750" y="17915"/>
                    <a:pt x="3750" y="20099"/>
                  </a:cubicBezTo>
                  <a:cubicBezTo>
                    <a:pt x="5550" y="20576"/>
                    <a:pt x="7350" y="21088"/>
                    <a:pt x="9150" y="21566"/>
                  </a:cubicBezTo>
                  <a:cubicBezTo>
                    <a:pt x="9150" y="21566"/>
                    <a:pt x="9750" y="21600"/>
                    <a:pt x="9750" y="21600"/>
                  </a:cubicBezTo>
                  <a:close/>
                </a:path>
              </a:pathLst>
            </a:custGeom>
            <a:solidFill>
              <a:srgbClr val="766F54"/>
            </a:solidFill>
            <a:ln w="12700" cap="flat">
              <a:noFill/>
              <a:miter lim="400000"/>
            </a:ln>
            <a:effectLst/>
          </p:spPr>
          <p:txBody>
            <a:bodyPr wrap="square" lIns="48767" tIns="48767" rIns="48767" bIns="48767" numCol="1" anchor="t">
              <a:noAutofit/>
            </a:bodyPr>
            <a:lstStyle/>
            <a:p>
              <a:pPr algn="l" defTabSz="1300480">
                <a:defRPr b="0">
                  <a:latin typeface="Century Gothic" panose="020B0502020202020204"/>
                  <a:ea typeface="Century Gothic" panose="020B0502020202020204"/>
                  <a:cs typeface="Century Gothic" panose="020B0502020202020204"/>
                  <a:sym typeface="Century Gothic" panose="020B0502020202020204"/>
                </a:defRPr>
              </a:pPr>
            </a:p>
          </p:txBody>
        </p:sp>
        <p:sp>
          <p:nvSpPr>
            <p:cNvPr id="154" name="Freeform 32"/>
            <p:cNvSpPr/>
            <p:nvPr/>
          </p:nvSpPr>
          <p:spPr>
            <a:xfrm>
              <a:off x="1156750" y="7010546"/>
              <a:ext cx="143062" cy="30043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6971" y="21600"/>
                  </a:moveTo>
                  <a:cubicBezTo>
                    <a:pt x="21600" y="21600"/>
                    <a:pt x="21600" y="21600"/>
                    <a:pt x="21600" y="21600"/>
                  </a:cubicBezTo>
                  <a:cubicBezTo>
                    <a:pt x="13886" y="14644"/>
                    <a:pt x="6943" y="7322"/>
                    <a:pt x="0" y="0"/>
                  </a:cubicBezTo>
                  <a:cubicBezTo>
                    <a:pt x="4629" y="7322"/>
                    <a:pt x="10029" y="14644"/>
                    <a:pt x="16971" y="21600"/>
                  </a:cubicBezTo>
                  <a:close/>
                </a:path>
              </a:pathLst>
            </a:custGeom>
            <a:solidFill>
              <a:srgbClr val="766F54"/>
            </a:solidFill>
            <a:ln w="12700" cap="flat">
              <a:noFill/>
              <a:miter lim="400000"/>
            </a:ln>
            <a:effectLst/>
          </p:spPr>
          <p:txBody>
            <a:bodyPr wrap="square" lIns="48767" tIns="48767" rIns="48767" bIns="48767" numCol="1" anchor="t">
              <a:noAutofit/>
            </a:bodyPr>
            <a:lstStyle/>
            <a:p>
              <a:pPr algn="l" defTabSz="1300480">
                <a:defRPr b="0">
                  <a:latin typeface="Century Gothic" panose="020B0502020202020204"/>
                  <a:ea typeface="Century Gothic" panose="020B0502020202020204"/>
                  <a:cs typeface="Century Gothic" panose="020B0502020202020204"/>
                  <a:sym typeface="Century Gothic" panose="020B0502020202020204"/>
                </a:defRPr>
              </a:pPr>
            </a:p>
          </p:txBody>
        </p:sp>
        <p:sp>
          <p:nvSpPr>
            <p:cNvPr id="155" name="Freeform 33"/>
            <p:cNvSpPr/>
            <p:nvPr/>
          </p:nvSpPr>
          <p:spPr>
            <a:xfrm>
              <a:off x="506844" y="4382310"/>
              <a:ext cx="87882" cy="5456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082" y="10901"/>
                  </a:moveTo>
                  <a:cubicBezTo>
                    <a:pt x="10165" y="14535"/>
                    <a:pt x="16518" y="17966"/>
                    <a:pt x="21600" y="21600"/>
                  </a:cubicBezTo>
                  <a:cubicBezTo>
                    <a:pt x="17788" y="17361"/>
                    <a:pt x="15247" y="13121"/>
                    <a:pt x="12706" y="8882"/>
                  </a:cubicBezTo>
                  <a:cubicBezTo>
                    <a:pt x="12706" y="8882"/>
                    <a:pt x="11435" y="8680"/>
                    <a:pt x="11435" y="8680"/>
                  </a:cubicBezTo>
                  <a:cubicBezTo>
                    <a:pt x="7624" y="5854"/>
                    <a:pt x="3812" y="2826"/>
                    <a:pt x="0" y="0"/>
                  </a:cubicBezTo>
                  <a:cubicBezTo>
                    <a:pt x="0" y="404"/>
                    <a:pt x="0" y="1009"/>
                    <a:pt x="0" y="1615"/>
                  </a:cubicBezTo>
                  <a:cubicBezTo>
                    <a:pt x="1271" y="4643"/>
                    <a:pt x="3812" y="7873"/>
                    <a:pt x="5082" y="10901"/>
                  </a:cubicBezTo>
                  <a:close/>
                </a:path>
              </a:pathLst>
            </a:custGeom>
            <a:solidFill>
              <a:srgbClr val="766F54"/>
            </a:solidFill>
            <a:ln w="12700" cap="flat">
              <a:noFill/>
              <a:miter lim="400000"/>
            </a:ln>
            <a:effectLst/>
          </p:spPr>
          <p:txBody>
            <a:bodyPr wrap="square" lIns="48767" tIns="48767" rIns="48767" bIns="48767" numCol="1" anchor="t">
              <a:noAutofit/>
            </a:bodyPr>
            <a:lstStyle/>
            <a:p>
              <a:pPr algn="l" defTabSz="1300480">
                <a:defRPr b="0">
                  <a:latin typeface="Century Gothic" panose="020B0502020202020204"/>
                  <a:ea typeface="Century Gothic" panose="020B0502020202020204"/>
                  <a:cs typeface="Century Gothic" panose="020B0502020202020204"/>
                  <a:sym typeface="Century Gothic" panose="020B0502020202020204"/>
                </a:defRPr>
              </a:pPr>
            </a:p>
          </p:txBody>
        </p:sp>
        <p:sp>
          <p:nvSpPr>
            <p:cNvPr id="156" name="Freeform 34"/>
            <p:cNvSpPr/>
            <p:nvPr/>
          </p:nvSpPr>
          <p:spPr>
            <a:xfrm>
              <a:off x="1009601" y="3356357"/>
              <a:ext cx="1504185" cy="289801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88" y="21030"/>
                  </a:moveTo>
                  <a:cubicBezTo>
                    <a:pt x="661" y="19052"/>
                    <a:pt x="1396" y="17037"/>
                    <a:pt x="2571" y="15097"/>
                  </a:cubicBezTo>
                  <a:cubicBezTo>
                    <a:pt x="3747" y="13196"/>
                    <a:pt x="5363" y="11332"/>
                    <a:pt x="7273" y="9583"/>
                  </a:cubicBezTo>
                  <a:cubicBezTo>
                    <a:pt x="9110" y="7796"/>
                    <a:pt x="11314" y="6123"/>
                    <a:pt x="13739" y="4525"/>
                  </a:cubicBezTo>
                  <a:cubicBezTo>
                    <a:pt x="14914" y="3727"/>
                    <a:pt x="16163" y="2928"/>
                    <a:pt x="17486" y="2206"/>
                  </a:cubicBezTo>
                  <a:cubicBezTo>
                    <a:pt x="18147" y="1825"/>
                    <a:pt x="18808" y="1445"/>
                    <a:pt x="19469" y="1065"/>
                  </a:cubicBezTo>
                  <a:cubicBezTo>
                    <a:pt x="20131" y="723"/>
                    <a:pt x="20865" y="342"/>
                    <a:pt x="21600" y="0"/>
                  </a:cubicBezTo>
                  <a:cubicBezTo>
                    <a:pt x="21527" y="0"/>
                    <a:pt x="21527" y="0"/>
                    <a:pt x="21527" y="0"/>
                  </a:cubicBezTo>
                  <a:cubicBezTo>
                    <a:pt x="20792" y="342"/>
                    <a:pt x="20057" y="685"/>
                    <a:pt x="19396" y="1027"/>
                  </a:cubicBezTo>
                  <a:cubicBezTo>
                    <a:pt x="18735" y="1407"/>
                    <a:pt x="18073" y="1787"/>
                    <a:pt x="17412" y="2130"/>
                  </a:cubicBezTo>
                  <a:cubicBezTo>
                    <a:pt x="16016" y="2890"/>
                    <a:pt x="14767" y="3651"/>
                    <a:pt x="13592" y="4449"/>
                  </a:cubicBezTo>
                  <a:cubicBezTo>
                    <a:pt x="11094" y="6046"/>
                    <a:pt x="8890" y="7720"/>
                    <a:pt x="6980" y="9469"/>
                  </a:cubicBezTo>
                  <a:cubicBezTo>
                    <a:pt x="4996" y="11256"/>
                    <a:pt x="3380" y="13120"/>
                    <a:pt x="2204" y="15059"/>
                  </a:cubicBezTo>
                  <a:cubicBezTo>
                    <a:pt x="955" y="16923"/>
                    <a:pt x="220" y="18900"/>
                    <a:pt x="0" y="20877"/>
                  </a:cubicBezTo>
                  <a:cubicBezTo>
                    <a:pt x="220" y="21106"/>
                    <a:pt x="367" y="21334"/>
                    <a:pt x="514" y="21600"/>
                  </a:cubicBezTo>
                  <a:cubicBezTo>
                    <a:pt x="514" y="21410"/>
                    <a:pt x="514" y="21220"/>
                    <a:pt x="588" y="21030"/>
                  </a:cubicBezTo>
                  <a:close/>
                </a:path>
              </a:pathLst>
            </a:custGeom>
            <a:solidFill>
              <a:srgbClr val="766F54"/>
            </a:solidFill>
            <a:ln w="12700" cap="flat">
              <a:noFill/>
              <a:miter lim="400000"/>
            </a:ln>
            <a:effectLst/>
          </p:spPr>
          <p:txBody>
            <a:bodyPr wrap="square" lIns="48767" tIns="48767" rIns="48767" bIns="48767" numCol="1" anchor="t">
              <a:noAutofit/>
            </a:bodyPr>
            <a:lstStyle/>
            <a:p>
              <a:pPr algn="l" defTabSz="1300480">
                <a:defRPr b="0">
                  <a:latin typeface="Century Gothic" panose="020B0502020202020204"/>
                  <a:ea typeface="Century Gothic" panose="020B0502020202020204"/>
                  <a:cs typeface="Century Gothic" panose="020B0502020202020204"/>
                  <a:sym typeface="Century Gothic" panose="020B0502020202020204"/>
                </a:defRPr>
              </a:pPr>
            </a:p>
          </p:txBody>
        </p:sp>
        <p:sp>
          <p:nvSpPr>
            <p:cNvPr id="157" name="Freeform 35"/>
            <p:cNvSpPr/>
            <p:nvPr/>
          </p:nvSpPr>
          <p:spPr>
            <a:xfrm>
              <a:off x="1115875" y="7041201"/>
              <a:ext cx="128757" cy="26977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cubicBezTo>
                    <a:pt x="4320" y="7336"/>
                    <a:pt x="10368" y="14672"/>
                    <a:pt x="16416" y="21600"/>
                  </a:cubicBezTo>
                  <a:cubicBezTo>
                    <a:pt x="21600" y="21600"/>
                    <a:pt x="21600" y="21600"/>
                    <a:pt x="21600" y="21600"/>
                  </a:cubicBezTo>
                  <a:cubicBezTo>
                    <a:pt x="13824" y="14672"/>
                    <a:pt x="6912" y="7336"/>
                    <a:pt x="0" y="0"/>
                  </a:cubicBezTo>
                  <a:close/>
                </a:path>
              </a:pathLst>
            </a:custGeom>
            <a:solidFill>
              <a:srgbClr val="766F54"/>
            </a:solidFill>
            <a:ln w="12700" cap="flat">
              <a:noFill/>
              <a:miter lim="400000"/>
            </a:ln>
            <a:effectLst/>
          </p:spPr>
          <p:txBody>
            <a:bodyPr wrap="square" lIns="48767" tIns="48767" rIns="48767" bIns="48767" numCol="1" anchor="t">
              <a:noAutofit/>
            </a:bodyPr>
            <a:lstStyle/>
            <a:p>
              <a:pPr algn="l" defTabSz="1300480">
                <a:defRPr b="0">
                  <a:latin typeface="Century Gothic" panose="020B0502020202020204"/>
                  <a:ea typeface="Century Gothic" panose="020B0502020202020204"/>
                  <a:cs typeface="Century Gothic" panose="020B0502020202020204"/>
                  <a:sym typeface="Century Gothic" panose="020B0502020202020204"/>
                </a:defRPr>
              </a:pPr>
            </a:p>
          </p:txBody>
        </p:sp>
        <p:sp>
          <p:nvSpPr>
            <p:cNvPr id="158" name="Freeform 36"/>
            <p:cNvSpPr/>
            <p:nvPr/>
          </p:nvSpPr>
          <p:spPr>
            <a:xfrm>
              <a:off x="1009601" y="6291153"/>
              <a:ext cx="147150" cy="71939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cubicBezTo>
                    <a:pt x="0" y="4596"/>
                    <a:pt x="1490" y="9191"/>
                    <a:pt x="5214" y="13634"/>
                  </a:cubicBezTo>
                  <a:cubicBezTo>
                    <a:pt x="8193" y="15013"/>
                    <a:pt x="10428" y="16545"/>
                    <a:pt x="13407" y="17923"/>
                  </a:cubicBezTo>
                  <a:cubicBezTo>
                    <a:pt x="16386" y="19149"/>
                    <a:pt x="18621" y="20374"/>
                    <a:pt x="21600" y="21600"/>
                  </a:cubicBezTo>
                  <a:cubicBezTo>
                    <a:pt x="20855" y="21294"/>
                    <a:pt x="20855" y="20987"/>
                    <a:pt x="20110" y="20681"/>
                  </a:cubicBezTo>
                  <a:cubicBezTo>
                    <a:pt x="11917" y="15013"/>
                    <a:pt x="7448" y="9191"/>
                    <a:pt x="5959" y="3370"/>
                  </a:cubicBezTo>
                  <a:cubicBezTo>
                    <a:pt x="5214" y="2757"/>
                    <a:pt x="3724" y="2298"/>
                    <a:pt x="2979" y="1685"/>
                  </a:cubicBezTo>
                  <a:cubicBezTo>
                    <a:pt x="1490" y="1072"/>
                    <a:pt x="745" y="460"/>
                    <a:pt x="0" y="0"/>
                  </a:cubicBezTo>
                  <a:close/>
                </a:path>
              </a:pathLst>
            </a:custGeom>
            <a:solidFill>
              <a:srgbClr val="766F54"/>
            </a:solidFill>
            <a:ln w="12700" cap="flat">
              <a:noFill/>
              <a:miter lim="400000"/>
            </a:ln>
            <a:effectLst/>
          </p:spPr>
          <p:txBody>
            <a:bodyPr wrap="square" lIns="48767" tIns="48767" rIns="48767" bIns="48767" numCol="1" anchor="t">
              <a:noAutofit/>
            </a:bodyPr>
            <a:lstStyle/>
            <a:p>
              <a:pPr algn="l" defTabSz="1300480">
                <a:defRPr b="0">
                  <a:latin typeface="Century Gothic" panose="020B0502020202020204"/>
                  <a:ea typeface="Century Gothic" panose="020B0502020202020204"/>
                  <a:cs typeface="Century Gothic" panose="020B0502020202020204"/>
                  <a:sym typeface="Century Gothic" panose="020B0502020202020204"/>
                </a:defRPr>
              </a:pPr>
            </a:p>
          </p:txBody>
        </p:sp>
        <p:sp>
          <p:nvSpPr>
            <p:cNvPr id="159" name="Freeform 37"/>
            <p:cNvSpPr/>
            <p:nvPr/>
          </p:nvSpPr>
          <p:spPr>
            <a:xfrm>
              <a:off x="1009601" y="6158310"/>
              <a:ext cx="40876" cy="24320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1700"/>
                  </a:moveTo>
                  <a:cubicBezTo>
                    <a:pt x="2700" y="13050"/>
                    <a:pt x="5400" y="14850"/>
                    <a:pt x="10800" y="16650"/>
                  </a:cubicBezTo>
                  <a:cubicBezTo>
                    <a:pt x="13500" y="18450"/>
                    <a:pt x="18900" y="19800"/>
                    <a:pt x="21600" y="21600"/>
                  </a:cubicBezTo>
                  <a:cubicBezTo>
                    <a:pt x="18900" y="17100"/>
                    <a:pt x="18900" y="12600"/>
                    <a:pt x="18900" y="8550"/>
                  </a:cubicBezTo>
                  <a:cubicBezTo>
                    <a:pt x="13500" y="5400"/>
                    <a:pt x="8100" y="2700"/>
                    <a:pt x="0" y="0"/>
                  </a:cubicBezTo>
                  <a:cubicBezTo>
                    <a:pt x="0" y="450"/>
                    <a:pt x="0" y="1350"/>
                    <a:pt x="0" y="1800"/>
                  </a:cubicBezTo>
                  <a:cubicBezTo>
                    <a:pt x="0" y="4950"/>
                    <a:pt x="0" y="8550"/>
                    <a:pt x="0" y="11700"/>
                  </a:cubicBezTo>
                  <a:close/>
                </a:path>
              </a:pathLst>
            </a:custGeom>
            <a:solidFill>
              <a:srgbClr val="766F54"/>
            </a:solidFill>
            <a:ln w="12700" cap="flat">
              <a:noFill/>
              <a:miter lim="400000"/>
            </a:ln>
            <a:effectLst/>
          </p:spPr>
          <p:txBody>
            <a:bodyPr wrap="square" lIns="48767" tIns="48767" rIns="48767" bIns="48767" numCol="1" anchor="t">
              <a:noAutofit/>
            </a:bodyPr>
            <a:lstStyle/>
            <a:p>
              <a:pPr algn="l" defTabSz="1300480">
                <a:defRPr b="0">
                  <a:latin typeface="Century Gothic" panose="020B0502020202020204"/>
                  <a:ea typeface="Century Gothic" panose="020B0502020202020204"/>
                  <a:cs typeface="Century Gothic" panose="020B0502020202020204"/>
                  <a:sym typeface="Century Gothic" panose="020B0502020202020204"/>
                </a:defRPr>
              </a:pPr>
            </a:p>
          </p:txBody>
        </p:sp>
        <p:sp>
          <p:nvSpPr>
            <p:cNvPr id="160" name="Freeform 38"/>
            <p:cNvSpPr/>
            <p:nvPr/>
          </p:nvSpPr>
          <p:spPr>
            <a:xfrm>
              <a:off x="1044345" y="6744861"/>
              <a:ext cx="224811" cy="56611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400" y="5449"/>
                  </a:moveTo>
                  <a:cubicBezTo>
                    <a:pt x="3436" y="3697"/>
                    <a:pt x="1964" y="1751"/>
                    <a:pt x="0" y="0"/>
                  </a:cubicBezTo>
                  <a:cubicBezTo>
                    <a:pt x="1473" y="3114"/>
                    <a:pt x="3436" y="6422"/>
                    <a:pt x="5400" y="9535"/>
                  </a:cubicBezTo>
                  <a:cubicBezTo>
                    <a:pt x="5891" y="10119"/>
                    <a:pt x="6382" y="10703"/>
                    <a:pt x="6873" y="11286"/>
                  </a:cubicBezTo>
                  <a:cubicBezTo>
                    <a:pt x="10800" y="14789"/>
                    <a:pt x="14727" y="18292"/>
                    <a:pt x="19145" y="21600"/>
                  </a:cubicBezTo>
                  <a:cubicBezTo>
                    <a:pt x="21600" y="21600"/>
                    <a:pt x="21600" y="21600"/>
                    <a:pt x="21600" y="21600"/>
                  </a:cubicBezTo>
                  <a:cubicBezTo>
                    <a:pt x="17182" y="17903"/>
                    <a:pt x="13745" y="14011"/>
                    <a:pt x="10800" y="10119"/>
                  </a:cubicBezTo>
                  <a:cubicBezTo>
                    <a:pt x="8836" y="8562"/>
                    <a:pt x="7364" y="7005"/>
                    <a:pt x="5400" y="5449"/>
                  </a:cubicBezTo>
                  <a:close/>
                </a:path>
              </a:pathLst>
            </a:custGeom>
            <a:solidFill>
              <a:srgbClr val="766F54"/>
            </a:solidFill>
            <a:ln w="12700" cap="flat">
              <a:noFill/>
              <a:miter lim="400000"/>
            </a:ln>
            <a:effectLst/>
          </p:spPr>
          <p:txBody>
            <a:bodyPr wrap="square" lIns="48767" tIns="48767" rIns="48767" bIns="48767" numCol="1" anchor="t">
              <a:noAutofit/>
            </a:bodyPr>
            <a:lstStyle/>
            <a:p>
              <a:pPr algn="l" defTabSz="1300480">
                <a:defRPr b="0">
                  <a:latin typeface="Century Gothic" panose="020B0502020202020204"/>
                  <a:ea typeface="Century Gothic" panose="020B0502020202020204"/>
                  <a:cs typeface="Century Gothic" panose="020B0502020202020204"/>
                  <a:sym typeface="Century Gothic" panose="020B0502020202020204"/>
                </a:defRPr>
              </a:pPr>
            </a:p>
          </p:txBody>
        </p:sp>
      </p:grpSp>
      <p:sp>
        <p:nvSpPr>
          <p:cNvPr id="162" name="Rectangle 6"/>
          <p:cNvSpPr/>
          <p:nvPr/>
        </p:nvSpPr>
        <p:spPr>
          <a:xfrm>
            <a:off x="-1" y="1219199"/>
            <a:ext cx="195073" cy="7315201"/>
          </a:xfrm>
          <a:prstGeom prst="rect">
            <a:avLst/>
          </a:prstGeom>
          <a:solidFill>
            <a:srgbClr val="766F54"/>
          </a:solidFill>
          <a:ln w="12700">
            <a:miter lim="400000"/>
          </a:ln>
        </p:spPr>
        <p:txBody>
          <a:bodyPr lIns="48767" tIns="48767" rIns="48767" bIns="48767"/>
          <a:lstStyle/>
          <a:p>
            <a:pPr algn="l" defTabSz="1300480">
              <a:defRPr b="0"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pPr>
          </a:p>
        </p:txBody>
      </p:sp>
      <p:pic>
        <p:nvPicPr>
          <p:cNvPr id="163" name="Imagem 8" descr="Imagem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3469" y="1250275"/>
            <a:ext cx="1657950" cy="78160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64" name="Texto do título"/>
          <p:cNvSpPr txBox="1"/>
          <p:nvPr>
            <p:ph type="title" hasCustomPrompt="1"/>
          </p:nvPr>
        </p:nvSpPr>
        <p:spPr>
          <a:xfrm>
            <a:off x="2765786" y="1884917"/>
            <a:ext cx="9505802" cy="1366283"/>
          </a:xfrm>
          <a:prstGeom prst="rect">
            <a:avLst/>
          </a:prstGeom>
        </p:spPr>
        <p:txBody>
          <a:bodyPr lIns="48767" tIns="48767" rIns="48767" bIns="48767" anchor="t"/>
          <a:lstStyle>
            <a:lvl1pPr algn="l" defTabSz="650240">
              <a:defRPr sz="5000">
                <a:solidFill>
                  <a:srgbClr val="262626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1pPr>
          </a:lstStyle>
          <a:p>
            <a:r>
              <a:t>Texto do título</a:t>
            </a:r>
          </a:p>
        </p:txBody>
      </p:sp>
      <p:sp>
        <p:nvSpPr>
          <p:cNvPr id="165" name="Nível um…"/>
          <p:cNvSpPr txBox="1"/>
          <p:nvPr>
            <p:ph type="body" sz="half" idx="1" hasCustomPrompt="1"/>
          </p:nvPr>
        </p:nvSpPr>
        <p:spPr>
          <a:xfrm>
            <a:off x="2761825" y="3495039"/>
            <a:ext cx="9509762" cy="4029465"/>
          </a:xfrm>
          <a:prstGeom prst="rect">
            <a:avLst/>
          </a:prstGeom>
        </p:spPr>
        <p:txBody>
          <a:bodyPr lIns="48767" tIns="48767" rIns="48767" bIns="48767" anchor="t"/>
          <a:lstStyle>
            <a:lvl1pPr marL="457200" indent="-457200" defTabSz="650240">
              <a:spcBef>
                <a:spcPts val="1400"/>
              </a:spcBef>
              <a:buClr>
                <a:srgbClr val="A53010"/>
              </a:buClr>
              <a:buSzPct val="100000"/>
              <a:buChar char=""/>
              <a:defRPr sz="2400">
                <a:solidFill>
                  <a:srgbClr val="404040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1pPr>
            <a:lvl2pPr marL="885825" indent="-428625" defTabSz="650240">
              <a:spcBef>
                <a:spcPts val="1400"/>
              </a:spcBef>
              <a:buClr>
                <a:srgbClr val="A53010"/>
              </a:buClr>
              <a:buSzPct val="100000"/>
              <a:buChar char=""/>
              <a:defRPr sz="2400">
                <a:solidFill>
                  <a:srgbClr val="404040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2pPr>
            <a:lvl3pPr marL="1306195" indent="-391795" defTabSz="650240">
              <a:spcBef>
                <a:spcPts val="1400"/>
              </a:spcBef>
              <a:buClr>
                <a:srgbClr val="A53010"/>
              </a:buClr>
              <a:buSzPct val="100000"/>
              <a:buChar char=""/>
              <a:defRPr sz="2400">
                <a:solidFill>
                  <a:srgbClr val="404040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3pPr>
            <a:lvl4pPr marL="1828800" indent="-457200" defTabSz="650240">
              <a:spcBef>
                <a:spcPts val="1400"/>
              </a:spcBef>
              <a:buClr>
                <a:srgbClr val="A53010"/>
              </a:buClr>
              <a:buSzPct val="100000"/>
              <a:buChar char=""/>
              <a:defRPr sz="2400">
                <a:solidFill>
                  <a:srgbClr val="404040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4pPr>
            <a:lvl5pPr marL="2286000" indent="-457200" defTabSz="650240">
              <a:spcBef>
                <a:spcPts val="1400"/>
              </a:spcBef>
              <a:buClr>
                <a:srgbClr val="A53010"/>
              </a:buClr>
              <a:buSzPct val="100000"/>
              <a:buChar char=""/>
              <a:defRPr sz="2400">
                <a:solidFill>
                  <a:srgbClr val="404040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5pPr>
          </a:lstStyle>
          <a:p>
            <a:r>
              <a:t>Nível um</a:t>
            </a:r>
          </a:p>
          <a:p>
            <a:pPr lvl="1"/>
            <a:r>
              <a:t>Nível dois</a:t>
            </a:r>
          </a:p>
          <a:p>
            <a:pPr lvl="2"/>
            <a:r>
              <a:t>Nível três</a:t>
            </a:r>
          </a:p>
          <a:p>
            <a:pPr lvl="3"/>
            <a:r>
              <a:t>Nível quatro</a:t>
            </a:r>
          </a:p>
          <a:p>
            <a:pPr lvl="4"/>
            <a:r>
              <a:t>Nível cinco</a:t>
            </a:r>
          </a:p>
        </p:txBody>
      </p:sp>
      <p:sp>
        <p:nvSpPr>
          <p:cNvPr id="166" name="Freeform 11"/>
          <p:cNvSpPr/>
          <p:nvPr/>
        </p:nvSpPr>
        <p:spPr>
          <a:xfrm rot="10800000" flipH="1">
            <a:off x="-4469" y="1981199"/>
            <a:ext cx="1701988" cy="54111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68" h="21600" extrusionOk="0">
                <a:moveTo>
                  <a:pt x="21472" y="10154"/>
                </a:moveTo>
                <a:lnTo>
                  <a:pt x="18377" y="406"/>
                </a:lnTo>
                <a:cubicBezTo>
                  <a:pt x="18356" y="337"/>
                  <a:pt x="18331" y="272"/>
                  <a:pt x="18310" y="203"/>
                </a:cubicBezTo>
                <a:cubicBezTo>
                  <a:pt x="18247" y="0"/>
                  <a:pt x="18182" y="0"/>
                  <a:pt x="18117" y="0"/>
                </a:cubicBezTo>
                <a:lnTo>
                  <a:pt x="16891" y="0"/>
                </a:lnTo>
                <a:lnTo>
                  <a:pt x="0" y="151"/>
                </a:lnTo>
                <a:cubicBezTo>
                  <a:pt x="19" y="7301"/>
                  <a:pt x="39" y="14450"/>
                  <a:pt x="58" y="21600"/>
                </a:cubicBezTo>
                <a:lnTo>
                  <a:pt x="16891" y="21527"/>
                </a:lnTo>
                <a:lnTo>
                  <a:pt x="18117" y="21527"/>
                </a:lnTo>
                <a:cubicBezTo>
                  <a:pt x="18182" y="21527"/>
                  <a:pt x="18247" y="21324"/>
                  <a:pt x="18310" y="21324"/>
                </a:cubicBezTo>
                <a:cubicBezTo>
                  <a:pt x="18310" y="21120"/>
                  <a:pt x="18377" y="21120"/>
                  <a:pt x="18377" y="21120"/>
                </a:cubicBezTo>
                <a:lnTo>
                  <a:pt x="21472" y="11372"/>
                </a:lnTo>
                <a:cubicBezTo>
                  <a:pt x="21600" y="10966"/>
                  <a:pt x="21600" y="10560"/>
                  <a:pt x="21472" y="10154"/>
                </a:cubicBezTo>
                <a:close/>
              </a:path>
            </a:pathLst>
          </a:custGeom>
          <a:solidFill>
            <a:srgbClr val="A53010"/>
          </a:solidFill>
          <a:ln w="12700">
            <a:miter lim="400000"/>
          </a:ln>
        </p:spPr>
        <p:txBody>
          <a:bodyPr lIns="48767" tIns="48767" rIns="48767" bIns="48767"/>
          <a:lstStyle/>
          <a:p>
            <a:pPr algn="l" defTabSz="1300480">
              <a:defRPr b="0"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pPr>
          </a:p>
        </p:txBody>
      </p:sp>
      <p:sp>
        <p:nvSpPr>
          <p:cNvPr id="167" name="Número do diapositivo"/>
          <p:cNvSpPr txBox="1"/>
          <p:nvPr>
            <p:ph type="sldNum" sz="quarter" idx="2"/>
          </p:nvPr>
        </p:nvSpPr>
        <p:spPr>
          <a:xfrm>
            <a:off x="894634" y="1989565"/>
            <a:ext cx="504384" cy="529337"/>
          </a:xfrm>
          <a:prstGeom prst="rect">
            <a:avLst/>
          </a:prstGeom>
        </p:spPr>
        <p:txBody>
          <a:bodyPr lIns="48767" tIns="48767" rIns="48767" bIns="48767" anchor="ctr"/>
          <a:lstStyle>
            <a:lvl1pPr algn="r" defTabSz="1300480">
              <a:defRPr sz="2800">
                <a:solidFill>
                  <a:srgbClr val="FEFFFF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ítulo e alíne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Texto do título"/>
          <p:cNvSpPr txBox="1"/>
          <p:nvPr>
            <p:ph type="title" hasCustomPrompt="1"/>
          </p:nvPr>
        </p:nvSpPr>
        <p:spPr>
          <a:xfrm>
            <a:off x="-27488" y="6357"/>
            <a:ext cx="13059776" cy="1663701"/>
          </a:xfrm>
          <a:prstGeom prst="rect">
            <a:avLst/>
          </a:prstGeom>
          <a:solidFill>
            <a:schemeClr val="accent1">
              <a:lumOff val="-13573"/>
            </a:schemeClr>
          </a:solidFill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t>Texto do título</a:t>
            </a:r>
          </a:p>
        </p:txBody>
      </p:sp>
      <p:sp>
        <p:nvSpPr>
          <p:cNvPr id="175" name="Nível um…"/>
          <p:cNvSpPr txBox="1"/>
          <p:nvPr>
            <p:ph type="body" idx="1" hasCustomPrompt="1"/>
          </p:nvPr>
        </p:nvSpPr>
        <p:spPr>
          <a:xfrm>
            <a:off x="952500" y="2590800"/>
            <a:ext cx="11099800" cy="6286500"/>
          </a:xfrm>
          <a:prstGeom prst="rect">
            <a:avLst/>
          </a:prstGeom>
        </p:spPr>
        <p:txBody>
          <a:bodyPr/>
          <a:lstStyle/>
          <a:p>
            <a:r>
              <a:t>Nível um</a:t>
            </a:r>
          </a:p>
          <a:p>
            <a:pPr lvl="1"/>
            <a:r>
              <a:t>Nível dois</a:t>
            </a:r>
          </a:p>
          <a:p>
            <a:pPr lvl="2"/>
            <a:r>
              <a:t>Nível três</a:t>
            </a:r>
          </a:p>
          <a:p>
            <a:pPr lvl="3"/>
            <a:r>
              <a:t>Nível quatro</a:t>
            </a:r>
          </a:p>
          <a:p>
            <a:pPr lvl="4"/>
            <a:r>
              <a:t>Nível cinco</a:t>
            </a:r>
          </a:p>
        </p:txBody>
      </p:sp>
      <p:sp>
        <p:nvSpPr>
          <p:cNvPr id="176" name="Número do diapositivo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ítulo, alíneas e fotograf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Imagem"/>
          <p:cNvSpPr/>
          <p:nvPr>
            <p:ph type="pic" idx="13"/>
          </p:nvPr>
        </p:nvSpPr>
        <p:spPr>
          <a:xfrm>
            <a:off x="4086225" y="2586566"/>
            <a:ext cx="9429750" cy="6286501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/>
        </p:txBody>
      </p:sp>
      <p:sp>
        <p:nvSpPr>
          <p:cNvPr id="184" name="Texto do título"/>
          <p:cNvSpPr txBox="1"/>
          <p:nvPr>
            <p:ph type="title" hasCustomPrompt="1"/>
          </p:nvPr>
        </p:nvSpPr>
        <p:spPr>
          <a:xfrm>
            <a:off x="-61516" y="6357"/>
            <a:ext cx="13127832" cy="1663701"/>
          </a:xfrm>
          <a:prstGeom prst="rect">
            <a:avLst/>
          </a:prstGeom>
          <a:solidFill>
            <a:schemeClr val="accent1">
              <a:lumOff val="-13573"/>
            </a:schemeClr>
          </a:solidFill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t>Texto do título</a:t>
            </a:r>
          </a:p>
        </p:txBody>
      </p:sp>
      <p:sp>
        <p:nvSpPr>
          <p:cNvPr id="185" name="Nível um…"/>
          <p:cNvSpPr txBox="1"/>
          <p:nvPr>
            <p:ph type="body" sz="half" idx="1" hasCustomPrompt="1"/>
          </p:nvPr>
        </p:nvSpPr>
        <p:spPr>
          <a:xfrm>
            <a:off x="952500" y="2590800"/>
            <a:ext cx="5334000" cy="6286500"/>
          </a:xfrm>
          <a:prstGeom prst="rect">
            <a:avLst/>
          </a:prstGeom>
        </p:spPr>
        <p:txBody>
          <a:bodyPr/>
          <a:lstStyle>
            <a:lvl1pPr marL="342900" indent="-342900">
              <a:spcBef>
                <a:spcPts val="3200"/>
              </a:spcBef>
              <a:defRPr sz="2800"/>
            </a:lvl1pPr>
            <a:lvl2pPr marL="685800" indent="-342900">
              <a:spcBef>
                <a:spcPts val="3200"/>
              </a:spcBef>
              <a:defRPr sz="2800"/>
            </a:lvl2pPr>
            <a:lvl3pPr marL="1028700" indent="-342900">
              <a:spcBef>
                <a:spcPts val="3200"/>
              </a:spcBef>
              <a:defRPr sz="2800"/>
            </a:lvl3pPr>
            <a:lvl4pPr marL="1371600" indent="-342900">
              <a:spcBef>
                <a:spcPts val="3200"/>
              </a:spcBef>
              <a:defRPr sz="2800"/>
            </a:lvl4pPr>
            <a:lvl5pPr marL="1714500" indent="-342900">
              <a:spcBef>
                <a:spcPts val="3200"/>
              </a:spcBef>
              <a:defRPr sz="2800"/>
            </a:lvl5pPr>
          </a:lstStyle>
          <a:p>
            <a:r>
              <a:t>Nível um</a:t>
            </a:r>
          </a:p>
          <a:p>
            <a:pPr lvl="1"/>
            <a:r>
              <a:t>Nível dois</a:t>
            </a:r>
          </a:p>
          <a:p>
            <a:pPr lvl="2"/>
            <a:r>
              <a:t>Nível três</a:t>
            </a:r>
          </a:p>
          <a:p>
            <a:pPr lvl="3"/>
            <a:r>
              <a:t>Nível quatro</a:t>
            </a:r>
          </a:p>
          <a:p>
            <a:pPr lvl="4"/>
            <a:r>
              <a:t>Nível cinco</a:t>
            </a:r>
          </a:p>
        </p:txBody>
      </p:sp>
      <p:sp>
        <p:nvSpPr>
          <p:cNvPr id="186" name="Número do diapositivo"/>
          <p:cNvSpPr txBox="1"/>
          <p:nvPr>
            <p:ph type="sldNum" sz="quarter" idx="2"/>
          </p:nvPr>
        </p:nvSpPr>
        <p:spPr>
          <a:xfrm>
            <a:off x="6328884" y="9296400"/>
            <a:ext cx="340259" cy="342900"/>
          </a:xfrm>
          <a:prstGeom prst="rect">
            <a:avLst/>
          </a:prstGeom>
        </p:spPr>
        <p:txBody>
          <a:bodyPr/>
          <a:lstStyle>
            <a:lvl1pPr>
              <a:defRPr>
                <a:latin typeface="Helvetica Light"/>
                <a:ea typeface="Helvetica Light"/>
                <a:cs typeface="Helvetica Light"/>
                <a:sym typeface="Helvetica Light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2" name="Grupo"/>
          <p:cNvGrpSpPr/>
          <p:nvPr/>
        </p:nvGrpSpPr>
        <p:grpSpPr>
          <a:xfrm>
            <a:off x="-1" y="-1"/>
            <a:ext cx="13004803" cy="776677"/>
            <a:chOff x="0" y="0"/>
            <a:chExt cx="13004800" cy="776675"/>
          </a:xfrm>
        </p:grpSpPr>
        <p:sp>
          <p:nvSpPr>
            <p:cNvPr id="193" name="Retângulo"/>
            <p:cNvSpPr/>
            <p:nvPr/>
          </p:nvSpPr>
          <p:spPr>
            <a:xfrm>
              <a:off x="-1" y="0"/>
              <a:ext cx="406402" cy="758614"/>
            </a:xfrm>
            <a:prstGeom prst="rect">
              <a:avLst/>
            </a:prstGeom>
            <a:gradFill flip="none" rotWithShape="1">
              <a:gsLst>
                <a:gs pos="0">
                  <a:srgbClr val="FFFFFF"/>
                </a:gs>
                <a:gs pos="100000">
                  <a:srgbClr val="CCCCE6"/>
                </a:gs>
              </a:gsLst>
              <a:lin ang="108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65023" tIns="65023" rIns="65023" bIns="65023" numCol="1" anchor="ctr">
              <a:noAutofit/>
            </a:bodyPr>
            <a:lstStyle/>
            <a:p>
              <a:pPr defTabSz="1300480">
                <a:defRPr sz="3400" b="0"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defRPr>
              </a:pPr>
            </a:p>
          </p:txBody>
        </p:sp>
        <p:sp>
          <p:nvSpPr>
            <p:cNvPr id="194" name="Retângulo"/>
            <p:cNvSpPr/>
            <p:nvPr/>
          </p:nvSpPr>
          <p:spPr>
            <a:xfrm>
              <a:off x="587021" y="191911"/>
              <a:ext cx="12417780" cy="390596"/>
            </a:xfrm>
            <a:prstGeom prst="rect">
              <a:avLst/>
            </a:prstGeom>
            <a:gradFill flip="none" rotWithShape="1">
              <a:gsLst>
                <a:gs pos="0">
                  <a:srgbClr val="FFFFFF"/>
                </a:gs>
                <a:gs pos="100000">
                  <a:srgbClr val="00007D"/>
                </a:gs>
              </a:gsLst>
              <a:lin ang="108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algn="l" defTabSz="1300480">
                <a:defRPr sz="3400" b="0"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defRPr>
              </a:pPr>
            </a:p>
          </p:txBody>
        </p:sp>
        <p:sp>
          <p:nvSpPr>
            <p:cNvPr id="195" name="Retângulo"/>
            <p:cNvSpPr/>
            <p:nvPr/>
          </p:nvSpPr>
          <p:spPr>
            <a:xfrm>
              <a:off x="582506" y="191911"/>
              <a:ext cx="196428" cy="200943"/>
            </a:xfrm>
            <a:prstGeom prst="rect">
              <a:avLst/>
            </a:prstGeom>
            <a:solidFill>
              <a:srgbClr val="CCCCE6"/>
            </a:solidFill>
            <a:ln w="12700" cap="flat">
              <a:noFill/>
              <a:miter lim="400000"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algn="l" defTabSz="1300480">
                <a:defRPr b="0">
                  <a:solidFill>
                    <a:srgbClr val="666699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pPr>
            </a:p>
          </p:txBody>
        </p:sp>
        <p:sp>
          <p:nvSpPr>
            <p:cNvPr id="196" name="Retângulo"/>
            <p:cNvSpPr/>
            <p:nvPr/>
          </p:nvSpPr>
          <p:spPr>
            <a:xfrm>
              <a:off x="778933" y="0"/>
              <a:ext cx="198685" cy="196427"/>
            </a:xfrm>
            <a:prstGeom prst="rect">
              <a:avLst/>
            </a:prstGeom>
            <a:solidFill>
              <a:srgbClr val="CCCCE6"/>
            </a:solidFill>
            <a:ln w="12700" cap="flat">
              <a:noFill/>
              <a:miter lim="400000"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algn="l" defTabSz="1300480">
                <a:defRPr b="0">
                  <a:solidFill>
                    <a:srgbClr val="666699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pPr>
            </a:p>
          </p:txBody>
        </p:sp>
        <p:sp>
          <p:nvSpPr>
            <p:cNvPr id="197" name="Quadrado"/>
            <p:cNvSpPr/>
            <p:nvPr/>
          </p:nvSpPr>
          <p:spPr>
            <a:xfrm>
              <a:off x="778933" y="191911"/>
              <a:ext cx="198685" cy="200943"/>
            </a:xfrm>
            <a:prstGeom prst="rect">
              <a:avLst/>
            </a:prstGeom>
            <a:solidFill>
              <a:srgbClr val="9999CC"/>
            </a:solidFill>
            <a:ln w="12700" cap="flat">
              <a:noFill/>
              <a:miter lim="400000"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algn="l" defTabSz="1300480">
                <a:defRPr b="0">
                  <a:solidFill>
                    <a:srgbClr val="9999CC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pPr>
            </a:p>
          </p:txBody>
        </p:sp>
        <p:sp>
          <p:nvSpPr>
            <p:cNvPr id="198" name="Quadrado"/>
            <p:cNvSpPr/>
            <p:nvPr/>
          </p:nvSpPr>
          <p:spPr>
            <a:xfrm>
              <a:off x="390595" y="390595"/>
              <a:ext cx="194170" cy="196428"/>
            </a:xfrm>
            <a:prstGeom prst="rect">
              <a:avLst/>
            </a:prstGeom>
            <a:solidFill>
              <a:srgbClr val="CCCCE6"/>
            </a:solidFill>
            <a:ln w="12700" cap="flat">
              <a:noFill/>
              <a:miter lim="400000"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algn="l" defTabSz="1300480">
                <a:defRPr b="0">
                  <a:solidFill>
                    <a:srgbClr val="666699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pPr>
            </a:p>
          </p:txBody>
        </p:sp>
        <p:sp>
          <p:nvSpPr>
            <p:cNvPr id="199" name="Retângulo"/>
            <p:cNvSpPr/>
            <p:nvPr/>
          </p:nvSpPr>
          <p:spPr>
            <a:xfrm>
              <a:off x="187395" y="194168"/>
              <a:ext cx="200943" cy="196428"/>
            </a:xfrm>
            <a:prstGeom prst="rect">
              <a:avLst/>
            </a:prstGeom>
            <a:solidFill>
              <a:srgbClr val="00007D"/>
            </a:solidFill>
            <a:ln w="12700" cap="flat">
              <a:noFill/>
              <a:miter lim="400000"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algn="l" defTabSz="1300480">
                <a:defRPr sz="3400" b="0"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defRPr>
              </a:pPr>
            </a:p>
          </p:txBody>
        </p:sp>
        <p:sp>
          <p:nvSpPr>
            <p:cNvPr id="200" name="Quadrado"/>
            <p:cNvSpPr/>
            <p:nvPr/>
          </p:nvSpPr>
          <p:spPr>
            <a:xfrm>
              <a:off x="582506" y="386080"/>
              <a:ext cx="196428" cy="196427"/>
            </a:xfrm>
            <a:prstGeom prst="rect">
              <a:avLst/>
            </a:prstGeom>
            <a:solidFill>
              <a:srgbClr val="9999CC"/>
            </a:solidFill>
            <a:ln w="12700" cap="flat">
              <a:noFill/>
              <a:miter lim="400000"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algn="l" defTabSz="1300480">
                <a:defRPr b="0">
                  <a:solidFill>
                    <a:srgbClr val="9999CC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pPr>
            </a:p>
          </p:txBody>
        </p:sp>
        <p:sp>
          <p:nvSpPr>
            <p:cNvPr id="201" name="Quadrado"/>
            <p:cNvSpPr/>
            <p:nvPr/>
          </p:nvSpPr>
          <p:spPr>
            <a:xfrm>
              <a:off x="390595" y="582506"/>
              <a:ext cx="194170" cy="194170"/>
            </a:xfrm>
            <a:prstGeom prst="rect">
              <a:avLst/>
            </a:prstGeom>
            <a:solidFill>
              <a:srgbClr val="9999CC"/>
            </a:solidFill>
            <a:ln w="12700" cap="flat">
              <a:noFill/>
              <a:miter lim="400000"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algn="l" defTabSz="1300480">
                <a:defRPr b="0">
                  <a:solidFill>
                    <a:srgbClr val="9999CC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pPr>
            </a:p>
          </p:txBody>
        </p:sp>
      </p:grpSp>
      <p:sp>
        <p:nvSpPr>
          <p:cNvPr id="203" name="Número do diapositivo"/>
          <p:cNvSpPr txBox="1"/>
          <p:nvPr>
            <p:ph type="sldNum" sz="quarter" idx="2"/>
          </p:nvPr>
        </p:nvSpPr>
        <p:spPr>
          <a:xfrm>
            <a:off x="11940746" y="9114705"/>
            <a:ext cx="413814" cy="422149"/>
          </a:xfrm>
          <a:prstGeom prst="rect">
            <a:avLst/>
          </a:prstGeom>
        </p:spPr>
        <p:txBody>
          <a:bodyPr lIns="65023" tIns="65023" rIns="65023" bIns="65023" anchor="b"/>
          <a:lstStyle>
            <a:lvl1pPr algn="r" defTabSz="1300480">
              <a:defRPr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0" name="Picture1" descr="Picture1"/>
          <p:cNvPicPr>
            <a:picLocks noChangeAspect="1"/>
          </p:cNvPicPr>
          <p:nvPr/>
        </p:nvPicPr>
        <p:blipFill>
          <a:blip r:embed="rId2"/>
          <a:srcRect l="842" r="947"/>
          <a:stretch>
            <a:fillRect/>
          </a:stretch>
        </p:blipFill>
        <p:spPr>
          <a:xfrm>
            <a:off x="428977" y="711421"/>
            <a:ext cx="12250704" cy="988686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211" name="Número do diapositivo"/>
          <p:cNvSpPr txBox="1"/>
          <p:nvPr>
            <p:ph type="sldNum" sz="quarter" idx="2"/>
          </p:nvPr>
        </p:nvSpPr>
        <p:spPr>
          <a:xfrm>
            <a:off x="12083626" y="9085298"/>
            <a:ext cx="481780" cy="475677"/>
          </a:xfrm>
          <a:prstGeom prst="rect">
            <a:avLst/>
          </a:prstGeom>
        </p:spPr>
        <p:txBody>
          <a:bodyPr lIns="65023" tIns="65023" rIns="65023" bIns="65023"/>
          <a:lstStyle>
            <a:lvl1pPr algn="l" defTabSz="1300480">
              <a:spcBef>
                <a:spcPts val="1500"/>
              </a:spcBef>
              <a:defRPr sz="2400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  <p:pic>
        <p:nvPicPr>
          <p:cNvPr id="212" name="Picture2" descr="Picture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559" y="325119"/>
            <a:ext cx="1806224" cy="1065672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213" name="Texto"/>
          <p:cNvSpPr txBox="1"/>
          <p:nvPr/>
        </p:nvSpPr>
        <p:spPr>
          <a:xfrm>
            <a:off x="12083626" y="9085298"/>
            <a:ext cx="921175" cy="475677"/>
          </a:xfrm>
          <a:prstGeom prst="rect">
            <a:avLst/>
          </a:prstGeom>
          <a:ln w="12700">
            <a:miter lim="400000"/>
          </a:ln>
        </p:spPr>
        <p:txBody>
          <a:bodyPr lIns="65023" tIns="65023" rIns="65023" bIns="65023">
            <a:spAutoFit/>
          </a:bodyPr>
          <a:lstStyle/>
          <a:p>
            <a:pPr algn="l" defTabSz="1300480">
              <a:spcBef>
                <a:spcPts val="1500"/>
              </a:spcBef>
              <a:defRPr b="0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pPr>
          </a:p>
        </p:txBody>
      </p:sp>
    </p:spTree>
  </p:cSld>
  <p:clrMapOvr>
    <a:masterClrMapping/>
  </p:clrMapOvr>
  <p:transition spd="med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" name="Picture1" descr="Picture1"/>
          <p:cNvPicPr>
            <a:picLocks noChangeAspect="1"/>
          </p:cNvPicPr>
          <p:nvPr/>
        </p:nvPicPr>
        <p:blipFill>
          <a:blip r:embed="rId2"/>
          <a:srcRect l="842" r="947"/>
          <a:stretch>
            <a:fillRect/>
          </a:stretch>
        </p:blipFill>
        <p:spPr>
          <a:xfrm>
            <a:off x="428977" y="711421"/>
            <a:ext cx="12250704" cy="988686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221" name="Número do diapositivo"/>
          <p:cNvSpPr txBox="1"/>
          <p:nvPr>
            <p:ph type="sldNum" sz="quarter" idx="2"/>
          </p:nvPr>
        </p:nvSpPr>
        <p:spPr>
          <a:xfrm>
            <a:off x="12083626" y="9085298"/>
            <a:ext cx="481780" cy="475677"/>
          </a:xfrm>
          <a:prstGeom prst="rect">
            <a:avLst/>
          </a:prstGeom>
        </p:spPr>
        <p:txBody>
          <a:bodyPr lIns="65023" tIns="65023" rIns="65023" bIns="65023"/>
          <a:lstStyle>
            <a:lvl1pPr algn="l" defTabSz="1300480">
              <a:spcBef>
                <a:spcPts val="1500"/>
              </a:spcBef>
              <a:defRPr sz="2400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  <p:pic>
        <p:nvPicPr>
          <p:cNvPr id="222" name="Picture2" descr="Picture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559" y="325119"/>
            <a:ext cx="1806224" cy="1065672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223" name="Texto"/>
          <p:cNvSpPr txBox="1"/>
          <p:nvPr/>
        </p:nvSpPr>
        <p:spPr>
          <a:xfrm>
            <a:off x="12083626" y="9085298"/>
            <a:ext cx="921175" cy="475677"/>
          </a:xfrm>
          <a:prstGeom prst="rect">
            <a:avLst/>
          </a:prstGeom>
          <a:ln w="12700">
            <a:miter lim="400000"/>
          </a:ln>
        </p:spPr>
        <p:txBody>
          <a:bodyPr lIns="65023" tIns="65023" rIns="65023" bIns="65023">
            <a:spAutoFit/>
          </a:bodyPr>
          <a:lstStyle/>
          <a:p>
            <a:pPr algn="l" defTabSz="1300480">
              <a:defRPr b="0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pPr>
          </a:p>
        </p:txBody>
      </p:sp>
      <p:sp>
        <p:nvSpPr>
          <p:cNvPr id="224" name="Texto"/>
          <p:cNvSpPr txBox="1"/>
          <p:nvPr/>
        </p:nvSpPr>
        <p:spPr>
          <a:xfrm>
            <a:off x="12083626" y="9085298"/>
            <a:ext cx="921175" cy="475677"/>
          </a:xfrm>
          <a:prstGeom prst="rect">
            <a:avLst/>
          </a:prstGeom>
          <a:ln w="12700">
            <a:miter lim="400000"/>
          </a:ln>
        </p:spPr>
        <p:txBody>
          <a:bodyPr lIns="65023" tIns="65023" rIns="65023" bIns="65023">
            <a:spAutoFit/>
          </a:bodyPr>
          <a:lstStyle/>
          <a:p>
            <a:pPr algn="l" defTabSz="1300480">
              <a:spcBef>
                <a:spcPts val="1500"/>
              </a:spcBef>
              <a:defRPr b="0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pPr>
          </a:p>
        </p:txBody>
      </p:sp>
    </p:spTree>
  </p:cSld>
  <p:clrMapOvr>
    <a:masterClrMapping/>
  </p:clrMapOvr>
  <p:transition spd="med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1" name="Picture 2" descr="Picture 2"/>
          <p:cNvPicPr>
            <a:picLocks noChangeAspect="1"/>
          </p:cNvPicPr>
          <p:nvPr/>
        </p:nvPicPr>
        <p:blipFill>
          <a:blip r:embed="rId2"/>
          <a:srcRect l="842" r="947"/>
          <a:stretch>
            <a:fillRect/>
          </a:stretch>
        </p:blipFill>
        <p:spPr>
          <a:xfrm>
            <a:off x="428977" y="711421"/>
            <a:ext cx="12250704" cy="988687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232" name="Número do diapositivo"/>
          <p:cNvSpPr txBox="1"/>
          <p:nvPr>
            <p:ph type="sldNum" sz="quarter" idx="2"/>
          </p:nvPr>
        </p:nvSpPr>
        <p:spPr>
          <a:xfrm>
            <a:off x="12083626" y="9085298"/>
            <a:ext cx="481780" cy="475677"/>
          </a:xfrm>
          <a:prstGeom prst="rect">
            <a:avLst/>
          </a:prstGeom>
        </p:spPr>
        <p:txBody>
          <a:bodyPr lIns="65023" tIns="65023" rIns="65023" bIns="65023"/>
          <a:lstStyle>
            <a:lvl1pPr algn="l" defTabSz="1300480">
              <a:spcBef>
                <a:spcPts val="1500"/>
              </a:spcBef>
              <a:defRPr sz="2400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  <p:pic>
        <p:nvPicPr>
          <p:cNvPr id="233" name="Picture 9" descr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559" y="325119"/>
            <a:ext cx="1806224" cy="1065672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234" name="Text Box 11"/>
          <p:cNvSpPr txBox="1"/>
          <p:nvPr/>
        </p:nvSpPr>
        <p:spPr>
          <a:xfrm>
            <a:off x="12083626" y="9085298"/>
            <a:ext cx="921175" cy="475677"/>
          </a:xfrm>
          <a:prstGeom prst="rect">
            <a:avLst/>
          </a:prstGeom>
          <a:ln w="12700">
            <a:miter lim="400000"/>
          </a:ln>
        </p:spPr>
        <p:txBody>
          <a:bodyPr lIns="65023" tIns="65023" rIns="65023" bIns="65023">
            <a:spAutoFit/>
          </a:bodyPr>
          <a:lstStyle/>
          <a:p>
            <a:pPr algn="l" defTabSz="1300480">
              <a:spcBef>
                <a:spcPts val="1500"/>
              </a:spcBef>
              <a:defRPr b="0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pPr>
          </a:p>
        </p:txBody>
      </p:sp>
      <p:sp>
        <p:nvSpPr>
          <p:cNvPr id="235" name="Texto do título"/>
          <p:cNvSpPr txBox="1"/>
          <p:nvPr>
            <p:ph type="title" hasCustomPrompt="1"/>
          </p:nvPr>
        </p:nvSpPr>
        <p:spPr>
          <a:xfrm>
            <a:off x="505742" y="325119"/>
            <a:ext cx="11704321" cy="1625601"/>
          </a:xfrm>
          <a:prstGeom prst="rect">
            <a:avLst/>
          </a:prstGeom>
        </p:spPr>
        <p:txBody>
          <a:bodyPr lIns="65023" tIns="65023" rIns="65023" bIns="65023"/>
          <a:lstStyle>
            <a:lvl1pPr algn="l" defTabSz="1300480">
              <a:defRPr sz="5600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</a:lstStyle>
          <a:p>
            <a:r>
              <a:t>Texto do título</a:t>
            </a:r>
          </a:p>
        </p:txBody>
      </p:sp>
      <p:sp>
        <p:nvSpPr>
          <p:cNvPr id="236" name="Nível um…"/>
          <p:cNvSpPr txBox="1"/>
          <p:nvPr>
            <p:ph type="body" idx="1" hasCustomPrompt="1"/>
          </p:nvPr>
        </p:nvSpPr>
        <p:spPr>
          <a:xfrm>
            <a:off x="650239" y="2079413"/>
            <a:ext cx="11704322" cy="7475503"/>
          </a:xfrm>
          <a:prstGeom prst="rect">
            <a:avLst/>
          </a:prstGeom>
        </p:spPr>
        <p:txBody>
          <a:bodyPr lIns="65023" tIns="65023" rIns="65023" bIns="65023" anchor="t"/>
          <a:lstStyle>
            <a:lvl1pPr marL="487680" indent="-487680" defTabSz="1300480">
              <a:spcBef>
                <a:spcPts val="800"/>
              </a:spcBef>
              <a:buSzTx/>
              <a:buNone/>
              <a:defRPr sz="3400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803910" indent="-346710" defTabSz="1300480">
              <a:spcBef>
                <a:spcPts val="800"/>
              </a:spcBef>
              <a:buSzPct val="100000"/>
              <a:defRPr sz="3400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238250" indent="-323850" defTabSz="1300480">
              <a:spcBef>
                <a:spcPts val="800"/>
              </a:spcBef>
              <a:buSzPct val="100000"/>
              <a:buChar char="–"/>
              <a:defRPr sz="3400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760220" indent="-388620" defTabSz="1300480">
              <a:spcBef>
                <a:spcPts val="800"/>
              </a:spcBef>
              <a:buSzPct val="100000"/>
              <a:defRPr sz="3400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17420" indent="-388620" defTabSz="1300480">
              <a:spcBef>
                <a:spcPts val="800"/>
              </a:spcBef>
              <a:buSzPct val="100000"/>
              <a:buChar char="–"/>
              <a:defRPr sz="3400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</a:lstStyle>
          <a:p>
            <a:r>
              <a:t>Nível um</a:t>
            </a:r>
          </a:p>
          <a:p>
            <a:pPr lvl="1"/>
            <a:r>
              <a:t>Nível dois</a:t>
            </a:r>
          </a:p>
          <a:p>
            <a:pPr lvl="2"/>
            <a:r>
              <a:t>Nível três</a:t>
            </a:r>
          </a:p>
          <a:p>
            <a:pPr lvl="3"/>
            <a:r>
              <a:t>Nível quatro</a:t>
            </a:r>
          </a:p>
          <a:p>
            <a:pPr lvl="4"/>
            <a:r>
              <a:t>Nível cinco</a:t>
            </a:r>
          </a:p>
        </p:txBody>
      </p:sp>
    </p:spTree>
  </p:cSld>
  <p:clrMapOvr>
    <a:masterClrMapping/>
  </p:clrMapOvr>
  <p:transition spd="med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ítulo e conteúdo 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Texto do título"/>
          <p:cNvSpPr txBox="1"/>
          <p:nvPr>
            <p:ph type="title" hasCustomPrompt="1"/>
          </p:nvPr>
        </p:nvSpPr>
        <p:spPr>
          <a:xfrm>
            <a:off x="505742" y="325119"/>
            <a:ext cx="11704321" cy="1625601"/>
          </a:xfrm>
          <a:prstGeom prst="rect">
            <a:avLst/>
          </a:prstGeom>
        </p:spPr>
        <p:txBody>
          <a:bodyPr lIns="65023" tIns="65023" rIns="65023" bIns="65023"/>
          <a:lstStyle>
            <a:lvl1pPr algn="l" defTabSz="1300480">
              <a:defRPr sz="5600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</a:lstStyle>
          <a:p>
            <a:r>
              <a:t>Texto do título</a:t>
            </a:r>
          </a:p>
        </p:txBody>
      </p:sp>
      <p:sp>
        <p:nvSpPr>
          <p:cNvPr id="244" name="Nível um…"/>
          <p:cNvSpPr txBox="1"/>
          <p:nvPr>
            <p:ph type="body" idx="1" hasCustomPrompt="1"/>
          </p:nvPr>
        </p:nvSpPr>
        <p:spPr>
          <a:xfrm>
            <a:off x="650239" y="2079413"/>
            <a:ext cx="11704322" cy="7475503"/>
          </a:xfrm>
          <a:prstGeom prst="rect">
            <a:avLst/>
          </a:prstGeom>
        </p:spPr>
        <p:txBody>
          <a:bodyPr lIns="65023" tIns="65023" rIns="65023" bIns="65023" anchor="t"/>
          <a:lstStyle>
            <a:lvl1pPr marL="487680" indent="-487680" defTabSz="1300480">
              <a:spcBef>
                <a:spcPts val="800"/>
              </a:spcBef>
              <a:buSzTx/>
              <a:buNone/>
              <a:defRPr sz="3400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803910" indent="-346710" defTabSz="1300480">
              <a:spcBef>
                <a:spcPts val="800"/>
              </a:spcBef>
              <a:buSzPct val="100000"/>
              <a:defRPr sz="3400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238250" indent="-323850" defTabSz="1300480">
              <a:spcBef>
                <a:spcPts val="800"/>
              </a:spcBef>
              <a:buSzPct val="100000"/>
              <a:buChar char="–"/>
              <a:defRPr sz="3400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760220" indent="-388620" defTabSz="1300480">
              <a:spcBef>
                <a:spcPts val="800"/>
              </a:spcBef>
              <a:buSzPct val="100000"/>
              <a:defRPr sz="3400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17420" indent="-388620" defTabSz="1300480">
              <a:spcBef>
                <a:spcPts val="800"/>
              </a:spcBef>
              <a:buSzPct val="100000"/>
              <a:buChar char="–"/>
              <a:defRPr sz="3400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</a:lstStyle>
          <a:p>
            <a:r>
              <a:t>Nível um</a:t>
            </a:r>
          </a:p>
          <a:p>
            <a:pPr lvl="1"/>
            <a:r>
              <a:t>Nível dois</a:t>
            </a:r>
          </a:p>
          <a:p>
            <a:pPr lvl="2"/>
            <a:r>
              <a:t>Nível três</a:t>
            </a:r>
          </a:p>
          <a:p>
            <a:pPr lvl="3"/>
            <a:r>
              <a:t>Nível quatro</a:t>
            </a:r>
          </a:p>
          <a:p>
            <a:pPr lvl="4"/>
            <a:r>
              <a:t>Nível cinco</a:t>
            </a:r>
          </a:p>
        </p:txBody>
      </p:sp>
      <p:sp>
        <p:nvSpPr>
          <p:cNvPr id="245" name="Número do diapositivo"/>
          <p:cNvSpPr txBox="1"/>
          <p:nvPr>
            <p:ph type="sldNum" sz="quarter" idx="2"/>
          </p:nvPr>
        </p:nvSpPr>
        <p:spPr>
          <a:xfrm>
            <a:off x="11957539" y="8882098"/>
            <a:ext cx="397021" cy="389270"/>
          </a:xfrm>
          <a:prstGeom prst="rect">
            <a:avLst/>
          </a:prstGeom>
        </p:spPr>
        <p:txBody>
          <a:bodyPr lIns="65023" tIns="65023" rIns="65023" bIns="65023"/>
          <a:lstStyle>
            <a:lvl1pPr algn="r" defTabSz="1300480">
              <a:defRPr sz="1800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2" name="Picture1" descr="Picture1"/>
          <p:cNvPicPr>
            <a:picLocks noChangeAspect="1"/>
          </p:cNvPicPr>
          <p:nvPr/>
        </p:nvPicPr>
        <p:blipFill>
          <a:blip r:embed="rId2"/>
          <a:srcRect l="842" r="947"/>
          <a:stretch>
            <a:fillRect/>
          </a:stretch>
        </p:blipFill>
        <p:spPr>
          <a:xfrm>
            <a:off x="428977" y="711421"/>
            <a:ext cx="12250704" cy="988686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253" name="Número do diapositivo"/>
          <p:cNvSpPr txBox="1"/>
          <p:nvPr>
            <p:ph type="sldNum" sz="quarter" idx="2"/>
          </p:nvPr>
        </p:nvSpPr>
        <p:spPr>
          <a:xfrm>
            <a:off x="12083626" y="9085298"/>
            <a:ext cx="481780" cy="475677"/>
          </a:xfrm>
          <a:prstGeom prst="rect">
            <a:avLst/>
          </a:prstGeom>
        </p:spPr>
        <p:txBody>
          <a:bodyPr lIns="65023" tIns="65023" rIns="65023" bIns="65023"/>
          <a:lstStyle>
            <a:lvl1pPr algn="l" defTabSz="1300480">
              <a:spcBef>
                <a:spcPts val="1500"/>
              </a:spcBef>
              <a:defRPr sz="2400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  <p:pic>
        <p:nvPicPr>
          <p:cNvPr id="254" name="Picture2" descr="Picture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559" y="325119"/>
            <a:ext cx="1806224" cy="1065672"/>
          </a:xfrm>
          <a:prstGeom prst="rect">
            <a:avLst/>
          </a:prstGeom>
          <a:ln w="12700">
            <a:miter lim="400000"/>
            <a:headEnd/>
            <a:tailEnd/>
          </a:ln>
        </p:spPr>
      </p:pic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4" Type="http://schemas.openxmlformats.org/officeDocument/2006/relationships/theme" Target="../theme/theme1.xml"/><Relationship Id="rId23" Type="http://schemas.openxmlformats.org/officeDocument/2006/relationships/slideLayout" Target="../slideLayouts/slideLayout23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0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ível um…"/>
          <p:cNvSpPr txBox="1"/>
          <p:nvPr>
            <p:ph type="body" idx="1"/>
          </p:nvPr>
        </p:nvSpPr>
        <p:spPr>
          <a:xfrm>
            <a:off x="952500" y="1270000"/>
            <a:ext cx="11099800" cy="7213600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t>Nível um</a:t>
            </a:r>
          </a:p>
          <a:p>
            <a:pPr lvl="1"/>
            <a:r>
              <a:t>Nível dois</a:t>
            </a:r>
          </a:p>
          <a:p>
            <a:pPr lvl="2"/>
            <a:r>
              <a:t>Nível três</a:t>
            </a:r>
          </a:p>
          <a:p>
            <a:pPr lvl="3"/>
            <a:r>
              <a:t>Nível quatro</a:t>
            </a:r>
          </a:p>
          <a:p>
            <a:pPr lvl="4"/>
            <a:r>
              <a:t>Nível cinco</a:t>
            </a:r>
          </a:p>
        </p:txBody>
      </p:sp>
      <p:sp>
        <p:nvSpPr>
          <p:cNvPr id="3" name="Texto do título"/>
          <p:cNvSpPr txBox="1"/>
          <p:nvPr>
            <p:ph type="title"/>
          </p:nvPr>
        </p:nvSpPr>
        <p:spPr>
          <a:xfrm>
            <a:off x="952500" y="254000"/>
            <a:ext cx="11099800" cy="2159000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t>Texto do título</a:t>
            </a:r>
          </a:p>
        </p:txBody>
      </p:sp>
      <p:sp>
        <p:nvSpPr>
          <p:cNvPr id="4" name="Número do diapositivo"/>
          <p:cNvSpPr txBox="1"/>
          <p:nvPr>
            <p:ph type="sldNum" sz="quarter" idx="2"/>
          </p:nvPr>
        </p:nvSpPr>
        <p:spPr>
          <a:xfrm>
            <a:off x="6328884" y="9296400"/>
            <a:ext cx="340259" cy="324306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>
              <a:defRPr sz="16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</p:sldLayoutIdLst>
  <p:transition spd="med"/>
  <p:txStyles>
    <p:title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8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1pPr>
      <a:lvl2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8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2pPr>
      <a:lvl3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8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3pPr>
      <a:lvl4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8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4pPr>
      <a:lvl5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8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5pPr>
      <a:lvl6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8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6pPr>
      <a:lvl7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8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7pPr>
      <a:lvl8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8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8pPr>
      <a:lvl9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8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9pPr>
    </p:titleStyle>
    <p:bodyStyle>
      <a:lvl1pPr marL="444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defRPr sz="32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1pPr>
      <a:lvl2pPr marL="8890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defRPr sz="32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2pPr>
      <a:lvl3pPr marL="1333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defRPr sz="32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3pPr>
      <a:lvl4pPr marL="17780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defRPr sz="32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4pPr>
      <a:lvl5pPr marL="2222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defRPr sz="32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5pPr>
      <a:lvl6pPr marL="26670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defRPr sz="32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6pPr>
      <a:lvl7pPr marL="3111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defRPr sz="32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7pPr>
      <a:lvl8pPr marL="35560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defRPr sz="32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8pPr>
      <a:lvl9pPr marL="4000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defRPr sz="32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9pPr>
    </p:bodyStyle>
    <p:otherStyle>
      <a:lvl1pPr marL="0" marR="0" indent="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1pPr>
      <a:lvl2pPr marL="0" marR="0" indent="2286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2pPr>
      <a:lvl3pPr marL="0" marR="0" indent="4572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3pPr>
      <a:lvl4pPr marL="0" marR="0" indent="6858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4pPr>
      <a:lvl5pPr marL="0" marR="0" indent="9144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5pPr>
      <a:lvl6pPr marL="0" marR="0" indent="11430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6pPr>
      <a:lvl7pPr marL="0" marR="0" indent="13716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7pPr>
      <a:lvl8pPr marL="0" marR="0" indent="16002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8pPr>
      <a:lvl9pPr marL="0" marR="0" indent="18288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.tiff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6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20.png"/><Relationship Id="rId1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20.png"/><Relationship Id="rId1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4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5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6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7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4.jpe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8.jpe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8.jpeg"/></Relationships>
</file>

<file path=ppt/slides/_rels/slide2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6.xml"/><Relationship Id="rId4" Type="http://schemas.openxmlformats.org/officeDocument/2006/relationships/image" Target="../media/image32.png"/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image" Target="../media/image29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33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34.png"/></Relationships>
</file>

<file path=ppt/slides/_rels/slide2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6.xml"/><Relationship Id="rId4" Type="http://schemas.openxmlformats.org/officeDocument/2006/relationships/image" Target="../media/image38.png"/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image" Target="../media/image35.png"/></Relationships>
</file>

<file path=ppt/slides/_rels/slide2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6.xml"/><Relationship Id="rId4" Type="http://schemas.openxmlformats.org/officeDocument/2006/relationships/image" Target="../media/image42.png"/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image" Target="../media/image39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4.jpe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44.png"/><Relationship Id="rId1" Type="http://schemas.openxmlformats.org/officeDocument/2006/relationships/image" Target="../media/image4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46.png"/><Relationship Id="rId1" Type="http://schemas.openxmlformats.org/officeDocument/2006/relationships/image" Target="../media/image45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47.png"/></Relationships>
</file>

<file path=ppt/slides/_rels/slide3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6.xml"/><Relationship Id="rId5" Type="http://schemas.openxmlformats.org/officeDocument/2006/relationships/image" Target="../media/image52.png"/><Relationship Id="rId4" Type="http://schemas.openxmlformats.org/officeDocument/2006/relationships/image" Target="../media/image51.png"/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image" Target="../media/image48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53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4.jpe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54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55.png"/></Relationships>
</file>

<file path=ppt/slides/_rels/slide3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6.xml"/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image" Target="../media/image56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59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60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62.png"/><Relationship Id="rId1" Type="http://schemas.openxmlformats.org/officeDocument/2006/relationships/image" Target="../media/image61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63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64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65.pn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66.pn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4.jpeg"/></Relationships>
</file>

<file path=ppt/slides/_rels/slide48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6.xml"/><Relationship Id="rId5" Type="http://schemas.openxmlformats.org/officeDocument/2006/relationships/image" Target="../media/image71.png"/><Relationship Id="rId4" Type="http://schemas.openxmlformats.org/officeDocument/2006/relationships/image" Target="../media/image70.png"/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image" Target="../media/image67.pn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72.png"/></Relationships>
</file>

<file path=ppt/slides/_rels/slide5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75.png"/><Relationship Id="rId2" Type="http://schemas.openxmlformats.org/officeDocument/2006/relationships/image" Target="../media/image74.png"/><Relationship Id="rId1" Type="http://schemas.openxmlformats.org/officeDocument/2006/relationships/image" Target="../media/image73.png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76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78.png"/><Relationship Id="rId1" Type="http://schemas.openxmlformats.org/officeDocument/2006/relationships/image" Target="../media/image77.png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79.png"/></Relationships>
</file>

<file path=ppt/slides/_rels/slide5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6.xml"/><Relationship Id="rId3" Type="http://schemas.openxmlformats.org/officeDocument/2006/relationships/image" Target="../media/image82.png"/><Relationship Id="rId2" Type="http://schemas.openxmlformats.org/officeDocument/2006/relationships/image" Target="../media/image81.png"/><Relationship Id="rId1" Type="http://schemas.openxmlformats.org/officeDocument/2006/relationships/image" Target="../media/image80.png"/></Relationships>
</file>

<file path=ppt/slides/_rels/slide5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6.xml"/><Relationship Id="rId4" Type="http://schemas.openxmlformats.org/officeDocument/2006/relationships/image" Target="../media/image86.png"/><Relationship Id="rId3" Type="http://schemas.openxmlformats.org/officeDocument/2006/relationships/image" Target="../media/image85.png"/><Relationship Id="rId2" Type="http://schemas.openxmlformats.org/officeDocument/2006/relationships/image" Target="../media/image84.png"/><Relationship Id="rId1" Type="http://schemas.openxmlformats.org/officeDocument/2006/relationships/image" Target="../media/image83.png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87.png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4.jpeg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88.png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89.png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90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92.png"/><Relationship Id="rId1" Type="http://schemas.openxmlformats.org/officeDocument/2006/relationships/image" Target="../media/image91.png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93.png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94.png"/></Relationships>
</file>

<file path=ppt/slides/_rels/slide6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6.xml"/><Relationship Id="rId3" Type="http://schemas.openxmlformats.org/officeDocument/2006/relationships/image" Target="../media/image94.png"/><Relationship Id="rId2" Type="http://schemas.openxmlformats.org/officeDocument/2006/relationships/image" Target="../media/image96.png"/><Relationship Id="rId1" Type="http://schemas.openxmlformats.org/officeDocument/2006/relationships/image" Target="../media/image95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98.png"/><Relationship Id="rId1" Type="http://schemas.openxmlformats.org/officeDocument/2006/relationships/image" Target="../media/image97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100.png"/><Relationship Id="rId1" Type="http://schemas.openxmlformats.org/officeDocument/2006/relationships/image" Target="../media/image99.png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01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103.png"/><Relationship Id="rId1" Type="http://schemas.openxmlformats.org/officeDocument/2006/relationships/image" Target="../media/image102.png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04.png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05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107.png"/><Relationship Id="rId1" Type="http://schemas.openxmlformats.org/officeDocument/2006/relationships/image" Target="../media/image106.png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08.png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09.png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10.png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11.png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12.png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13.png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115.png"/><Relationship Id="rId1" Type="http://schemas.openxmlformats.org/officeDocument/2006/relationships/image" Target="../media/image114.png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4.jpeg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16.png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17.png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18.png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19.png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20.png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6.xml"/><Relationship Id="rId3" Type="http://schemas.openxmlformats.org/officeDocument/2006/relationships/image" Target="../media/image123.png"/><Relationship Id="rId2" Type="http://schemas.openxmlformats.org/officeDocument/2006/relationships/image" Target="../media/image122.png"/><Relationship Id="rId1" Type="http://schemas.openxmlformats.org/officeDocument/2006/relationships/image" Target="../media/image121.png"/></Relationships>
</file>

<file path=ppt/slides/_rels/slide8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6.xml"/><Relationship Id="rId4" Type="http://schemas.openxmlformats.org/officeDocument/2006/relationships/image" Target="../media/image127.png"/><Relationship Id="rId3" Type="http://schemas.openxmlformats.org/officeDocument/2006/relationships/image" Target="../media/image126.png"/><Relationship Id="rId2" Type="http://schemas.openxmlformats.org/officeDocument/2006/relationships/image" Target="../media/image125.png"/><Relationship Id="rId1" Type="http://schemas.openxmlformats.org/officeDocument/2006/relationships/image" Target="../media/image124.png"/></Relationships>
</file>

<file path=ppt/slides/_rels/slide89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6.xml"/><Relationship Id="rId5" Type="http://schemas.openxmlformats.org/officeDocument/2006/relationships/image" Target="../media/image132.png"/><Relationship Id="rId4" Type="http://schemas.openxmlformats.org/officeDocument/2006/relationships/image" Target="../media/image131.png"/><Relationship Id="rId3" Type="http://schemas.openxmlformats.org/officeDocument/2006/relationships/image" Target="../media/image130.png"/><Relationship Id="rId2" Type="http://schemas.openxmlformats.org/officeDocument/2006/relationships/image" Target="../media/image129.png"/><Relationship Id="rId1" Type="http://schemas.openxmlformats.org/officeDocument/2006/relationships/image" Target="../media/image128.png"/></Relationships>
</file>

<file path=ppt/slides/_rels/slide90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6.xml"/><Relationship Id="rId5" Type="http://schemas.openxmlformats.org/officeDocument/2006/relationships/image" Target="../media/image137.png"/><Relationship Id="rId4" Type="http://schemas.openxmlformats.org/officeDocument/2006/relationships/image" Target="../media/image136.png"/><Relationship Id="rId3" Type="http://schemas.openxmlformats.org/officeDocument/2006/relationships/image" Target="../media/image135.png"/><Relationship Id="rId2" Type="http://schemas.openxmlformats.org/officeDocument/2006/relationships/image" Target="../media/image134.png"/><Relationship Id="rId1" Type="http://schemas.openxmlformats.org/officeDocument/2006/relationships/image" Target="../media/image133.png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4.jpeg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38.png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39.png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40.png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6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6.xml"/><Relationship Id="rId5" Type="http://schemas.openxmlformats.org/officeDocument/2006/relationships/image" Target="../media/image145.png"/><Relationship Id="rId4" Type="http://schemas.openxmlformats.org/officeDocument/2006/relationships/image" Target="../media/image144.png"/><Relationship Id="rId3" Type="http://schemas.openxmlformats.org/officeDocument/2006/relationships/image" Target="../media/image143.png"/><Relationship Id="rId2" Type="http://schemas.openxmlformats.org/officeDocument/2006/relationships/image" Target="../media/image142.png"/><Relationship Id="rId1" Type="http://schemas.openxmlformats.org/officeDocument/2006/relationships/image" Target="../media/image141.png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46.png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148.png"/><Relationship Id="rId1" Type="http://schemas.openxmlformats.org/officeDocument/2006/relationships/image" Target="../media/image147.png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49.png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2.tiff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4.jpeg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150.png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66.png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51.png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153.png"/><Relationship Id="rId1" Type="http://schemas.openxmlformats.org/officeDocument/2006/relationships/image" Target="../media/image152.png"/></Relationships>
</file>

<file path=ppt/slides/_rels/slide10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6.xml"/><Relationship Id="rId3" Type="http://schemas.openxmlformats.org/officeDocument/2006/relationships/image" Target="../media/image156.png"/><Relationship Id="rId2" Type="http://schemas.openxmlformats.org/officeDocument/2006/relationships/image" Target="../media/image155.png"/><Relationship Id="rId1" Type="http://schemas.openxmlformats.org/officeDocument/2006/relationships/image" Target="../media/image154.png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57.png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159.png"/><Relationship Id="rId1" Type="http://schemas.openxmlformats.org/officeDocument/2006/relationships/image" Target="../media/image158.jpeg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6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Regras de Derivação"/>
          <p:cNvSpPr txBox="1"/>
          <p:nvPr>
            <p:ph type="ctrTitle"/>
          </p:nvPr>
        </p:nvSpPr>
        <p:spPr>
          <a:xfrm>
            <a:off x="3767" y="1638300"/>
            <a:ext cx="12997266" cy="3302000"/>
          </a:xfrm>
          <a:prstGeom prst="rect">
            <a:avLst/>
          </a:prstGeom>
          <a:solidFill>
            <a:schemeClr val="accent1">
              <a:lumOff val="-13573"/>
            </a:schemeClr>
          </a:solidFill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t>Regras de Derivação</a:t>
            </a:r>
          </a:p>
        </p:txBody>
      </p:sp>
      <p:sp>
        <p:nvSpPr>
          <p:cNvPr id="264" name="Matemática Aplicada II"/>
          <p:cNvSpPr txBox="1"/>
          <p:nvPr/>
        </p:nvSpPr>
        <p:spPr>
          <a:xfrm>
            <a:off x="1270000" y="5410200"/>
            <a:ext cx="10464800" cy="1718254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normAutofit/>
          </a:bodyPr>
          <a:lstStyle>
            <a:lvl1pPr algn="l">
              <a:defRPr sz="4000"/>
            </a:lvl1pPr>
          </a:lstStyle>
          <a:p>
            <a:r>
              <a:t>Matemática Aplicada II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Objetivos da Aula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Objetivos da Aula</a:t>
            </a:r>
          </a:p>
        </p:txBody>
      </p:sp>
      <p:sp>
        <p:nvSpPr>
          <p:cNvPr id="267" name="Derivadas de Funções Elementares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Derivadas de Funções</a:t>
            </a:r>
            <a:br/>
            <a:r>
              <a:t>Elementares</a:t>
            </a:r>
          </a:p>
          <a:p>
            <a:r>
              <a:t>Regras de Derivação</a:t>
            </a:r>
          </a:p>
        </p:txBody>
      </p:sp>
      <p:pic>
        <p:nvPicPr>
          <p:cNvPr id="268" name="Imagem" descr="Image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09194" y="2815464"/>
            <a:ext cx="5089438" cy="5615932"/>
          </a:xfrm>
          <a:prstGeom prst="rect">
            <a:avLst/>
          </a:prstGeom>
          <a:ln w="12700">
            <a:miter lim="400000"/>
            <a:headEnd/>
            <a:tailEnd/>
          </a:ln>
        </p:spPr>
      </p:pic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0" name="Imagem" descr="Imagem"/>
          <p:cNvPicPr>
            <a:picLocks noChangeAspect="1"/>
          </p:cNvPicPr>
          <p:nvPr>
            <p:ph type="pic" idx="13"/>
          </p:nvPr>
        </p:nvPicPr>
        <p:blipFill>
          <a:blip r:embed="rId1"/>
          <a:srcRect l="2929" r="2929"/>
          <a:stretch>
            <a:fillRect/>
          </a:stretch>
        </p:blipFill>
        <p:spPr>
          <a:xfrm>
            <a:off x="0" y="0"/>
            <a:ext cx="13004800" cy="9753600"/>
          </a:xfrm>
          <a:prstGeom prst="rect">
            <a:avLst/>
          </a:prstGeom>
        </p:spPr>
      </p:pic>
      <p:sp>
        <p:nvSpPr>
          <p:cNvPr id="271" name="FUNÇÕES POLINOMIAIS"/>
          <p:cNvSpPr txBox="1"/>
          <p:nvPr/>
        </p:nvSpPr>
        <p:spPr>
          <a:xfrm>
            <a:off x="2682240" y="4447859"/>
            <a:ext cx="7640321" cy="857882"/>
          </a:xfrm>
          <a:prstGeom prst="rect">
            <a:avLst/>
          </a:prstGeom>
          <a:solidFill>
            <a:srgbClr val="929292"/>
          </a:solidFill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>
            <a:lvl1pPr>
              <a:defRPr sz="5000">
                <a:solidFill>
                  <a:srgbClr val="FFFFFF"/>
                </a:solidFill>
              </a:defRPr>
            </a:lvl1pPr>
          </a:lstStyle>
          <a:p>
            <a:r>
              <a:t>FUNÇÕES POLINOMIAIS</a:t>
            </a:r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Função Constant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8500"/>
            </a:lvl1pPr>
          </a:lstStyle>
          <a:p>
            <a:r>
              <a:t>Função Constante</a:t>
            </a:r>
          </a:p>
        </p:txBody>
      </p:sp>
      <p:sp>
        <p:nvSpPr>
          <p:cNvPr id="274" name="A função mais simples, a função constante f (x) = c…"/>
          <p:cNvSpPr txBox="1"/>
          <p:nvPr>
            <p:ph type="body" sz="half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A função mais simples, a função constante </a:t>
            </a:r>
            <a:r>
              <a:rPr i="1"/>
              <a:t>f</a:t>
            </a:r>
            <a:r>
              <a:rPr sz="500" i="1"/>
              <a:t> </a:t>
            </a:r>
            <a:r>
              <a:t>(</a:t>
            </a:r>
            <a:r>
              <a:rPr i="1"/>
              <a:t>x</a:t>
            </a:r>
            <a:r>
              <a:t>) = </a:t>
            </a:r>
            <a:r>
              <a:rPr i="1"/>
              <a:t>c</a:t>
            </a:r>
            <a:endParaRPr i="1"/>
          </a:p>
          <a:p>
            <a:pPr marL="787400" lvl="1"/>
            <a:r>
              <a:rPr i="1"/>
              <a:t>f</a:t>
            </a:r>
            <a:r>
              <a:rPr sz="1100" i="1"/>
              <a:t> </a:t>
            </a:r>
            <a:r>
              <a:rPr sz="500" i="1"/>
              <a:t> </a:t>
            </a:r>
            <a:r>
              <a:t>'(</a:t>
            </a:r>
            <a:r>
              <a:rPr i="1"/>
              <a:t>x</a:t>
            </a:r>
            <a:r>
              <a:t>) = 0 </a:t>
            </a:r>
            <a:br/>
          </a:p>
        </p:txBody>
      </p:sp>
      <p:grpSp>
        <p:nvGrpSpPr>
          <p:cNvPr id="277" name="Grupo"/>
          <p:cNvGrpSpPr/>
          <p:nvPr/>
        </p:nvGrpSpPr>
        <p:grpSpPr>
          <a:xfrm>
            <a:off x="7126393" y="3088296"/>
            <a:ext cx="4517815" cy="4344366"/>
            <a:chOff x="0" y="0"/>
            <a:chExt cx="4517813" cy="4344365"/>
          </a:xfrm>
        </p:grpSpPr>
        <p:sp>
          <p:nvSpPr>
            <p:cNvPr id="275" name="O gráfico de f (x) = c é a  reta y = c, so f ′(x) = 0."/>
            <p:cNvSpPr txBox="1"/>
            <p:nvPr/>
          </p:nvSpPr>
          <p:spPr>
            <a:xfrm>
              <a:off x="1077573" y="3661917"/>
              <a:ext cx="2604822" cy="68244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65023" tIns="65023" rIns="65023" bIns="65023" numCol="1" anchor="t">
              <a:spAutoFit/>
            </a:bodyPr>
            <a:lstStyle/>
            <a:p>
              <a:pPr algn="l" defTabSz="1300480">
                <a:defRPr sz="1800" b="0"/>
              </a:pPr>
              <a:r>
                <a:t>O gráfico de </a:t>
              </a:r>
              <a:r>
                <a:rPr i="1"/>
                <a:t>f</a:t>
              </a:r>
              <a:r>
                <a:rPr sz="500" i="1"/>
                <a:t> </a:t>
              </a:r>
              <a:r>
                <a:t>(</a:t>
              </a:r>
              <a:r>
                <a:rPr i="1"/>
                <a:t>x</a:t>
              </a:r>
              <a:r>
                <a:t>) = </a:t>
              </a:r>
              <a:r>
                <a:rPr i="1"/>
                <a:t>c</a:t>
              </a:r>
              <a:r>
                <a:t> é a </a:t>
              </a:r>
              <a:br/>
              <a:r>
                <a:t>reta </a:t>
              </a:r>
              <a:r>
                <a:rPr i="1"/>
                <a:t>y</a:t>
              </a:r>
              <a:r>
                <a:t> = </a:t>
              </a:r>
              <a:r>
                <a:rPr i="1"/>
                <a:t>c</a:t>
              </a:r>
              <a:r>
                <a:t>, so </a:t>
              </a:r>
              <a:r>
                <a:rPr i="1"/>
                <a:t>f</a:t>
              </a:r>
              <a:r>
                <a:rPr sz="800" i="1"/>
                <a:t> </a:t>
              </a:r>
              <a:r>
                <a:t>′(</a:t>
              </a:r>
              <a:r>
                <a:rPr i="1"/>
                <a:t>x</a:t>
              </a:r>
              <a:r>
                <a:t>) = 0.</a:t>
              </a:r>
            </a:p>
          </p:txBody>
        </p:sp>
        <p:pic>
          <p:nvPicPr>
            <p:cNvPr id="276" name="image.png" descr="image.png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0" y="0"/>
              <a:ext cx="4517814" cy="3382152"/>
            </a:xfrm>
            <a:prstGeom prst="rect">
              <a:avLst/>
            </a:prstGeom>
            <a:ln w="12700" cap="flat">
              <a:noFill/>
              <a:miter lim="400000"/>
              <a:headEnd/>
              <a:tailEnd/>
            </a:ln>
            <a:effectLst/>
          </p:spPr>
        </p:pic>
      </p:grp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Função Constant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8500"/>
            </a:lvl1pPr>
          </a:lstStyle>
          <a:p>
            <a:r>
              <a:t>Função Constante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80" name="Uma demonstração formal, a partir da definição de uma derivada, é simples:"/>
              <p:cNvSpPr txBox="1"/>
              <p:nvPr>
                <p:ph type="body" sz="half" idx="1"/>
              </p:nvPr>
            </p:nvSpPr>
            <p:spPr>
              <a:xfrm>
                <a:off x="841868" y="4119189"/>
                <a:ext cx="11099801" cy="3568808"/>
              </a:xfrm>
              <a:prstGeom prst="rect">
                <a:avLst/>
              </a:prstGeom>
            </p:spPr>
            <p:txBody>
              <a:bodyPr/>
              <a:lstStyle/>
              <a:p>
                <a:r>
                  <a:t>Uma demonstração formal, a partir da definição de uma derivada, é simples:</a:t>
                </a:r>
              </a:p>
              <a:p>
                <a:pPr marL="0" indent="0">
                  <a:buSzTx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/>
                          </m:ctrlPr>
                        </m:sSupPr>
                        <m:e>
                          <m:r>
                            <a:rPr sz="3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sz="3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sz="3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sz="3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sz="3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sz="3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sz="3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sz="3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sz="3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sz="3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ℎ</m:t>
                          </m:r>
                          <m:r>
                            <a:rPr sz="3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→</m:t>
                          </m:r>
                          <m:r>
                            <a:rPr sz="3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f>
                        <m:fPr>
                          <m:ctrlPr>
                            <a:rPr sz="3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sz="3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sz="3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sz="3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sz="3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sz="3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ℎ</m:t>
                          </m:r>
                          <m:r>
                            <a:rPr sz="3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sz="3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sz="3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sz="3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sz="3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sz="3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sz="3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ℎ</m:t>
                          </m:r>
                        </m:den>
                      </m:f>
                      <m:r>
                        <a:rPr sz="3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sz="3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sz="3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sz="3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sz="3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ℎ</m:t>
                          </m:r>
                          <m:r>
                            <a:rPr sz="3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→</m:t>
                          </m:r>
                          <m:r>
                            <a:rPr sz="3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f>
                        <m:fPr>
                          <m:ctrlPr>
                            <a:rPr sz="3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sz="3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sz="3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sz="3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num>
                        <m:den>
                          <m:r>
                            <a:rPr sz="3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ℎ</m:t>
                          </m:r>
                        </m:den>
                      </m:f>
                      <m:r>
                        <a:rPr sz="3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sz="3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sz="3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sz="3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sz="3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ℎ</m:t>
                          </m:r>
                          <m:r>
                            <a:rPr sz="3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→</m:t>
                          </m:r>
                          <m:r>
                            <a:rPr sz="3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sz="3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sz="3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sz="3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280" name="Uma demonstração formal, a partir da definição de uma derivada, é simples: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ph type="body" sz="half" idx="1"/>
              </p:nvPr>
            </p:nvSpPr>
            <p:spPr>
              <a:xfrm>
                <a:off x="841868" y="4119189"/>
                <a:ext cx="11099801" cy="3568808"/>
              </a:xfrm>
              <a:prstGeom prst="rect">
                <a:avLst/>
              </a:prstGeom>
              <a:blipFill rotWithShape="1">
                <a:blip r:embed="rId1"/>
                <a:stretch>
                  <a:fillRect l="-4" t="-16" r="4" b="1"/>
                </a:stretch>
              </a:blipFill>
            </p:spPr>
            <p:txBody>
              <a:bodyPr/>
              <a:lstStyle/>
              <a:p>
                <a:r>
                  <a:rPr lang="pt-B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81" name="Derivada de uma Função Constante:"/>
              <p:cNvSpPr txBox="1"/>
              <p:nvPr/>
            </p:nvSpPr>
            <p:spPr>
              <a:xfrm>
                <a:off x="952500" y="2558802"/>
                <a:ext cx="11099800" cy="1249954"/>
              </a:xfrm>
              <a:prstGeom prst="rect">
                <a:avLst/>
              </a:prstGeom>
              <a:solidFill>
                <a:schemeClr val="accent1"/>
              </a:solidFill>
              <a:ln w="12700">
                <a:miter lim="400000"/>
              </a:ln>
            </p:spPr>
            <p:txBody>
              <a:bodyPr lIns="50800" tIns="50800" rIns="50800" bIns="50800" anchor="ctr">
                <a:spAutoFit/>
              </a:bodyPr>
              <a:lstStyle/>
              <a:p>
                <a:pPr>
                  <a:defRPr sz="2200" b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r>
                  <a:rPr b="1">
                    <a:latin typeface="Helvetica Neue"/>
                    <a:ea typeface="Helvetica Neue"/>
                    <a:cs typeface="Helvetica Neue"/>
                    <a:sym typeface="Helvetica Neue"/>
                  </a:rPr>
                  <a:t>Derivada de uma Função Constante: </a:t>
                </a:r>
                <a14:m>
                  <m:oMath xmlns:m="http://schemas.openxmlformats.org/officeDocument/2006/math">
                    <m:r>
                      <a:rPr sz="2500" i="1">
                        <a:solidFill>
                          <a:srgbClr val="FEFEFE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sz="2500" i="1">
                        <a:solidFill>
                          <a:srgbClr val="FEFEFE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sz="2500" i="1">
                        <a:solidFill>
                          <a:srgbClr val="FEFEFE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sz="2500" i="1">
                        <a:solidFill>
                          <a:srgbClr val="FEFEFE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sz="2500" i="1">
                        <a:solidFill>
                          <a:srgbClr val="FEFEFE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sz="2500" i="1">
                        <a:solidFill>
                          <a:srgbClr val="FEFEFE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b="1">
                    <a:latin typeface="Helvetica Neue"/>
                    <a:ea typeface="Helvetica Neue"/>
                    <a:cs typeface="Helvetica Neue"/>
                    <a:sym typeface="Helvetica Neue"/>
                  </a:rPr>
                  <a:t> </a:t>
                </a:r>
                <a:endParaRPr b="1">
                  <a:latin typeface="Helvetica Neue"/>
                  <a:ea typeface="Helvetica Neue"/>
                  <a:cs typeface="Helvetica Neue"/>
                  <a:sym typeface="Helvetica Neue"/>
                </a:endParaRPr>
              </a:p>
              <a:p>
                <a:pPr>
                  <a:defRPr sz="2200" b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f>
                        <m:fPr>
                          <m:ctrlPr>
                            <a:rPr sz="2650" i="1">
                              <a:solidFill>
                                <a:srgbClr val="FEFEFE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sz="2650" i="1">
                              <a:solidFill>
                                <a:srgbClr val="FEFEFE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sz="2650" i="1">
                              <a:solidFill>
                                <a:srgbClr val="FEFEFE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sz="2650" i="1">
                              <a:solidFill>
                                <a:srgbClr val="FEFEFE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sz="2650" i="1">
                          <a:solidFill>
                            <a:srgbClr val="FEFEFE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sz="2650" i="1">
                          <a:solidFill>
                            <a:srgbClr val="FEFEFE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sz="2650" i="1">
                          <a:solidFill>
                            <a:srgbClr val="FEFEFE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sz="2650" i="1">
                          <a:solidFill>
                            <a:srgbClr val="FEFEFE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sz="2650" i="1">
                          <a:solidFill>
                            <a:srgbClr val="FEFEFE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281" name="Derivada de uma Função Constante: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2500" y="2558802"/>
                <a:ext cx="11099800" cy="1249954"/>
              </a:xfrm>
              <a:prstGeom prst="rect">
                <a:avLst/>
              </a:prstGeom>
              <a:blipFill rotWithShape="1">
                <a:blip r:embed="rId2"/>
                <a:stretch>
                  <a:fillRect t="-31" b="2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pt-BR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Funções Potência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Funções Potências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84" name="Função potência genérica pode ser dada por…"/>
              <p:cNvSpPr txBox="1"/>
              <p:nvPr>
                <p:ph type="body" idx="1"/>
              </p:nvPr>
            </p:nvSpPr>
            <p:spPr>
              <a:prstGeom prst="rect">
                <a:avLst/>
              </a:prstGeom>
            </p:spPr>
            <p:txBody>
              <a:bodyPr anchor="t"/>
              <a:lstStyle/>
              <a:p>
                <a:pPr marL="315595" indent="-315595" defTabSz="414655">
                  <a:spcBef>
                    <a:spcPts val="2900"/>
                  </a:spcBef>
                  <a:defRPr sz="2270"/>
                </a:pPr>
                <a:r>
                  <a:t>Função potência genérica pode ser dada por</a:t>
                </a:r>
              </a:p>
              <a:p>
                <a:pPr marL="946785" lvl="2" indent="-315595" defTabSz="414655">
                  <a:spcBef>
                    <a:spcPts val="2900"/>
                  </a:spcBef>
                  <a:defRPr sz="2270"/>
                </a:pPr>
                <a14:m>
                  <m:oMath xmlns:m="http://schemas.openxmlformats.org/officeDocument/2006/math">
                    <m:r>
                      <a:rPr sz="26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sz="26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sz="26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sz="26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sz="26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/>
                        </m:ctrlPr>
                      </m:sSupPr>
                      <m:e>
                        <m:r>
                          <a:rPr sz="26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sz="26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t>, onde n é um inteiro positivo</a:t>
                </a:r>
              </a:p>
              <a:p>
                <a:pPr marL="315595" indent="-315595" defTabSz="414655">
                  <a:spcBef>
                    <a:spcPts val="2900"/>
                  </a:spcBef>
                  <a:defRPr sz="2270"/>
                </a:pPr>
                <a:r>
                  <a:t>Se n=1, </a:t>
                </a:r>
                <a14:m>
                  <m:oMath xmlns:m="http://schemas.openxmlformats.org/officeDocument/2006/math">
                    <m:r>
                      <a:rPr sz="2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sz="2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sz="2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sz="2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sz="2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sz="2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</a:p>
              <a:p>
                <a:pPr marL="1262380" lvl="3" indent="-315595" defTabSz="414655">
                  <a:spcBef>
                    <a:spcPts val="2900"/>
                  </a:spcBef>
                  <a:defRPr sz="2270"/>
                </a:pPr>
                <a14:m>
                  <m:oMath xmlns:m="http://schemas.openxmlformats.org/officeDocument/2006/math">
                    <m:f>
                      <m:fPr>
                        <m:ctrlPr>
                          <a:rPr sz="2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sz="2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sz="2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sz="2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sz="2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sz="2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sz="2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sz="2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sz="2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</a:p>
              <a:p>
                <a:pPr marL="315595" indent="-315595" defTabSz="414655">
                  <a:spcBef>
                    <a:spcPts val="2900"/>
                  </a:spcBef>
                  <a:defRPr sz="2270"/>
                </a:pPr>
                <a:r>
                  <a:t>Para n=2, n=3…</a:t>
                </a:r>
              </a:p>
              <a:p>
                <a:pPr marL="1262380" lvl="3" indent="-315595" defTabSz="414655">
                  <a:spcBef>
                    <a:spcPts val="2900"/>
                  </a:spcBef>
                  <a:defRPr sz="2270"/>
                </a:pPr>
                <a14:m>
                  <m:oMath xmlns:m="http://schemas.openxmlformats.org/officeDocument/2006/math">
                    <m:f>
                      <m:fPr>
                        <m:ctrlPr>
                          <a:rPr sz="2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sz="2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sz="2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sz="2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sz="2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/>
                        </m:ctrlPr>
                      </m:sSupPr>
                      <m:e>
                        <m:r>
                          <a:rPr sz="2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sz="2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sz="2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sz="2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sz="2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sz="2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</a:p>
              <a:p>
                <a:pPr marL="1262380" lvl="3" indent="-315595" defTabSz="414655">
                  <a:spcBef>
                    <a:spcPts val="2900"/>
                  </a:spcBef>
                  <a:defRPr sz="2270"/>
                </a:pPr>
                <a14:m>
                  <m:oMath xmlns:m="http://schemas.openxmlformats.org/officeDocument/2006/math">
                    <m:f>
                      <m:fPr>
                        <m:ctrlPr>
                          <a:rPr sz="2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sz="2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sz="2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sz="2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sz="2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/>
                        </m:ctrlPr>
                      </m:sSupPr>
                      <m:e>
                        <m:r>
                          <a:rPr sz="2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sz="2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sz="2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sz="2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sz="2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sSupPr>
                        <m:ctrlPr>
                          <a:rPr/>
                        </m:ctrlPr>
                      </m:sSupPr>
                      <m:e>
                        <m:r>
                          <a:rPr sz="2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sz="2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sz="3200"/>
              </a:p>
            </p:txBody>
          </p:sp>
        </mc:Choice>
        <mc:Fallback>
          <p:sp>
            <p:nvSpPr>
              <p:cNvPr id="284" name="Função potência genérica pode ser dada por…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prstGeom prst="rect">
                <a:avLst/>
              </a:prstGeom>
              <a:blipFill rotWithShape="1">
                <a:blip r:embed="rId1"/>
                <a:stretch>
                  <a:fillRect t="-586"/>
                </a:stretch>
              </a:blipFill>
            </p:spPr>
            <p:txBody>
              <a:bodyPr/>
              <a:lstStyle/>
              <a:p>
                <a:r>
                  <a:rPr lang="pt-B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85" name="image.png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1418" y="4233551"/>
            <a:ext cx="4280748" cy="3463432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286" name="Demonstração pela definição!"/>
          <p:cNvSpPr/>
          <p:nvPr/>
        </p:nvSpPr>
        <p:spPr>
          <a:xfrm rot="16200000">
            <a:off x="-2076656" y="6221653"/>
            <a:ext cx="4918121" cy="637108"/>
          </a:xfrm>
          <a:prstGeom prst="rect">
            <a:avLst/>
          </a:prstGeom>
          <a:solidFill>
            <a:schemeClr val="accent5">
              <a:hueOff val="-82419"/>
              <a:satOff val="-9511"/>
              <a:lumOff val="-16341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>
            <a:lvl1pPr>
              <a:defRPr sz="2200">
                <a:solidFill>
                  <a:srgbClr val="FFFFFF"/>
                </a:solidFill>
              </a:defRPr>
            </a:lvl1pPr>
          </a:lstStyle>
          <a:p>
            <a:r>
              <a:t>Demonstração pela definição!</a:t>
            </a:r>
          </a:p>
        </p:txBody>
      </p: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Funções Potência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Funções Potências</a:t>
            </a:r>
          </a:p>
        </p:txBody>
      </p:sp>
      <p:sp>
        <p:nvSpPr>
          <p:cNvPr id="289" name="Para n = 4 achamos a derivada de f (x) = x4 a seguir:"/>
          <p:cNvSpPr txBox="1"/>
          <p:nvPr/>
        </p:nvSpPr>
        <p:spPr>
          <a:xfrm>
            <a:off x="662964" y="2385831"/>
            <a:ext cx="10091658" cy="638659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/>
          <a:p>
            <a:pPr algn="l" defTabSz="1300480">
              <a:defRPr sz="3400" b="0"/>
            </a:pPr>
            <a:r>
              <a:t>Para </a:t>
            </a:r>
            <a:r>
              <a:rPr i="1"/>
              <a:t>n</a:t>
            </a:r>
            <a:r>
              <a:t> = 4 achamos a derivada de </a:t>
            </a:r>
            <a:r>
              <a:rPr i="1"/>
              <a:t>f</a:t>
            </a:r>
            <a:r>
              <a:rPr sz="500" i="1"/>
              <a:t> </a:t>
            </a:r>
            <a:r>
              <a:t>(</a:t>
            </a:r>
            <a:r>
              <a:rPr i="1"/>
              <a:t>x</a:t>
            </a:r>
            <a:r>
              <a:t>) = </a:t>
            </a:r>
            <a:r>
              <a:rPr i="1"/>
              <a:t>x</a:t>
            </a:r>
            <a:r>
              <a:rPr baseline="31000"/>
              <a:t>4</a:t>
            </a:r>
            <a:r>
              <a:t> a seguir:</a:t>
            </a:r>
          </a:p>
        </p:txBody>
      </p:sp>
      <p:grpSp>
        <p:nvGrpSpPr>
          <p:cNvPr id="296" name="Grupo"/>
          <p:cNvGrpSpPr/>
          <p:nvPr/>
        </p:nvGrpSpPr>
        <p:grpSpPr>
          <a:xfrm>
            <a:off x="1950720" y="3746620"/>
            <a:ext cx="9103360" cy="5782171"/>
            <a:chOff x="0" y="0"/>
            <a:chExt cx="9103359" cy="5782169"/>
          </a:xfrm>
        </p:grpSpPr>
        <p:pic>
          <p:nvPicPr>
            <p:cNvPr id="290" name="image.png" descr="image.png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016000" y="2492586"/>
              <a:ext cx="8087360" cy="1144695"/>
            </a:xfrm>
            <a:prstGeom prst="rect">
              <a:avLst/>
            </a:prstGeom>
            <a:ln w="12700" cap="flat">
              <a:noFill/>
              <a:miter lim="400000"/>
              <a:headEnd/>
              <a:tailEnd/>
            </a:ln>
            <a:effectLst/>
          </p:spPr>
        </p:pic>
        <p:pic>
          <p:nvPicPr>
            <p:cNvPr id="291" name="image.png" descr="image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63413" y="3732106"/>
              <a:ext cx="5980854" cy="1144695"/>
            </a:xfrm>
            <a:prstGeom prst="rect">
              <a:avLst/>
            </a:prstGeom>
            <a:ln w="12700" cap="flat">
              <a:noFill/>
              <a:miter lim="400000"/>
              <a:headEnd/>
              <a:tailEnd/>
            </a:ln>
            <a:effectLst/>
          </p:spPr>
        </p:pic>
        <p:pic>
          <p:nvPicPr>
            <p:cNvPr id="292" name="image.pdf" descr="image.pdf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369386" y="5093546"/>
              <a:ext cx="1291450" cy="530579"/>
            </a:xfrm>
            <a:prstGeom prst="rect">
              <a:avLst/>
            </a:prstGeom>
            <a:ln w="12700" cap="flat">
              <a:noFill/>
              <a:miter lim="400000"/>
              <a:headEnd/>
              <a:tailEnd/>
            </a:ln>
            <a:effectLst/>
          </p:spPr>
        </p:pic>
        <p:pic>
          <p:nvPicPr>
            <p:cNvPr id="293" name="image.png" descr="image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0" y="0"/>
              <a:ext cx="5617352" cy="896338"/>
            </a:xfrm>
            <a:prstGeom prst="rect">
              <a:avLst/>
            </a:prstGeom>
            <a:ln w="12700" cap="flat">
              <a:noFill/>
              <a:miter lim="400000"/>
              <a:headEnd/>
              <a:tailEnd/>
            </a:ln>
            <a:effectLst/>
          </p:spPr>
        </p:pic>
        <p:pic>
          <p:nvPicPr>
            <p:cNvPr id="294" name="image.png" descr="image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75360" y="1151466"/>
              <a:ext cx="3743396" cy="1052125"/>
            </a:xfrm>
            <a:prstGeom prst="rect">
              <a:avLst/>
            </a:prstGeom>
            <a:ln w="12700" cap="flat">
              <a:noFill/>
              <a:miter lim="400000"/>
              <a:headEnd/>
              <a:tailEnd/>
            </a:ln>
            <a:effectLst/>
          </p:spPr>
        </p:pic>
        <p:pic>
          <p:nvPicPr>
            <p:cNvPr id="295" name="image.tif" descr="image.tif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013742" y="5093546"/>
              <a:ext cx="6098259" cy="688624"/>
            </a:xfrm>
            <a:prstGeom prst="rect">
              <a:avLst/>
            </a:prstGeom>
            <a:ln w="12700" cap="flat">
              <a:noFill/>
              <a:miter lim="400000"/>
              <a:headEnd/>
              <a:tailEnd/>
            </a:ln>
            <a:effectLst/>
          </p:spPr>
        </p:pic>
      </p:grp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Funções Potência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Funções Potências</a:t>
            </a:r>
          </a:p>
        </p:txBody>
      </p:sp>
      <p:sp>
        <p:nvSpPr>
          <p:cNvPr id="299" name="Parece ser uma conjectura plausível que, quando n é um inteiro positivo, (d / dx)(xn) = nxn  – 1…"/>
          <p:cNvSpPr txBox="1"/>
          <p:nvPr>
            <p:ph type="body" idx="1"/>
          </p:nvPr>
        </p:nvSpPr>
        <p:spPr>
          <a:xfrm>
            <a:off x="952500" y="2590800"/>
            <a:ext cx="11099800" cy="4664061"/>
          </a:xfrm>
          <a:prstGeom prst="rect">
            <a:avLst/>
          </a:prstGeom>
        </p:spPr>
        <p:txBody>
          <a:bodyPr anchor="t"/>
          <a:lstStyle/>
          <a:p>
            <a:pPr marL="333375" indent="-333375" defTabSz="438150">
              <a:spcBef>
                <a:spcPts val="3100"/>
              </a:spcBef>
              <a:defRPr sz="2400"/>
            </a:pPr>
            <a:r>
              <a:t>Parece ser uma conjectura plausível que, quando </a:t>
            </a:r>
            <a:r>
              <a:rPr i="1"/>
              <a:t>n </a:t>
            </a:r>
            <a:r>
              <a:t>é um inteiro positivo, (</a:t>
            </a:r>
            <a:r>
              <a:rPr i="1"/>
              <a:t>d</a:t>
            </a:r>
            <a:r>
              <a:rPr sz="375" i="1"/>
              <a:t> </a:t>
            </a:r>
            <a:r>
              <a:t>/</a:t>
            </a:r>
            <a:r>
              <a:rPr sz="375"/>
              <a:t> </a:t>
            </a:r>
            <a:r>
              <a:rPr i="1"/>
              <a:t>dx</a:t>
            </a:r>
            <a:r>
              <a:t>)(</a:t>
            </a:r>
            <a:r>
              <a:rPr i="1"/>
              <a:t>x</a:t>
            </a:r>
            <a:r>
              <a:rPr i="1" baseline="30000"/>
              <a:t>n</a:t>
            </a:r>
            <a:r>
              <a:t>)</a:t>
            </a:r>
            <a:r>
              <a:rPr i="1"/>
              <a:t> </a:t>
            </a:r>
            <a:r>
              <a:t>= </a:t>
            </a:r>
            <a:r>
              <a:rPr i="1"/>
              <a:t>nx</a:t>
            </a:r>
            <a:r>
              <a:rPr i="1" baseline="30000"/>
              <a:t>n </a:t>
            </a:r>
            <a:r>
              <a:rPr sz="825" i="1" baseline="30000"/>
              <a:t> </a:t>
            </a:r>
            <a:r>
              <a:rPr baseline="30000"/>
              <a:t>–</a:t>
            </a:r>
            <a:r>
              <a:rPr sz="825" baseline="30000"/>
              <a:t> </a:t>
            </a:r>
            <a:r>
              <a:rPr baseline="30000"/>
              <a:t>1</a:t>
            </a:r>
            <a:endParaRPr baseline="30000"/>
          </a:p>
          <a:p>
            <a:pPr marL="333375" indent="-333375" defTabSz="438150">
              <a:spcBef>
                <a:spcPts val="3100"/>
              </a:spcBef>
              <a:defRPr sz="2400"/>
            </a:pPr>
            <a:endParaRPr baseline="30000"/>
          </a:p>
          <a:p>
            <a:pPr marL="333375" indent="-333375" defTabSz="438150">
              <a:spcBef>
                <a:spcPts val="3100"/>
              </a:spcBef>
              <a:defRPr sz="2400"/>
            </a:pPr>
          </a:p>
          <a:p>
            <a:pPr marL="333375" indent="-333375" defTabSz="438150">
              <a:spcBef>
                <a:spcPts val="3100"/>
              </a:spcBef>
              <a:defRPr sz="2400"/>
            </a:pPr>
            <a:r>
              <a:t>A Regra da Potência nos permite encontrar retas tangentes sem ter de recorrer à definição de derivada. Também nos permite encontrar retas normais (perpendiculares)</a:t>
            </a:r>
          </a:p>
          <a:p>
            <a:pPr marL="666750" lvl="1" indent="-333375" defTabSz="438150">
              <a:spcBef>
                <a:spcPts val="3100"/>
              </a:spcBef>
              <a:defRPr sz="2400" b="1"/>
            </a:pPr>
            <a:r>
              <a:t>Generalização: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00" name="Regra da potência: Se n for um inteiro positivos, então"/>
              <p:cNvSpPr txBox="1"/>
              <p:nvPr/>
            </p:nvSpPr>
            <p:spPr>
              <a:xfrm>
                <a:off x="952500" y="3807066"/>
                <a:ext cx="11099800" cy="1180590"/>
              </a:xfrm>
              <a:prstGeom prst="rect">
                <a:avLst/>
              </a:prstGeom>
              <a:solidFill>
                <a:schemeClr val="accent1"/>
              </a:solidFill>
              <a:ln w="12700">
                <a:miter lim="400000"/>
              </a:ln>
            </p:spPr>
            <p:txBody>
              <a:bodyPr lIns="50800" tIns="50800" rIns="50800" bIns="50800" anchor="ctr">
                <a:spAutoFit/>
              </a:bodyPr>
              <a:lstStyle/>
              <a:p>
                <a:pPr>
                  <a:defRPr sz="2200" b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r>
                  <a:rPr b="1">
                    <a:latin typeface="Helvetica Neue"/>
                    <a:ea typeface="Helvetica Neue"/>
                    <a:cs typeface="Helvetica Neue"/>
                    <a:sym typeface="Helvetica Neue"/>
                  </a:rPr>
                  <a:t>Regra da potência: </a:t>
                </a:r>
                <a:r>
                  <a:t>Se n for um inteiro positivos, então </a:t>
                </a:r>
                <a:endParaRPr b="1">
                  <a:latin typeface="Helvetica Neue"/>
                  <a:ea typeface="Helvetica Neue"/>
                  <a:cs typeface="Helvetica Neue"/>
                  <a:sym typeface="Helvetica Neue"/>
                </a:endParaRPr>
              </a:p>
              <a:p>
                <a:pPr>
                  <a:defRPr sz="2200" b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f>
                        <m:fPr>
                          <m:ctrlPr>
                            <a:rPr sz="2650" i="1">
                              <a:solidFill>
                                <a:srgbClr val="FEFEFE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sz="2650" i="1">
                              <a:solidFill>
                                <a:srgbClr val="FEFEFE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sz="2650" i="1">
                              <a:solidFill>
                                <a:srgbClr val="FEFEFE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sz="2650" i="1">
                              <a:solidFill>
                                <a:srgbClr val="FEFEFE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sz="2650" i="1">
                          <a:solidFill>
                            <a:srgbClr val="FEFEFE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/>
                          </m:ctrlPr>
                        </m:sSupPr>
                        <m:e>
                          <m:r>
                            <a:rPr sz="2650" i="1">
                              <a:solidFill>
                                <a:srgbClr val="FEFEFE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sz="2650" i="1">
                              <a:solidFill>
                                <a:srgbClr val="FEFEFE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sz="2650" i="1">
                          <a:solidFill>
                            <a:srgbClr val="FEFEFE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sz="2650" i="1">
                          <a:solidFill>
                            <a:srgbClr val="FEFEFE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sz="2650" i="1">
                          <a:solidFill>
                            <a:srgbClr val="FEFEFE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sSup>
                        <m:sSupPr>
                          <m:ctrlPr>
                            <a:rPr/>
                          </m:ctrlPr>
                        </m:sSupPr>
                        <m:e>
                          <m:r>
                            <a:rPr sz="2650" i="1">
                              <a:solidFill>
                                <a:srgbClr val="FEFEFE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sz="2650" i="1">
                              <a:solidFill>
                                <a:srgbClr val="FEFEFE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sz="2650" i="1">
                              <a:solidFill>
                                <a:srgbClr val="FEFEFE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sz="2650" i="1">
                              <a:solidFill>
                                <a:srgbClr val="FEFEFE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</m:oMath>
                  </m:oMathPara>
                </a14:m>
              </a:p>
            </p:txBody>
          </p:sp>
        </mc:Choice>
        <mc:Fallback>
          <p:sp>
            <p:nvSpPr>
              <p:cNvPr id="300" name="Regra da potência: Se n for um inteiro positivos, entã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2500" y="3807066"/>
                <a:ext cx="11099800" cy="1180590"/>
              </a:xfrm>
              <a:prstGeom prst="rect">
                <a:avLst/>
              </a:prstGeom>
              <a:blipFill rotWithShape="1">
                <a:blip r:embed="rId1"/>
                <a:stretch>
                  <a:fillRect t="-20" b="31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pt-B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01" name="Regra da potência (versão geral): Se n for um número real qualquer, então"/>
              <p:cNvSpPr txBox="1"/>
              <p:nvPr/>
            </p:nvSpPr>
            <p:spPr>
              <a:xfrm>
                <a:off x="952500" y="7619758"/>
                <a:ext cx="11099800" cy="1180590"/>
              </a:xfrm>
              <a:prstGeom prst="rect">
                <a:avLst/>
              </a:prstGeom>
              <a:solidFill>
                <a:schemeClr val="accent1"/>
              </a:solidFill>
              <a:ln w="12700">
                <a:miter lim="400000"/>
              </a:ln>
            </p:spPr>
            <p:txBody>
              <a:bodyPr lIns="50800" tIns="50800" rIns="50800" bIns="50800" anchor="ctr">
                <a:spAutoFit/>
              </a:bodyPr>
              <a:lstStyle/>
              <a:p>
                <a:pPr>
                  <a:defRPr sz="2200" b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r>
                  <a:rPr b="1">
                    <a:latin typeface="Helvetica Neue"/>
                    <a:ea typeface="Helvetica Neue"/>
                    <a:cs typeface="Helvetica Neue"/>
                    <a:sym typeface="Helvetica Neue"/>
                  </a:rPr>
                  <a:t>Regra da potência (versão geral): </a:t>
                </a:r>
                <a:r>
                  <a:t>Se n for um número real qualquer, então </a:t>
                </a:r>
                <a:endParaRPr b="1">
                  <a:latin typeface="Helvetica Neue"/>
                  <a:ea typeface="Helvetica Neue"/>
                  <a:cs typeface="Helvetica Neue"/>
                  <a:sym typeface="Helvetica Neue"/>
                </a:endParaRPr>
              </a:p>
              <a:p>
                <a:pPr>
                  <a:defRPr sz="2200" b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f>
                        <m:fPr>
                          <m:ctrlPr>
                            <a:rPr sz="2650" i="1">
                              <a:solidFill>
                                <a:srgbClr val="FEFEFE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sz="2650" i="1">
                              <a:solidFill>
                                <a:srgbClr val="FEFEFE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sz="2650" i="1">
                              <a:solidFill>
                                <a:srgbClr val="FEFEFE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sz="2650" i="1">
                              <a:solidFill>
                                <a:srgbClr val="FEFEFE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sz="2650" i="1">
                          <a:solidFill>
                            <a:srgbClr val="FEFEFE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/>
                          </m:ctrlPr>
                        </m:sSupPr>
                        <m:e>
                          <m:r>
                            <a:rPr sz="2650" i="1">
                              <a:solidFill>
                                <a:srgbClr val="FEFEFE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sz="2650" i="1">
                              <a:solidFill>
                                <a:srgbClr val="FEFEFE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sz="2650" i="1">
                          <a:solidFill>
                            <a:srgbClr val="FEFEFE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sz="2650" i="1">
                          <a:solidFill>
                            <a:srgbClr val="FEFEFE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sz="2650" i="1">
                          <a:solidFill>
                            <a:srgbClr val="FEFEFE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sSup>
                        <m:sSupPr>
                          <m:ctrlPr>
                            <a:rPr/>
                          </m:ctrlPr>
                        </m:sSupPr>
                        <m:e>
                          <m:r>
                            <a:rPr sz="2650" i="1">
                              <a:solidFill>
                                <a:srgbClr val="FEFEFE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sz="2650" i="1">
                              <a:solidFill>
                                <a:srgbClr val="FEFEFE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sz="2650" i="1">
                              <a:solidFill>
                                <a:srgbClr val="FEFEFE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sz="2650" i="1">
                              <a:solidFill>
                                <a:srgbClr val="FEFEFE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</m:oMath>
                  </m:oMathPara>
                </a14:m>
              </a:p>
            </p:txBody>
          </p:sp>
        </mc:Choice>
        <mc:Fallback>
          <p:sp>
            <p:nvSpPr>
              <p:cNvPr id="301" name="Regra da potência (versão geral): Se n for um número real qualquer, entã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2500" y="7619758"/>
                <a:ext cx="11099800" cy="1180590"/>
              </a:xfrm>
              <a:prstGeom prst="rect">
                <a:avLst/>
              </a:prstGeom>
              <a:blipFill rotWithShape="1">
                <a:blip r:embed="rId2"/>
                <a:stretch>
                  <a:fillRect t="-33" b="44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pt-BR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Funções Potência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Funções Potências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04" name="Demonstração:…"/>
              <p:cNvSpPr txBox="1"/>
              <p:nvPr>
                <p:ph type="body" idx="1"/>
              </p:nvPr>
            </p:nvSpPr>
            <p:spPr>
              <a:prstGeom prst="rect">
                <a:avLst/>
              </a:prstGeom>
            </p:spPr>
            <p:txBody>
              <a:bodyPr/>
              <a:lstStyle/>
              <a:p>
                <a:pPr marL="0" indent="0" defTabSz="368300">
                  <a:spcBef>
                    <a:spcPts val="2600"/>
                  </a:spcBef>
                  <a:buSzTx/>
                  <a:buNone/>
                  <a:defRPr sz="2015" b="1">
                    <a:solidFill>
                      <a:schemeClr val="accent5">
                        <a:hueOff val="-82419"/>
                        <a:satOff val="-9511"/>
                        <a:lumOff val="-16341"/>
                      </a:schemeClr>
                    </a:solidFill>
                  </a:defRPr>
                </a:pPr>
                <a:r>
                  <a:t>Demonstração:</a:t>
                </a:r>
              </a:p>
              <a:p>
                <a:pPr marL="280035" indent="-280035" defTabSz="368300">
                  <a:spcBef>
                    <a:spcPts val="2600"/>
                  </a:spcBef>
                  <a:defRPr sz="2015"/>
                </a:pPr>
                <a:r>
                  <a:t>Dada uma função </a:t>
                </a:r>
                <a14:m>
                  <m:oMath xmlns:m="http://schemas.openxmlformats.org/officeDocument/2006/math">
                    <m:r>
                      <a:rPr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/>
                        </m:ctrlPr>
                      </m:sSupPr>
                      <m:e>
                        <m:r>
                          <a:rPr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/>
                        </m:ctrlPr>
                      </m:sSupPr>
                      <m:e>
                        <m:r>
                          <a:rPr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ℕ</m:t>
                        </m:r>
                      </m:e>
                      <m:sup>
                        <m:r>
                          <a:rPr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t>, temos</a:t>
                </a:r>
                <a:br/>
                <a:b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ℎ</m:t>
                          </m:r>
                          <m:r>
                            <a:rPr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ℎ</m:t>
                          </m:r>
                        </m:den>
                      </m:f>
                      <m:r>
                        <a:rPr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ℎ</m:t>
                          </m:r>
                          <m:sSup>
                            <m:sSupPr>
                              <m:ctrlPr>
                                <a:rPr/>
                              </m:ctrlPr>
                            </m:sSupPr>
                            <m:e>
                              <m:r>
                                <a:rPr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  <m:r>
                            <a:rPr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/>
                              </m:ctrlPr>
                            </m:sSupPr>
                            <m:e>
                              <m:r>
                                <a:rPr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num>
                        <m:den>
                          <m:r>
                            <a:rPr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ℎ</m:t>
                          </m:r>
                        </m:den>
                      </m:f>
                      <m:r>
                        <a:rPr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  <m:oMath xmlns:m="http://schemas.openxmlformats.org/officeDocument/2006/math">
                      <m:r>
                        <a:rPr sz="24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sz="24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sz="24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sz="245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sz="245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num>
                                <m:den>
                                  <m:r>
                                    <a:rPr sz="245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den>
                              </m:f>
                            </m:e>
                          </m:d>
                          <m:sSup>
                            <m:sSupPr>
                              <m:ctrlPr>
                                <a:rPr/>
                              </m:ctrlPr>
                            </m:sSupPr>
                            <m:e>
                              <m:r>
                                <a:rPr sz="24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sz="24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  <m:r>
                            <a:rPr sz="24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sz="24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sz="245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sz="245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num>
                                <m:den>
                                  <m:r>
                                    <a:rPr sz="245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den>
                              </m:f>
                            </m:e>
                          </m:d>
                          <m:sSup>
                            <m:sSupPr>
                              <m:ctrlPr>
                                <a:rPr/>
                              </m:ctrlPr>
                            </m:sSupPr>
                            <m:e>
                              <m:r>
                                <a:rPr sz="24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sz="24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sz="24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sz="24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  <m:r>
                            <a:rPr sz="24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ℎ</m:t>
                          </m:r>
                          <m:r>
                            <a:rPr sz="24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sz="24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sz="245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sz="245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num>
                                <m:den>
                                  <m:r>
                                    <a:rPr sz="245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  <m:sSup>
                            <m:sSupPr>
                              <m:ctrlPr>
                                <a:rPr/>
                              </m:ctrlPr>
                            </m:sSupPr>
                            <m:e>
                              <m:r>
                                <a:rPr sz="24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sz="24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sz="24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sz="24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sSup>
                            <m:sSupPr>
                              <m:ctrlPr>
                                <a:rPr/>
                              </m:ctrlPr>
                            </m:sSupPr>
                            <m:e>
                              <m:r>
                                <a:rPr sz="24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ℎ</m:t>
                              </m:r>
                            </m:e>
                            <m:sup>
                              <m:r>
                                <a:rPr sz="24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sz="24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sz="24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sz="24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sz="24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sz="24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sz="24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sz="245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sz="245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num>
                                <m:den>
                                  <m:r>
                                    <a:rPr sz="245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den>
                              </m:f>
                            </m:e>
                          </m:d>
                          <m:sSup>
                            <m:sSupPr>
                              <m:ctrlPr>
                                <a:rPr/>
                              </m:ctrlPr>
                            </m:sSupPr>
                            <m:e>
                              <m:r>
                                <a:rPr sz="24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ℎ</m:t>
                              </m:r>
                            </m:e>
                            <m:sup>
                              <m:r>
                                <a:rPr sz="24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  <m:r>
                            <a:rPr sz="24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/>
                              </m:ctrlPr>
                            </m:sSupPr>
                            <m:e>
                              <m:r>
                                <a:rPr sz="24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sz="24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num>
                        <m:den>
                          <m:r>
                            <a:rPr sz="24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ℎ</m:t>
                          </m:r>
                        </m:den>
                      </m:f>
                      <m:r>
                        <a:rPr sz="24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  <m:oMath xmlns:m="http://schemas.openxmlformats.org/officeDocument/2006/math">
                      <m:r>
                        <a:rPr sz="24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sz="24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sz="24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sz="245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sz="245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num>
                                <m:den>
                                  <m:r>
                                    <a:rPr sz="245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den>
                              </m:f>
                            </m:e>
                          </m:d>
                          <m:sSup>
                            <m:sSupPr>
                              <m:ctrlPr>
                                <a:rPr/>
                              </m:ctrlPr>
                            </m:sSupPr>
                            <m:e>
                              <m:r>
                                <a:rPr sz="24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sz="24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sz="24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sz="24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  <m:r>
                            <a:rPr sz="24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ℎ</m:t>
                          </m:r>
                          <m:r>
                            <a:rPr sz="24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sz="24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sz="245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sz="245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num>
                                <m:den>
                                  <m:r>
                                    <a:rPr sz="245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  <m:sSup>
                            <m:sSupPr>
                              <m:ctrlPr>
                                <a:rPr/>
                              </m:ctrlPr>
                            </m:sSupPr>
                            <m:e>
                              <m:r>
                                <a:rPr sz="24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sz="24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sz="24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sz="24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sSup>
                            <m:sSupPr>
                              <m:ctrlPr>
                                <a:rPr/>
                              </m:ctrlPr>
                            </m:sSupPr>
                            <m:e>
                              <m:r>
                                <a:rPr sz="24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ℎ</m:t>
                              </m:r>
                            </m:e>
                            <m:sup>
                              <m:r>
                                <a:rPr sz="24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sz="24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sz="24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sz="24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sz="24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sz="24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sz="24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sz="245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sz="245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num>
                                <m:den>
                                  <m:r>
                                    <a:rPr sz="245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den>
                              </m:f>
                            </m:e>
                          </m:d>
                          <m:sSup>
                            <m:sSupPr>
                              <m:ctrlPr>
                                <a:rPr/>
                              </m:ctrlPr>
                            </m:sSupPr>
                            <m:e>
                              <m:r>
                                <a:rPr sz="24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ℎ</m:t>
                              </m:r>
                            </m:e>
                            <m:sup>
                              <m:r>
                                <a:rPr sz="24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num>
                        <m:den>
                          <m:r>
                            <a:rPr sz="24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ℎ</m:t>
                          </m:r>
                        </m:den>
                      </m:f>
                      <m:r>
                        <a:rPr sz="24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  <m:oMath xmlns:m="http://schemas.openxmlformats.org/officeDocument/2006/math">
                      <m:r>
                        <a:rPr sz="24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sz="24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sz="24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sz="24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sz="24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den>
                          </m:f>
                        </m:e>
                      </m:d>
                      <m:sSup>
                        <m:sSupPr>
                          <m:ctrlPr>
                            <a:rPr/>
                          </m:ctrlPr>
                        </m:sSupPr>
                        <m:e>
                          <m:r>
                            <a:rPr sz="24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sz="24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sz="24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sz="24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sz="24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sz="24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sz="24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sz="24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sz="24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sSup>
                        <m:sSupPr>
                          <m:ctrlPr>
                            <a:rPr/>
                          </m:ctrlPr>
                        </m:sSupPr>
                        <m:e>
                          <m:r>
                            <a:rPr sz="24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sz="24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sz="24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sz="24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sSup>
                        <m:sSupPr>
                          <m:ctrlPr>
                            <a:rPr/>
                          </m:ctrlPr>
                        </m:sSupPr>
                        <m:e>
                          <m:r>
                            <a:rPr sz="24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ℎ</m:t>
                          </m:r>
                        </m:e>
                        <m:sup>
                          <m:r>
                            <a:rPr sz="24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sz="24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sz="24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sz="24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sz="24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sz="24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sz="24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sz="24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sz="24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sz="24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</m:e>
                      </m:d>
                      <m:sSup>
                        <m:sSupPr>
                          <m:ctrlPr>
                            <a:rPr/>
                          </m:ctrlPr>
                        </m:sSupPr>
                        <m:e>
                          <m:r>
                            <a:rPr sz="24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ℎ</m:t>
                          </m:r>
                        </m:e>
                        <m:sup>
                          <m:r>
                            <a:rPr sz="24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sz="24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sz="24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</m:oMath>
                  </m:oMathPara>
                </a14:m>
                <a:br/>
              </a:p>
              <a:p>
                <a:pPr marL="280035" indent="-280035" defTabSz="368300">
                  <a:spcBef>
                    <a:spcPts val="2600"/>
                  </a:spcBef>
                  <a:defRPr sz="2015"/>
                </a:pPr>
                <a14:m>
                  <m:oMath xmlns:m="http://schemas.openxmlformats.org/officeDocument/2006/math">
                    <m:sSup>
                      <m:sSupPr>
                        <m:ctrlPr>
                          <a:rPr/>
                        </m:ctrlPr>
                      </m:sSupPr>
                      <m:e>
                        <m:r>
                          <a:rPr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𝑙</m:t>
                    </m:r>
                    <m:r>
                      <a:rPr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sSub>
                      <m:sSubPr>
                        <m:ctrlPr>
                          <a:rPr/>
                        </m:ctrlPr>
                      </m:sSubPr>
                      <m:e>
                        <m:r>
                          <a:rPr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r>
                          <a:rPr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f>
                      <m:fPr>
                        <m:ctrlPr>
                          <a:rPr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r>
                          <a:rPr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den>
                    </m:f>
                    <m:r>
                      <a:rPr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e>
                    </m:d>
                    <m:sSup>
                      <m:sSupPr>
                        <m:ctrlPr>
                          <a:rPr/>
                        </m:ctrlPr>
                      </m:sSupPr>
                      <m:e>
                        <m:r>
                          <a:rPr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sSup>
                      <m:sSupPr>
                        <m:ctrlPr>
                          <a:rPr/>
                        </m:ctrlPr>
                      </m:sSupPr>
                      <m:e>
                        <m:r>
                          <a:rPr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sSupPr>
                        <m:ctrlPr>
                          <a:rPr/>
                        </m:ctrlPr>
                      </m:sSupPr>
                      <m:e>
                        <m:r>
                          <a:rPr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a:rPr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e>
                    </m:d>
                    <m:sSup>
                      <m:sSupPr>
                        <m:ctrlPr>
                          <a:rPr/>
                        </m:ctrlPr>
                      </m:sSupPr>
                      <m:e>
                        <m:r>
                          <a:rPr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a:rPr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sSupPr>
                        <m:ctrlPr>
                          <a:rPr/>
                        </m:ctrlPr>
                      </m:sSupPr>
                      <m:e>
                        <m:r>
                          <a:rPr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endParaRPr sz="3200"/>
              </a:p>
            </p:txBody>
          </p:sp>
        </mc:Choice>
        <mc:Fallback>
          <p:sp>
            <p:nvSpPr>
              <p:cNvPr id="304" name="Demonstração:…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prstGeom prst="rect">
                <a:avLst/>
              </a:prstGeom>
              <a:blipFill rotWithShape="1">
                <a:blip r:embed="rId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5" name="IEZZI p. 130"/>
          <p:cNvSpPr txBox="1"/>
          <p:nvPr/>
        </p:nvSpPr>
        <p:spPr>
          <a:xfrm>
            <a:off x="11098202" y="9275859"/>
            <a:ext cx="1835507" cy="46106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/>
          <a:p>
            <a:r>
              <a:t>IEZZI p. 130</a:t>
            </a:r>
          </a:p>
        </p:txBody>
      </p:sp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Exercício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Exercício 1</a:t>
            </a:r>
          </a:p>
        </p:txBody>
      </p:sp>
      <p:sp>
        <p:nvSpPr>
          <p:cNvPr id="308" name="(a) Se f (x) = x6, então f ′(x) = ?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487680" indent="-487680" defTabSz="1300480">
              <a:lnSpc>
                <a:spcPct val="120000"/>
              </a:lnSpc>
              <a:spcBef>
                <a:spcPts val="0"/>
              </a:spcBef>
              <a:buSzTx/>
              <a:buNone/>
              <a:defRPr sz="3400"/>
            </a:pPr>
            <a:r>
              <a:t>(a) Se </a:t>
            </a:r>
            <a:r>
              <a:rPr i="1"/>
              <a:t>f</a:t>
            </a:r>
            <a:r>
              <a:rPr sz="500" i="1"/>
              <a:t> </a:t>
            </a:r>
            <a:r>
              <a:t>(</a:t>
            </a:r>
            <a:r>
              <a:rPr i="1"/>
              <a:t>x</a:t>
            </a:r>
            <a:r>
              <a:t>) = </a:t>
            </a:r>
            <a:r>
              <a:rPr i="1"/>
              <a:t>x</a:t>
            </a:r>
            <a:r>
              <a:rPr baseline="31000"/>
              <a:t>6</a:t>
            </a:r>
            <a:r>
              <a:t>, então </a:t>
            </a:r>
            <a:r>
              <a:rPr i="1"/>
              <a:t>f</a:t>
            </a:r>
            <a:r>
              <a:rPr sz="1100" i="1"/>
              <a:t> </a:t>
            </a:r>
            <a:r>
              <a:t>′(</a:t>
            </a:r>
            <a:r>
              <a:rPr i="1"/>
              <a:t>x</a:t>
            </a:r>
            <a:r>
              <a:t>) = ?</a:t>
            </a:r>
          </a:p>
          <a:p>
            <a:pPr marL="487680" indent="-487680" defTabSz="1300480">
              <a:lnSpc>
                <a:spcPct val="120000"/>
              </a:lnSpc>
              <a:spcBef>
                <a:spcPts val="0"/>
              </a:spcBef>
              <a:buSzTx/>
              <a:buNone/>
              <a:defRPr sz="3400"/>
            </a:pPr>
          </a:p>
          <a:p>
            <a:pPr marL="487680" indent="-487680" defTabSz="1300480">
              <a:lnSpc>
                <a:spcPct val="120000"/>
              </a:lnSpc>
              <a:spcBef>
                <a:spcPts val="0"/>
              </a:spcBef>
              <a:buSzTx/>
              <a:buNone/>
              <a:defRPr sz="3400"/>
            </a:pPr>
            <a:r>
              <a:t>(b) Se </a:t>
            </a:r>
            <a:r>
              <a:rPr i="1"/>
              <a:t>y</a:t>
            </a:r>
            <a:r>
              <a:t> = </a:t>
            </a:r>
            <a:r>
              <a:rPr i="1"/>
              <a:t>x</a:t>
            </a:r>
            <a:r>
              <a:rPr baseline="31000"/>
              <a:t>1.000</a:t>
            </a:r>
            <a:r>
              <a:t>, então </a:t>
            </a:r>
            <a:r>
              <a:rPr i="1"/>
              <a:t>y</a:t>
            </a:r>
            <a:r>
              <a:rPr sz="1100"/>
              <a:t> </a:t>
            </a:r>
            <a:r>
              <a:t>′= ?</a:t>
            </a:r>
          </a:p>
          <a:p>
            <a:pPr marL="487680" indent="-487680" defTabSz="1300480">
              <a:lnSpc>
                <a:spcPct val="120000"/>
              </a:lnSpc>
              <a:spcBef>
                <a:spcPts val="0"/>
              </a:spcBef>
              <a:buSzTx/>
              <a:buNone/>
              <a:defRPr sz="3400"/>
            </a:pPr>
          </a:p>
          <a:p>
            <a:pPr marL="487680" indent="-487680" defTabSz="1300480">
              <a:lnSpc>
                <a:spcPct val="120000"/>
              </a:lnSpc>
              <a:spcBef>
                <a:spcPts val="0"/>
              </a:spcBef>
              <a:buSzTx/>
              <a:buNone/>
              <a:defRPr sz="3400"/>
            </a:pPr>
            <a:r>
              <a:t>(c) Se </a:t>
            </a:r>
            <a:r>
              <a:rPr i="1"/>
              <a:t>y </a:t>
            </a:r>
            <a:r>
              <a:t>= </a:t>
            </a:r>
            <a:r>
              <a:rPr i="1"/>
              <a:t>t</a:t>
            </a:r>
            <a:r>
              <a:rPr sz="500" i="1"/>
              <a:t> </a:t>
            </a:r>
            <a:r>
              <a:rPr baseline="31000"/>
              <a:t>4</a:t>
            </a:r>
            <a:r>
              <a:t>, então         = ?</a:t>
            </a:r>
          </a:p>
          <a:p>
            <a:pPr marL="487680" indent="-487680" defTabSz="1300480">
              <a:lnSpc>
                <a:spcPct val="120000"/>
              </a:lnSpc>
              <a:spcBef>
                <a:spcPts val="0"/>
              </a:spcBef>
              <a:buSzTx/>
              <a:buNone/>
              <a:defRPr sz="3400"/>
            </a:pPr>
          </a:p>
          <a:p>
            <a:pPr marL="487680" indent="-487680" defTabSz="1300480">
              <a:lnSpc>
                <a:spcPct val="120000"/>
              </a:lnSpc>
              <a:spcBef>
                <a:spcPts val="0"/>
              </a:spcBef>
              <a:buSzTx/>
              <a:buNone/>
              <a:defRPr sz="3400"/>
            </a:pPr>
            <a:r>
              <a:t>(d) Se y= 3</a:t>
            </a:r>
            <a:r>
              <a:rPr i="1"/>
              <a:t>r</a:t>
            </a:r>
            <a:r>
              <a:rPr sz="500" i="1"/>
              <a:t> </a:t>
            </a:r>
            <a:r>
              <a:rPr baseline="31000"/>
              <a:t>2 </a:t>
            </a:r>
            <a:r>
              <a:t>, então              = ?</a:t>
            </a:r>
          </a:p>
        </p:txBody>
      </p:sp>
      <p:pic>
        <p:nvPicPr>
          <p:cNvPr id="309" name="image.pdf" descr="image.pdf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61434" y="5885121"/>
            <a:ext cx="871504" cy="1065672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310" name="image.png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5827" y="7110272"/>
            <a:ext cx="1469815" cy="1174046"/>
          </a:xfrm>
          <a:prstGeom prst="rect">
            <a:avLst/>
          </a:prstGeom>
          <a:ln w="12700">
            <a:miter lim="400000"/>
            <a:headEnd/>
            <a:tailEnd/>
          </a:ln>
        </p:spPr>
      </p:pic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1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dur="indefinite" fill="hold"/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2" presetClass="entr" presetSubtype="4" fill="hold" grpId="2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dur="indefinite" fill="hold"/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3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0" grpId="2" animBg="1" advAuto="0"/>
      <p:bldP spid="309" grpId="1" animBg="1" advAuto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Exercício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Exercício 1</a:t>
            </a:r>
          </a:p>
        </p:txBody>
      </p:sp>
      <p:sp>
        <p:nvSpPr>
          <p:cNvPr id="313" name="(a) Se f (x) = x6, então f ′(x) = 6x5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487680" indent="-487680" defTabSz="1300480">
              <a:lnSpc>
                <a:spcPct val="120000"/>
              </a:lnSpc>
              <a:spcBef>
                <a:spcPts val="0"/>
              </a:spcBef>
              <a:buSzTx/>
              <a:buNone/>
              <a:defRPr sz="3400"/>
            </a:pPr>
            <a:r>
              <a:t>(a) Se </a:t>
            </a:r>
            <a:r>
              <a:rPr i="1"/>
              <a:t>f</a:t>
            </a:r>
            <a:r>
              <a:rPr sz="500" i="1"/>
              <a:t> </a:t>
            </a:r>
            <a:r>
              <a:t>(</a:t>
            </a:r>
            <a:r>
              <a:rPr i="1"/>
              <a:t>x</a:t>
            </a:r>
            <a:r>
              <a:t>) = </a:t>
            </a:r>
            <a:r>
              <a:rPr i="1"/>
              <a:t>x</a:t>
            </a:r>
            <a:r>
              <a:rPr baseline="31000"/>
              <a:t>6</a:t>
            </a:r>
            <a:r>
              <a:t>, então </a:t>
            </a:r>
            <a:r>
              <a:rPr i="1"/>
              <a:t>f</a:t>
            </a:r>
            <a:r>
              <a:rPr sz="1100" i="1"/>
              <a:t> </a:t>
            </a:r>
            <a:r>
              <a:t>′(</a:t>
            </a:r>
            <a:r>
              <a:rPr i="1"/>
              <a:t>x</a:t>
            </a:r>
            <a:r>
              <a:t>) = 6</a:t>
            </a:r>
            <a:r>
              <a:rPr i="1"/>
              <a:t>x</a:t>
            </a:r>
            <a:r>
              <a:rPr baseline="31000"/>
              <a:t>5</a:t>
            </a:r>
            <a:endParaRPr baseline="31000"/>
          </a:p>
          <a:p>
            <a:pPr marL="487680" indent="-487680" defTabSz="1300480">
              <a:lnSpc>
                <a:spcPct val="120000"/>
              </a:lnSpc>
              <a:spcBef>
                <a:spcPts val="0"/>
              </a:spcBef>
              <a:buSzTx/>
              <a:buNone/>
              <a:defRPr sz="3400"/>
            </a:pPr>
          </a:p>
          <a:p>
            <a:pPr marL="487680" indent="-487680" defTabSz="1300480">
              <a:lnSpc>
                <a:spcPct val="120000"/>
              </a:lnSpc>
              <a:spcBef>
                <a:spcPts val="0"/>
              </a:spcBef>
              <a:buSzTx/>
              <a:buNone/>
              <a:defRPr sz="3400"/>
            </a:pPr>
            <a:r>
              <a:t>(b) Se </a:t>
            </a:r>
            <a:r>
              <a:rPr i="1"/>
              <a:t>y</a:t>
            </a:r>
            <a:r>
              <a:t> = </a:t>
            </a:r>
            <a:r>
              <a:rPr i="1"/>
              <a:t>x</a:t>
            </a:r>
            <a:r>
              <a:rPr baseline="31000"/>
              <a:t>1.000</a:t>
            </a:r>
            <a:r>
              <a:t>, então </a:t>
            </a:r>
            <a:r>
              <a:rPr i="1"/>
              <a:t>y</a:t>
            </a:r>
            <a:r>
              <a:rPr sz="1100"/>
              <a:t> </a:t>
            </a:r>
            <a:r>
              <a:t>′= 1.000</a:t>
            </a:r>
            <a:r>
              <a:rPr i="1"/>
              <a:t>x</a:t>
            </a:r>
            <a:r>
              <a:rPr baseline="31000"/>
              <a:t>999</a:t>
            </a:r>
            <a:endParaRPr baseline="31000"/>
          </a:p>
          <a:p>
            <a:pPr marL="487680" indent="-487680" defTabSz="1300480">
              <a:lnSpc>
                <a:spcPct val="120000"/>
              </a:lnSpc>
              <a:spcBef>
                <a:spcPts val="0"/>
              </a:spcBef>
              <a:buSzTx/>
              <a:buNone/>
              <a:defRPr sz="3400"/>
            </a:pPr>
          </a:p>
          <a:p>
            <a:pPr marL="487680" indent="-487680" defTabSz="1300480">
              <a:lnSpc>
                <a:spcPct val="120000"/>
              </a:lnSpc>
              <a:spcBef>
                <a:spcPts val="0"/>
              </a:spcBef>
              <a:buSzTx/>
              <a:buNone/>
              <a:defRPr sz="3400"/>
            </a:pPr>
            <a:r>
              <a:t>(c) Se </a:t>
            </a:r>
            <a:r>
              <a:rPr i="1"/>
              <a:t>y </a:t>
            </a:r>
            <a:r>
              <a:t>= </a:t>
            </a:r>
            <a:r>
              <a:rPr i="1"/>
              <a:t>t</a:t>
            </a:r>
            <a:r>
              <a:rPr sz="500" i="1"/>
              <a:t> </a:t>
            </a:r>
            <a:r>
              <a:rPr baseline="31000"/>
              <a:t>4</a:t>
            </a:r>
            <a:r>
              <a:t>, então         = 4</a:t>
            </a:r>
            <a:r>
              <a:rPr i="1"/>
              <a:t>t</a:t>
            </a:r>
            <a:r>
              <a:rPr sz="500" i="1"/>
              <a:t> </a:t>
            </a:r>
            <a:r>
              <a:rPr baseline="31000"/>
              <a:t>3</a:t>
            </a:r>
            <a:endParaRPr baseline="31000"/>
          </a:p>
          <a:p>
            <a:pPr marL="487680" indent="-487680" defTabSz="1300480">
              <a:lnSpc>
                <a:spcPct val="120000"/>
              </a:lnSpc>
              <a:spcBef>
                <a:spcPts val="0"/>
              </a:spcBef>
              <a:buSzTx/>
              <a:buNone/>
              <a:defRPr sz="3400"/>
            </a:pPr>
          </a:p>
          <a:p>
            <a:pPr marL="487680" indent="-487680" defTabSz="1300480">
              <a:lnSpc>
                <a:spcPct val="120000"/>
              </a:lnSpc>
              <a:spcBef>
                <a:spcPts val="0"/>
              </a:spcBef>
              <a:buSzTx/>
              <a:buNone/>
              <a:defRPr sz="3400"/>
            </a:pPr>
            <a:r>
              <a:t>(d) Se y= 3</a:t>
            </a:r>
            <a:r>
              <a:rPr i="1"/>
              <a:t>r</a:t>
            </a:r>
            <a:r>
              <a:rPr sz="500" i="1"/>
              <a:t> </a:t>
            </a:r>
            <a:r>
              <a:rPr baseline="31000"/>
              <a:t>2 </a:t>
            </a:r>
            <a:r>
              <a:t>, então              = 3</a:t>
            </a:r>
            <a:r>
              <a:rPr i="1"/>
              <a:t>r</a:t>
            </a:r>
            <a:r>
              <a:rPr baseline="31000"/>
              <a:t>2</a:t>
            </a:r>
            <a:r>
              <a:t> </a:t>
            </a:r>
          </a:p>
        </p:txBody>
      </p:sp>
      <p:pic>
        <p:nvPicPr>
          <p:cNvPr id="314" name="image.pdf" descr="image.pdf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61434" y="5885121"/>
            <a:ext cx="871504" cy="1065672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315" name="image.png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5827" y="7110272"/>
            <a:ext cx="1469815" cy="1174046"/>
          </a:xfrm>
          <a:prstGeom prst="rect">
            <a:avLst/>
          </a:prstGeom>
          <a:ln w="12700">
            <a:miter lim="400000"/>
            <a:headEnd/>
            <a:tailEnd/>
          </a:ln>
        </p:spPr>
      </p:pic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1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dur="indefinite" fill="hold"/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2" presetClass="entr" presetSubtype="4" fill="hold" grpId="2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dur="indefinite" fill="hold"/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3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5" grpId="2" animBg="1" advAuto="0"/>
      <p:bldP spid="314" grpId="1" animBg="1" advAuto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" name="Imagem" descr="Imagem"/>
          <p:cNvPicPr>
            <a:picLocks noChangeAspect="1"/>
          </p:cNvPicPr>
          <p:nvPr>
            <p:ph type="pic" idx="13"/>
          </p:nvPr>
        </p:nvPicPr>
        <p:blipFill>
          <a:blip r:embed="rId1"/>
          <a:srcRect l="2929" r="2929"/>
          <a:stretch>
            <a:fillRect/>
          </a:stretch>
        </p:blipFill>
        <p:spPr>
          <a:xfrm>
            <a:off x="0" y="0"/>
            <a:ext cx="13004800" cy="9753600"/>
          </a:xfrm>
          <a:prstGeom prst="rect">
            <a:avLst/>
          </a:prstGeom>
        </p:spPr>
      </p:pic>
      <p:sp>
        <p:nvSpPr>
          <p:cNvPr id="318" name="NOVAS DERIVADAS A PARTIR DE CONHECIDAS"/>
          <p:cNvSpPr txBox="1"/>
          <p:nvPr/>
        </p:nvSpPr>
        <p:spPr>
          <a:xfrm>
            <a:off x="1282382" y="4060509"/>
            <a:ext cx="10440036" cy="1632582"/>
          </a:xfrm>
          <a:prstGeom prst="rect">
            <a:avLst/>
          </a:prstGeom>
          <a:solidFill>
            <a:srgbClr val="929292"/>
          </a:solidFill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>
            <a:lvl1pPr>
              <a:defRPr sz="5000">
                <a:solidFill>
                  <a:srgbClr val="FFFFFF"/>
                </a:solidFill>
              </a:defRPr>
            </a:lvl1pPr>
          </a:lstStyle>
          <a:p>
            <a:r>
              <a:t>NOVAS DERIVADAS A PARTIR DE CONHECIDAS</a:t>
            </a:r>
          </a:p>
        </p:txBody>
      </p:sp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Novas Derivadas a partir de Conhecida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397510">
              <a:defRPr sz="5440"/>
            </a:lvl1pPr>
          </a:lstStyle>
          <a:p>
            <a:r>
              <a:t>Novas Derivadas a partir de Conhecidas</a:t>
            </a:r>
          </a:p>
        </p:txBody>
      </p:sp>
      <p:sp>
        <p:nvSpPr>
          <p:cNvPr id="321" name="Quando as novas funções são formadas a partir de outras por adição, subtração, multiplicação ou divisão, suas derivadas podem ser calculadas em termos das derivadas das funções originais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 anchor="t"/>
          <a:lstStyle/>
          <a:p>
            <a:pPr>
              <a:defRPr sz="2900"/>
            </a:pPr>
            <a:r>
              <a:t>Quando as novas funções são formadas a partir de outras por adição, subtração, multiplicação ou divisão, suas derivadas podem ser calculadas em termos das derivadas das funções originais</a:t>
            </a:r>
          </a:p>
          <a:p>
            <a:pPr>
              <a:defRPr sz="2900"/>
            </a:pPr>
          </a:p>
          <a:p>
            <a:pPr marL="635000" indent="-635000">
              <a:buSzPct val="100000"/>
              <a:buAutoNum type="arabicParenBoth"/>
              <a:defRPr sz="2900"/>
            </a:pPr>
            <a:r>
              <a:t>Derivada de uma constante vezes uma função é a constante vezes a derivada da função</a:t>
            </a:r>
          </a:p>
        </p:txBody>
      </p:sp>
      <p:sp>
        <p:nvSpPr>
          <p:cNvPr id="322" name="Lembrar Regras dos Limites!"/>
          <p:cNvSpPr txBox="1"/>
          <p:nvPr/>
        </p:nvSpPr>
        <p:spPr>
          <a:xfrm rot="1200000">
            <a:off x="8660621" y="1883326"/>
            <a:ext cx="4493261" cy="473392"/>
          </a:xfrm>
          <a:prstGeom prst="rect">
            <a:avLst/>
          </a:prstGeom>
          <a:solidFill>
            <a:schemeClr val="accent5">
              <a:hueOff val="-82419"/>
              <a:satOff val="-9511"/>
              <a:lumOff val="-16341"/>
            </a:schemeClr>
          </a:solidFill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>
            <a:lvl1pPr>
              <a:defRPr sz="2500">
                <a:solidFill>
                  <a:srgbClr val="FFFFFF"/>
                </a:solidFill>
              </a:defRPr>
            </a:lvl1pPr>
          </a:lstStyle>
          <a:p>
            <a:r>
              <a:t>Lembrar Regras dos Limites!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23" name="Regra da multiplicação por Constante: Se c for uma constante e f uma função derivável, então"/>
              <p:cNvSpPr txBox="1"/>
              <p:nvPr/>
            </p:nvSpPr>
            <p:spPr>
              <a:xfrm>
                <a:off x="952500" y="7178624"/>
                <a:ext cx="11099800" cy="1523490"/>
              </a:xfrm>
              <a:prstGeom prst="rect">
                <a:avLst/>
              </a:prstGeom>
              <a:solidFill>
                <a:schemeClr val="accent1"/>
              </a:solidFill>
              <a:ln w="12700">
                <a:miter lim="400000"/>
              </a:ln>
            </p:spPr>
            <p:txBody>
              <a:bodyPr lIns="50800" tIns="50800" rIns="50800" bIns="50800" anchor="ctr">
                <a:spAutoFit/>
              </a:bodyPr>
              <a:lstStyle/>
              <a:p>
                <a:pPr>
                  <a:defRPr sz="2200" b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r>
                  <a:rPr b="1">
                    <a:latin typeface="Helvetica Neue"/>
                    <a:ea typeface="Helvetica Neue"/>
                    <a:cs typeface="Helvetica Neue"/>
                    <a:sym typeface="Helvetica Neue"/>
                  </a:rPr>
                  <a:t>Regra da multiplicação por Constante: </a:t>
                </a:r>
                <a:r>
                  <a:t>Se c for uma constante e f uma função derivável, então</a:t>
                </a:r>
                <a:endParaRPr b="1">
                  <a:latin typeface="Helvetica Neue"/>
                  <a:ea typeface="Helvetica Neue"/>
                  <a:cs typeface="Helvetica Neue"/>
                  <a:sym typeface="Helvetica Neue"/>
                </a:endParaRPr>
              </a:p>
              <a:p>
                <a:pPr>
                  <a:defRPr sz="2200" b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f>
                        <m:fPr>
                          <m:ctrlPr>
                            <a:rPr sz="2650" i="1">
                              <a:solidFill>
                                <a:srgbClr val="FEFEFE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sz="2650" i="1">
                              <a:solidFill>
                                <a:srgbClr val="FEFEFE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sz="2650" i="1">
                              <a:solidFill>
                                <a:srgbClr val="FEFEFE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sz="2650" i="1">
                              <a:solidFill>
                                <a:srgbClr val="FEFEFE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sz="2650" i="1">
                          <a:solidFill>
                            <a:srgbClr val="FEFEFE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sz="2650" i="1">
                          <a:solidFill>
                            <a:srgbClr val="FEFEFE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sz="2650" i="1">
                          <a:solidFill>
                            <a:srgbClr val="FEFEFE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sz="2650" i="1">
                          <a:solidFill>
                            <a:srgbClr val="FEFEFE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sz="2650" i="1">
                          <a:solidFill>
                            <a:srgbClr val="FEFEFE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sz="2650" i="1">
                          <a:solidFill>
                            <a:srgbClr val="FEFEFE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sz="2650" i="1">
                          <a:solidFill>
                            <a:srgbClr val="FEFEFE"/>
                          </a:solidFill>
                          <a:latin typeface="Cambria Math" panose="02040503050406030204" pitchFamily="18" charset="0"/>
                        </a:rPr>
                        <m:t>]</m:t>
                      </m:r>
                      <m:r>
                        <a:rPr sz="2650" i="1">
                          <a:solidFill>
                            <a:srgbClr val="FEFEFE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sz="2650" i="1">
                          <a:solidFill>
                            <a:srgbClr val="FEFEFE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f>
                        <m:fPr>
                          <m:ctrlPr>
                            <a:rPr sz="2650" i="1">
                              <a:solidFill>
                                <a:srgbClr val="FEFEFE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sz="2650" i="1">
                              <a:solidFill>
                                <a:srgbClr val="FEFEFE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sz="2650" i="1">
                              <a:solidFill>
                                <a:srgbClr val="FEFEFE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sz="2650" i="1">
                              <a:solidFill>
                                <a:srgbClr val="FEFEFE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sz="2650" i="1">
                          <a:solidFill>
                            <a:srgbClr val="FEFEFE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sz="2650" i="1">
                          <a:solidFill>
                            <a:srgbClr val="FEFEFE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sz="2650" i="1">
                          <a:solidFill>
                            <a:srgbClr val="FEFEFE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sz="2650" i="1">
                          <a:solidFill>
                            <a:srgbClr val="FEFEFE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323" name="Regra da multiplicação por Constante: Se c for uma constante e f uma função derivável, entã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2500" y="7178624"/>
                <a:ext cx="11099800" cy="1523490"/>
              </a:xfrm>
              <a:prstGeom prst="rect">
                <a:avLst/>
              </a:prstGeom>
              <a:blipFill rotWithShape="1">
                <a:blip r:embed="rId1"/>
                <a:stretch>
                  <a:fillRect t="-38" b="5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pt-BR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Exercício 2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Exercício 2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26" name=",…"/>
              <p:cNvSpPr txBox="1"/>
              <p:nvPr>
                <p:ph type="body" idx="1"/>
              </p:nvPr>
            </p:nvSpPr>
            <p:spPr>
              <a:prstGeom prst="rect">
                <a:avLst/>
              </a:prstGeom>
            </p:spPr>
            <p:txBody>
              <a:bodyPr anchor="t"/>
              <a:lstStyle/>
              <a:p>
                <a:pPr marL="635000" indent="-635000">
                  <a:buSzPct val="100000"/>
                  <a:buAutoNum type="alphaUcPeriod"/>
                </a:pPr>
                <a14:m>
                  <m:oMath xmlns:m="http://schemas.openxmlformats.org/officeDocument/2006/math">
                    <m:r>
                      <a:rPr sz="37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sz="37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sz="37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sz="37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sz="37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sz="37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sSupPr>
                        <m:ctrlPr>
                          <a:rPr/>
                        </m:ctrlPr>
                      </m:sSupPr>
                      <m:e>
                        <m:r>
                          <a:rPr sz="37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sz="37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t>, </a:t>
                </a:r>
                <a14:m>
                  <m:oMath xmlns:m="http://schemas.openxmlformats.org/officeDocument/2006/math">
                    <m:f>
                      <m:fPr>
                        <m:ctrlPr>
                          <a:rPr sz="38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sz="38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sz="38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sz="38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sz="38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sz="38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sz="38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sz="38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sz="38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sz="38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sz="38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sz="38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sz="38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sz="38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sz="38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sSupPr>
                        <m:ctrlPr>
                          <a:rPr/>
                        </m:ctrlPr>
                      </m:sSupPr>
                      <m:e>
                        <m:r>
                          <a:rPr sz="38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sz="38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sz="38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br/>
              </a:p>
              <a:p>
                <a:pPr marL="635000" indent="-635000">
                  <a:buSzPct val="100000"/>
                  <a:buAutoNum type="alphaUcPeriod"/>
                </a:pPr>
                <a14:m>
                  <m:oMath xmlns:m="http://schemas.openxmlformats.org/officeDocument/2006/math">
                    <m:r>
                      <a:rPr sz="37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sz="37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sz="37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sz="37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sz="37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sz="37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sz="37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t>, </a:t>
                </a:r>
                <a14:m>
                  <m:oMath xmlns:m="http://schemas.openxmlformats.org/officeDocument/2006/math">
                    <m:f>
                      <m:fPr>
                        <m:ctrlPr>
                          <a:rPr sz="38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sz="38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sz="38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sz="38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sz="38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sz="38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sz="38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sz="38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sz="38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sz="38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sz="38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sz="38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sz="38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sz="38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sz="38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sz="38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sz="38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</a:p>
            </p:txBody>
          </p:sp>
        </mc:Choice>
        <mc:Fallback>
          <p:sp>
            <p:nvSpPr>
              <p:cNvPr id="326" name=",…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prstGeom prst="rect">
                <a:avLst/>
              </a:prstGeom>
              <a:blipFill rotWithShape="1">
                <a:blip r:embed="rId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Exercício 2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Exercício 2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29" name="Corpo"/>
              <p:cNvSpPr txBox="1"/>
              <p:nvPr>
                <p:ph type="body" idx="1"/>
              </p:nvPr>
            </p:nvSpPr>
            <p:spPr>
              <a:prstGeom prst="rect">
                <a:avLst/>
              </a:prstGeom>
            </p:spPr>
            <p:txBody>
              <a:bodyPr anchor="t"/>
              <a:lstStyle/>
              <a:p>
                <a:pPr marL="635000" indent="-635000">
                  <a:buSzPct val="100000"/>
                  <a:buAutoNum type="alphaUcPeriod"/>
                </a:pPr>
                <a14:m>
                  <m:oMath xmlns:m="http://schemas.openxmlformats.org/officeDocument/2006/math">
                    <m:f>
                      <m:fPr>
                        <m:ctrlPr>
                          <a:rPr sz="38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sz="38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sz="38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sz="38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sz="38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sz="38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sSupPr>
                        <m:ctrlPr>
                          <a:rPr/>
                        </m:ctrlPr>
                      </m:sSupPr>
                      <m:e>
                        <m:r>
                          <a:rPr sz="38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sz="38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sz="38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sz="38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sz="38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3</m:t>
                    </m:r>
                    <m:f>
                      <m:fPr>
                        <m:ctrlPr>
                          <a:rPr sz="38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sz="38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sz="38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sz="38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sz="38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/>
                        </m:ctrlPr>
                      </m:sSupPr>
                      <m:e>
                        <m:r>
                          <a:rPr sz="38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sz="38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sz="38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sz="38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sz="38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sz="38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sz="38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sSupPr>
                        <m:ctrlPr>
                          <a:rPr/>
                        </m:ctrlPr>
                      </m:sSupPr>
                      <m:e>
                        <m:r>
                          <a:rPr sz="38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sz="38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sz="38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sz="38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sz="38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sz="38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sz="38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12</m:t>
                    </m:r>
                    <m:sSup>
                      <m:sSupPr>
                        <m:ctrlPr>
                          <a:rPr/>
                        </m:ctrlPr>
                      </m:sSupPr>
                      <m:e>
                        <m:r>
                          <a:rPr sz="38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sz="38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38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_x001B_</a:t>
                </a:r>
                <a:br>
                  <a:rPr sz="38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</a:br>
                <a:endParaRPr sz="3850" i="1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 marL="635000" indent="-635000">
                  <a:buSzPct val="100000"/>
                  <a:buAutoNum type="alphaUcPeriod"/>
                </a:pPr>
                <a: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sz="39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sz="39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sz="39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sz="39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sz="39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sz="39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sz="39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sz="39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sz="39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sz="39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sz="39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1</m:t>
                    </m:r>
                    <m:f>
                      <m:fPr>
                        <m:ctrlPr>
                          <a:rPr sz="39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sz="39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sz="39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sz="39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sz="39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sz="39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sz="39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sz="39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sz="39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sz="39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sSupPr>
                        <m:ctrlPr>
                          <a:rPr/>
                        </m:ctrlPr>
                      </m:sSupPr>
                      <m:e>
                        <m:r>
                          <a:rPr sz="39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sz="39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sz="39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sz="39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sz="39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sz="39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</a:p>
            </p:txBody>
          </p:sp>
        </mc:Choice>
        <mc:Fallback>
          <p:sp>
            <p:nvSpPr>
              <p:cNvPr id="329" name="Corpo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prstGeom prst="rect">
                <a:avLst/>
              </a:prstGeom>
              <a:blipFill rotWithShape="1">
                <a:blip r:embed="rId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Novas Derivadas a partir de Conhecida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397510">
              <a:defRPr sz="5440"/>
            </a:lvl1pPr>
          </a:lstStyle>
          <a:p>
            <a:r>
              <a:t>Novas Derivadas a partir de Conhecidas</a:t>
            </a:r>
          </a:p>
        </p:txBody>
      </p:sp>
      <p:sp>
        <p:nvSpPr>
          <p:cNvPr id="332" name="A derivada de uma soma de funções é a soma das derivadas de suas funções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571500" indent="-571500" defTabSz="525780">
              <a:spcBef>
                <a:spcPts val="3700"/>
              </a:spcBef>
              <a:buSzPct val="100000"/>
              <a:buAutoNum type="arabicParenBoth" startAt="2"/>
              <a:defRPr sz="2880"/>
            </a:pPr>
            <a:r>
              <a:t>A derivada de uma soma de funções é a soma das derivadas de suas funções</a:t>
            </a:r>
          </a:p>
          <a:p>
            <a:pPr marL="400050" indent="-400050" defTabSz="525780">
              <a:lnSpc>
                <a:spcPct val="120000"/>
              </a:lnSpc>
              <a:spcBef>
                <a:spcPts val="3700"/>
              </a:spcBef>
              <a:defRPr sz="2880" i="1"/>
            </a:pPr>
          </a:p>
          <a:p>
            <a:pPr marL="400050" indent="-400050" defTabSz="525780">
              <a:lnSpc>
                <a:spcPct val="120000"/>
              </a:lnSpc>
              <a:spcBef>
                <a:spcPts val="3700"/>
              </a:spcBef>
              <a:defRPr sz="2880" i="1"/>
            </a:pPr>
          </a:p>
          <a:p>
            <a:pPr marL="400050" indent="-400050" defTabSz="525780">
              <a:lnSpc>
                <a:spcPct val="120000"/>
              </a:lnSpc>
              <a:spcBef>
                <a:spcPts val="3700"/>
              </a:spcBef>
              <a:defRPr sz="2880" i="1"/>
            </a:pPr>
          </a:p>
          <a:p>
            <a:pPr marL="400050" indent="-400050" defTabSz="525780">
              <a:spcBef>
                <a:spcPts val="3700"/>
              </a:spcBef>
              <a:defRPr sz="2880"/>
            </a:pPr>
            <a:r>
              <a:t>A Regra da Soma pode ser estendida para a soma de qualquer número de funções</a:t>
            </a:r>
          </a:p>
          <a:p>
            <a:pPr marL="0" indent="0" defTabSz="525780">
              <a:lnSpc>
                <a:spcPct val="120000"/>
              </a:lnSpc>
              <a:spcBef>
                <a:spcPts val="3700"/>
              </a:spcBef>
              <a:buSzTx/>
              <a:buNone/>
              <a:defRPr sz="2880"/>
            </a:pPr>
            <a:r>
              <a:rPr b="1">
                <a:solidFill>
                  <a:schemeClr val="accent5">
                    <a:hueOff val="-82419"/>
                    <a:satOff val="-9511"/>
                    <a:lumOff val="-16341"/>
                  </a:schemeClr>
                </a:solidFill>
              </a:rPr>
              <a:t>Exemplo:</a:t>
            </a:r>
            <a:r>
              <a:t> (</a:t>
            </a:r>
            <a:r>
              <a:rPr i="1"/>
              <a:t>f</a:t>
            </a:r>
            <a:r>
              <a:t> + </a:t>
            </a:r>
            <a:r>
              <a:rPr i="1"/>
              <a:t>g</a:t>
            </a:r>
            <a:r>
              <a:t> + </a:t>
            </a:r>
            <a:r>
              <a:rPr i="1"/>
              <a:t>h</a:t>
            </a:r>
            <a:r>
              <a:t>)′ = [(</a:t>
            </a:r>
            <a:r>
              <a:rPr i="1"/>
              <a:t>f</a:t>
            </a:r>
            <a:r>
              <a:t> + </a:t>
            </a:r>
            <a:r>
              <a:rPr i="1"/>
              <a:t>g</a:t>
            </a:r>
            <a:r>
              <a:t>) + </a:t>
            </a:r>
            <a:r>
              <a:rPr i="1"/>
              <a:t>h</a:t>
            </a:r>
            <a:r>
              <a:t>)]′ = (</a:t>
            </a:r>
            <a:r>
              <a:rPr i="1"/>
              <a:t>f</a:t>
            </a:r>
            <a:r>
              <a:t> + </a:t>
            </a:r>
            <a:r>
              <a:rPr i="1"/>
              <a:t>g</a:t>
            </a:r>
            <a:r>
              <a:t>)′ + </a:t>
            </a:r>
            <a:r>
              <a:rPr i="1"/>
              <a:t>h</a:t>
            </a:r>
            <a:r>
              <a:t>′ = </a:t>
            </a:r>
            <a:r>
              <a:rPr i="1"/>
              <a:t>f</a:t>
            </a:r>
            <a:r>
              <a:rPr sz="990" i="1"/>
              <a:t> </a:t>
            </a:r>
            <a:r>
              <a:t>′ + </a:t>
            </a:r>
            <a:r>
              <a:rPr i="1"/>
              <a:t>g</a:t>
            </a:r>
            <a:r>
              <a:t>′ + </a:t>
            </a:r>
            <a:r>
              <a:rPr i="1"/>
              <a:t>h</a:t>
            </a:r>
            <a:r>
              <a:t>′.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33" name="Regra da Soma: Se f e g forem ambas deriváveis, então"/>
              <p:cNvSpPr txBox="1"/>
              <p:nvPr/>
            </p:nvSpPr>
            <p:spPr>
              <a:xfrm>
                <a:off x="952500" y="4286505"/>
                <a:ext cx="11099800" cy="1180590"/>
              </a:xfrm>
              <a:prstGeom prst="rect">
                <a:avLst/>
              </a:prstGeom>
              <a:solidFill>
                <a:schemeClr val="accent1"/>
              </a:solidFill>
              <a:ln w="12700">
                <a:miter lim="400000"/>
              </a:ln>
            </p:spPr>
            <p:txBody>
              <a:bodyPr lIns="50800" tIns="50800" rIns="50800" bIns="50800" anchor="ctr">
                <a:spAutoFit/>
              </a:bodyPr>
              <a:lstStyle/>
              <a:p>
                <a:pPr>
                  <a:defRPr sz="2200" b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r>
                  <a:rPr b="1">
                    <a:latin typeface="Helvetica Neue"/>
                    <a:ea typeface="Helvetica Neue"/>
                    <a:cs typeface="Helvetica Neue"/>
                    <a:sym typeface="Helvetica Neue"/>
                  </a:rPr>
                  <a:t>Regra da Soma: </a:t>
                </a:r>
                <a:r>
                  <a:t>Se f e g forem ambas deriváveis, então</a:t>
                </a:r>
                <a:endParaRPr b="1">
                  <a:latin typeface="Helvetica Neue"/>
                  <a:ea typeface="Helvetica Neue"/>
                  <a:cs typeface="Helvetica Neue"/>
                  <a:sym typeface="Helvetica Neue"/>
                </a:endParaRPr>
              </a:p>
              <a:p>
                <a:pPr>
                  <a:defRPr sz="2200" b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f>
                        <m:fPr>
                          <m:ctrlPr>
                            <a:rPr sz="2650" i="1">
                              <a:solidFill>
                                <a:srgbClr val="FEFEFE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sz="2650" i="1">
                              <a:solidFill>
                                <a:srgbClr val="FEFEFE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sz="2650" i="1">
                              <a:solidFill>
                                <a:srgbClr val="FEFEFE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sz="2650" i="1">
                              <a:solidFill>
                                <a:srgbClr val="FEFEFE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sz="2650" i="1">
                          <a:solidFill>
                            <a:srgbClr val="FEFEFE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sz="2650" i="1">
                          <a:solidFill>
                            <a:srgbClr val="FEFEFE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sz="2650" i="1">
                          <a:solidFill>
                            <a:srgbClr val="FEFEFE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sz="2650" i="1">
                          <a:solidFill>
                            <a:srgbClr val="FEFEFE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sz="2650" i="1">
                          <a:solidFill>
                            <a:srgbClr val="FEFEFE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sz="2650" i="1">
                          <a:solidFill>
                            <a:srgbClr val="FEFEFE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sz="2650" i="1">
                          <a:solidFill>
                            <a:srgbClr val="FEFEFE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sz="2650" i="1">
                          <a:solidFill>
                            <a:srgbClr val="FEFEFE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sz="2650" i="1">
                          <a:solidFill>
                            <a:srgbClr val="FEFEFE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sz="2650" i="1">
                          <a:solidFill>
                            <a:srgbClr val="FEFEFE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sz="2650" i="1">
                          <a:solidFill>
                            <a:srgbClr val="FEFEFE"/>
                          </a:solidFill>
                          <a:latin typeface="Cambria Math" panose="02040503050406030204" pitchFamily="18" charset="0"/>
                        </a:rPr>
                        <m:t>]</m:t>
                      </m:r>
                      <m:r>
                        <a:rPr sz="2650" i="1">
                          <a:solidFill>
                            <a:srgbClr val="FEFEFE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sz="2650" i="1">
                              <a:solidFill>
                                <a:srgbClr val="FEFEFE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sz="2650" i="1">
                              <a:solidFill>
                                <a:srgbClr val="FEFEFE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sz="2650" i="1">
                              <a:solidFill>
                                <a:srgbClr val="FEFEFE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sz="2650" i="1">
                              <a:solidFill>
                                <a:srgbClr val="FEFEFE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sz="2650" i="1">
                          <a:solidFill>
                            <a:srgbClr val="FEFEFE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sz="2650" i="1">
                          <a:solidFill>
                            <a:srgbClr val="FEFEFE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sz="2650" i="1">
                          <a:solidFill>
                            <a:srgbClr val="FEFEFE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sz="2650" i="1">
                          <a:solidFill>
                            <a:srgbClr val="FEFEFE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sz="2650" i="1">
                          <a:solidFill>
                            <a:srgbClr val="FEFEFE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sz="2650" i="1">
                              <a:solidFill>
                                <a:srgbClr val="FEFEFE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sz="2650" i="1">
                              <a:solidFill>
                                <a:srgbClr val="FEFEFE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sz="2650" i="1">
                              <a:solidFill>
                                <a:srgbClr val="FEFEFE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sz="2650" i="1">
                              <a:solidFill>
                                <a:srgbClr val="FEFEFE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sz="2650" i="1">
                          <a:solidFill>
                            <a:srgbClr val="FEFEFE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sz="2650" i="1">
                          <a:solidFill>
                            <a:srgbClr val="FEFEFE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sz="2650" i="1">
                          <a:solidFill>
                            <a:srgbClr val="FEFEFE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sz="2650" i="1">
                          <a:solidFill>
                            <a:srgbClr val="FEFEFE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333" name="Regra da Soma: Se f e g forem ambas deriváveis, entã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2500" y="4286505"/>
                <a:ext cx="11099800" cy="1180590"/>
              </a:xfrm>
              <a:prstGeom prst="rect">
                <a:avLst/>
              </a:prstGeom>
              <a:blipFill rotWithShape="1">
                <a:blip r:embed="rId1"/>
                <a:stretch>
                  <a:fillRect t="-22" b="32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pt-BR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Novas Derivadas a partir de Conhecida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397510">
              <a:defRPr sz="5440"/>
            </a:lvl1pPr>
          </a:lstStyle>
          <a:p>
            <a:r>
              <a:t>Novas Derivadas a partir de Conhecidas</a:t>
            </a:r>
          </a:p>
        </p:txBody>
      </p:sp>
      <p:sp>
        <p:nvSpPr>
          <p:cNvPr id="336" name="Escrevendo f – g como f + (–1)g e aplicando a Regra da Soma e a Regra da Multiplicação por Constante, obtemos: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635000" indent="-635000">
              <a:buSzPct val="100000"/>
              <a:buAutoNum type="arabicParenBoth" startAt="3"/>
            </a:pPr>
            <a:r>
              <a:t>Escrevendo </a:t>
            </a:r>
            <a:r>
              <a:rPr i="1"/>
              <a:t>f</a:t>
            </a:r>
            <a:r>
              <a:t> – </a:t>
            </a:r>
            <a:r>
              <a:rPr i="1"/>
              <a:t>g</a:t>
            </a:r>
            <a:r>
              <a:t> como </a:t>
            </a:r>
            <a:r>
              <a:rPr i="1"/>
              <a:t>f</a:t>
            </a:r>
            <a:r>
              <a:t> + (–1)</a:t>
            </a:r>
            <a:r>
              <a:rPr i="1"/>
              <a:t>g</a:t>
            </a:r>
            <a:r>
              <a:t> e aplicando a Regra da Soma e a Regra da Multiplicação por Constante, obtemos:</a:t>
            </a:r>
          </a:p>
          <a:p>
            <a:pPr>
              <a:lnSpc>
                <a:spcPct val="115000"/>
              </a:lnSpc>
            </a:pPr>
          </a:p>
          <a:p>
            <a:pPr>
              <a:lnSpc>
                <a:spcPct val="115000"/>
              </a:lnSpc>
            </a:pPr>
          </a:p>
          <a:p>
            <a:r>
              <a:t>As três regras anteriores podem ser combinadas com a Regra da Potência para derivar qualquer </a:t>
            </a:r>
            <a:r>
              <a:rPr b="1">
                <a:solidFill>
                  <a:schemeClr val="accent5">
                    <a:hueOff val="-82419"/>
                    <a:satOff val="-9511"/>
                    <a:lumOff val="-16341"/>
                  </a:schemeClr>
                </a:solidFill>
              </a:rPr>
              <a:t>polinômio</a:t>
            </a:r>
            <a:endParaRPr b="1">
              <a:solidFill>
                <a:schemeClr val="accent5">
                  <a:hueOff val="-82419"/>
                  <a:satOff val="-9511"/>
                  <a:lumOff val="-16341"/>
                </a:schemeClr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37" name="Regra da Subtração: Se f e g forem ambas deriváveis, então"/>
              <p:cNvSpPr txBox="1"/>
              <p:nvPr/>
            </p:nvSpPr>
            <p:spPr>
              <a:xfrm>
                <a:off x="952500" y="5305314"/>
                <a:ext cx="11099800" cy="1180590"/>
              </a:xfrm>
              <a:prstGeom prst="rect">
                <a:avLst/>
              </a:prstGeom>
              <a:solidFill>
                <a:schemeClr val="accent1"/>
              </a:solidFill>
              <a:ln w="12700">
                <a:miter lim="400000"/>
              </a:ln>
            </p:spPr>
            <p:txBody>
              <a:bodyPr lIns="50800" tIns="50800" rIns="50800" bIns="50800" anchor="ctr">
                <a:spAutoFit/>
              </a:bodyPr>
              <a:lstStyle/>
              <a:p>
                <a:pPr>
                  <a:defRPr sz="2200" b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r>
                  <a:rPr b="1">
                    <a:latin typeface="Helvetica Neue"/>
                    <a:ea typeface="Helvetica Neue"/>
                    <a:cs typeface="Helvetica Neue"/>
                    <a:sym typeface="Helvetica Neue"/>
                  </a:rPr>
                  <a:t>Regra da Subtração: </a:t>
                </a:r>
                <a:r>
                  <a:t>Se f e g forem ambas deriváveis, então</a:t>
                </a:r>
                <a:endParaRPr b="1">
                  <a:latin typeface="Helvetica Neue"/>
                  <a:ea typeface="Helvetica Neue"/>
                  <a:cs typeface="Helvetica Neue"/>
                  <a:sym typeface="Helvetica Neue"/>
                </a:endParaRPr>
              </a:p>
              <a:p>
                <a:pPr>
                  <a:defRPr sz="2200" b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f>
                        <m:fPr>
                          <m:ctrlPr>
                            <a:rPr sz="2650" i="1">
                              <a:solidFill>
                                <a:srgbClr val="FEFEFE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sz="2650" i="1">
                              <a:solidFill>
                                <a:srgbClr val="FEFEFE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sz="2650" i="1">
                              <a:solidFill>
                                <a:srgbClr val="FEFEFE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sz="2650" i="1">
                              <a:solidFill>
                                <a:srgbClr val="FEFEFE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sz="2650" i="1">
                          <a:solidFill>
                            <a:srgbClr val="FEFEFE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sz="2650" i="1">
                          <a:solidFill>
                            <a:srgbClr val="FEFEFE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sz="2650" i="1">
                          <a:solidFill>
                            <a:srgbClr val="FEFEFE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sz="2650" i="1">
                          <a:solidFill>
                            <a:srgbClr val="FEFEFE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sz="2650" i="1">
                          <a:solidFill>
                            <a:srgbClr val="FEFEFE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sz="2650" i="1">
                          <a:solidFill>
                            <a:srgbClr val="FEFEFE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sz="2650" i="1">
                          <a:solidFill>
                            <a:srgbClr val="FEFEFE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sz="2650" i="1">
                          <a:solidFill>
                            <a:srgbClr val="FEFEFE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sz="2650" i="1">
                          <a:solidFill>
                            <a:srgbClr val="FEFEFE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sz="2650" i="1">
                          <a:solidFill>
                            <a:srgbClr val="FEFEFE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sz="2650" i="1">
                          <a:solidFill>
                            <a:srgbClr val="FEFEFE"/>
                          </a:solidFill>
                          <a:latin typeface="Cambria Math" panose="02040503050406030204" pitchFamily="18" charset="0"/>
                        </a:rPr>
                        <m:t>]</m:t>
                      </m:r>
                      <m:r>
                        <a:rPr sz="2650" i="1">
                          <a:solidFill>
                            <a:srgbClr val="FEFEFE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sz="2650" i="1">
                              <a:solidFill>
                                <a:srgbClr val="FEFEFE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sz="2650" i="1">
                              <a:solidFill>
                                <a:srgbClr val="FEFEFE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sz="2650" i="1">
                              <a:solidFill>
                                <a:srgbClr val="FEFEFE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sz="2650" i="1">
                              <a:solidFill>
                                <a:srgbClr val="FEFEFE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sz="2650" i="1">
                          <a:solidFill>
                            <a:srgbClr val="FEFEFE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sz="2650" i="1">
                          <a:solidFill>
                            <a:srgbClr val="FEFEFE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sz="2650" i="1">
                          <a:solidFill>
                            <a:srgbClr val="FEFEFE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sz="2650" i="1">
                          <a:solidFill>
                            <a:srgbClr val="FEFEFE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sz="2650" i="1">
                          <a:solidFill>
                            <a:srgbClr val="FEFEFE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sz="2650" i="1">
                              <a:solidFill>
                                <a:srgbClr val="FEFEFE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sz="2650" i="1">
                              <a:solidFill>
                                <a:srgbClr val="FEFEFE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sz="2650" i="1">
                              <a:solidFill>
                                <a:srgbClr val="FEFEFE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sz="2650" i="1">
                              <a:solidFill>
                                <a:srgbClr val="FEFEFE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sz="2650" i="1">
                          <a:solidFill>
                            <a:srgbClr val="FEFEFE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sz="2650" i="1">
                          <a:solidFill>
                            <a:srgbClr val="FEFEFE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sz="2650" i="1">
                          <a:solidFill>
                            <a:srgbClr val="FEFEFE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sz="2650" i="1">
                          <a:solidFill>
                            <a:srgbClr val="FEFEFE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337" name="Regra da Subtração: Se f e g forem ambas deriváveis, entã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2500" y="5305314"/>
                <a:ext cx="11099800" cy="1180590"/>
              </a:xfrm>
              <a:prstGeom prst="rect">
                <a:avLst/>
              </a:prstGeom>
              <a:blipFill rotWithShape="1">
                <a:blip r:embed="rId1"/>
                <a:stretch>
                  <a:fillRect t="-44" b="1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pt-BR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Exercício 3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Exercício 3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40" name="Determine os seguintes limites, utilizando as regras de derivação"/>
              <p:cNvSpPr txBox="1"/>
              <p:nvPr>
                <p:ph type="body" idx="1"/>
              </p:nvPr>
            </p:nvSpPr>
            <p:spPr>
              <a:prstGeom prst="rect">
                <a:avLst/>
              </a:prstGeom>
            </p:spPr>
            <p:txBody>
              <a:bodyPr/>
              <a:lstStyle/>
              <a:p>
                <a:r>
                  <a:t>Determine os seguintes limites, utilizando as regras de derivação</a:t>
                </a:r>
              </a:p>
              <a:p>
                <a:pPr marL="635000" indent="-635000">
                  <a:buSzPct val="100000"/>
                  <a:buAutoNum type="alphaUcPeriod"/>
                </a:pPr>
                <a14:m>
                  <m:oMath xmlns:m="http://schemas.openxmlformats.org/officeDocument/2006/math">
                    <m:r>
                      <a:rPr sz="3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sz="3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sz="3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sz="3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sz="3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sz="3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10</m:t>
                    </m:r>
                    <m:sSup>
                      <m:sSupPr>
                        <m:ctrlPr>
                          <a:rPr/>
                        </m:ctrlPr>
                      </m:sSupPr>
                      <m:e>
                        <m:r>
                          <a:rPr sz="3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sz="3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sz="3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sz="3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sSupPr>
                        <m:ctrlPr>
                          <a:rPr/>
                        </m:ctrlPr>
                      </m:sSupPr>
                      <m:e>
                        <m:r>
                          <a:rPr sz="3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sz="3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</a:p>
              <a:p>
                <a:pPr marL="635000" indent="-635000">
                  <a:buSzPct val="100000"/>
                  <a:buAutoNum type="alphaUcPeriod"/>
                </a:pPr>
                <a14:m>
                  <m:oMath xmlns:m="http://schemas.openxmlformats.org/officeDocument/2006/math">
                    <m:r>
                      <a:rPr sz="3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sz="3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sz="3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sz="3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sz="3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sz="3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sSupPr>
                        <m:ctrlPr>
                          <a:rPr/>
                        </m:ctrlPr>
                      </m:sSupPr>
                      <m:e>
                        <m:r>
                          <a:rPr sz="3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sz="3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sz="3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sz="3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sSupPr>
                        <m:ctrlPr>
                          <a:rPr/>
                        </m:ctrlPr>
                      </m:sSupPr>
                      <m:e>
                        <m:r>
                          <a:rPr sz="3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sz="3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sz="3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sz="3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sz="3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sz="3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</a:p>
              <a:p>
                <a:pPr marL="635000" indent="-635000">
                  <a:buSzPct val="100000"/>
                  <a:buAutoNum type="alphaUcPeriod"/>
                </a:pPr>
                <a14:m>
                  <m:oMath xmlns:m="http://schemas.openxmlformats.org/officeDocument/2006/math">
                    <m:r>
                      <a:rPr sz="3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sz="3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sz="3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sz="3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sz="3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sz="3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sz="3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sz="3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sSup>
                      <m:sSupPr>
                        <m:ctrlPr>
                          <a:rPr/>
                        </m:ctrlPr>
                      </m:sSupPr>
                      <m:e>
                        <m:r>
                          <a:rPr sz="3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sz="3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sz="3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/>
                        </m:ctrlPr>
                      </m:sSupPr>
                      <m:e>
                        <m:r>
                          <a:rPr sz="3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sz="3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sz="3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sz="3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</a:p>
            </p:txBody>
          </p:sp>
        </mc:Choice>
        <mc:Fallback>
          <p:sp>
            <p:nvSpPr>
              <p:cNvPr id="340" name="Determine os seguintes limites, utilizando as regras de derivação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prstGeom prst="rect">
                <a:avLst/>
              </a:prstGeom>
              <a:blipFill rotWithShape="1">
                <a:blip r:embed="rId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Exercício 3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Exercício 3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43" name="Determine os seguintes limites, utilizando as regras de derivação"/>
              <p:cNvSpPr txBox="1"/>
              <p:nvPr>
                <p:ph type="body" idx="1"/>
              </p:nvPr>
            </p:nvSpPr>
            <p:spPr>
              <a:prstGeom prst="rect">
                <a:avLst/>
              </a:prstGeom>
            </p:spPr>
            <p:txBody>
              <a:bodyPr/>
              <a:lstStyle/>
              <a:p>
                <a:r>
                  <a:t>Determine os seguintes limites, utilizando as regras de derivação</a:t>
                </a:r>
              </a:p>
              <a:p>
                <a:pPr marL="635000" indent="-635000">
                  <a:buSzPct val="100000"/>
                  <a:buAutoNum type="alphaUcPeriod"/>
                </a:pPr>
                <a14:m>
                  <m:oMath xmlns:m="http://schemas.openxmlformats.org/officeDocument/2006/math">
                    <m:r>
                      <a:rPr sz="3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sz="3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sz="3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sz="3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sz="3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sz="3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10</m:t>
                    </m:r>
                    <m:sSup>
                      <m:sSupPr>
                        <m:ctrlPr>
                          <a:rPr/>
                        </m:ctrlPr>
                      </m:sSupPr>
                      <m:e>
                        <m:r>
                          <a:rPr sz="3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sz="3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sz="3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sz="3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sSupPr>
                        <m:ctrlPr>
                          <a:rPr/>
                        </m:ctrlPr>
                      </m:sSupPr>
                      <m:e>
                        <m:r>
                          <a:rPr sz="3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sz="3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sz="3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sz="3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30</m:t>
                    </m:r>
                    <m:r>
                      <a:rPr sz="3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sz="3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sz="3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sz="3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</a:p>
              <a:p>
                <a:pPr marL="635000" indent="-635000">
                  <a:buSzPct val="100000"/>
                  <a:buAutoNum type="alphaUcPeriod"/>
                </a:pPr>
                <a14:m>
                  <m:oMath xmlns:m="http://schemas.openxmlformats.org/officeDocument/2006/math">
                    <m:r>
                      <a:rPr sz="3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sz="3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sz="3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sz="3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sz="3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sz="3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sSupPr>
                        <m:ctrlPr>
                          <a:rPr/>
                        </m:ctrlPr>
                      </m:sSupPr>
                      <m:e>
                        <m:r>
                          <a:rPr sz="3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sz="3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sz="3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sz="3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sSupPr>
                        <m:ctrlPr>
                          <a:rPr/>
                        </m:ctrlPr>
                      </m:sSupPr>
                      <m:e>
                        <m:r>
                          <a:rPr sz="3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sz="3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sz="3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sz="3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sz="3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sz="3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sz="3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sz="3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12</m:t>
                    </m:r>
                    <m:sSup>
                      <m:sSupPr>
                        <m:ctrlPr>
                          <a:rPr/>
                        </m:ctrlPr>
                      </m:sSupPr>
                      <m:e>
                        <m:r>
                          <a:rPr sz="3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sz="3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sz="3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sz="3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sz="3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sz="3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sz="3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</a:p>
              <a:p>
                <a:pPr marL="635000" indent="-635000">
                  <a:buSzPct val="100000"/>
                  <a:buAutoNum type="alphaUcPeriod"/>
                </a:pPr>
                <a14:m>
                  <m:oMath xmlns:m="http://schemas.openxmlformats.org/officeDocument/2006/math">
                    <m:r>
                      <a:rPr sz="3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sz="3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sz="3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sz="3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sz="3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sz="3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sz="3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sz="3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sSup>
                      <m:sSupPr>
                        <m:ctrlPr>
                          <a:rPr/>
                        </m:ctrlPr>
                      </m:sSupPr>
                      <m:e>
                        <m:r>
                          <a:rPr sz="3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sz="3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sz="3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/>
                        </m:ctrlPr>
                      </m:sSupPr>
                      <m:e>
                        <m:r>
                          <a:rPr sz="3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sz="3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sz="3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sz="3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sz="3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/>
                        </m:ctrlPr>
                      </m:sSupPr>
                      <m:e>
                        <m:r>
                          <a:rPr sz="3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sz="3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sz="3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sz="3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sz="3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</a:p>
            </p:txBody>
          </p:sp>
        </mc:Choice>
        <mc:Fallback>
          <p:sp>
            <p:nvSpPr>
              <p:cNvPr id="343" name="Determine os seguintes limites, utilizando as regras de derivação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prstGeom prst="rect">
                <a:avLst/>
              </a:prstGeom>
              <a:blipFill rotWithShape="1">
                <a:blip r:embed="rId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0" name="Imagem" descr="Imagem"/>
          <p:cNvPicPr>
            <a:picLocks noChangeAspect="1"/>
          </p:cNvPicPr>
          <p:nvPr>
            <p:ph type="pic" idx="13"/>
          </p:nvPr>
        </p:nvPicPr>
        <p:blipFill>
          <a:blip r:embed="rId1"/>
          <a:srcRect l="2929" r="2929"/>
          <a:stretch>
            <a:fillRect/>
          </a:stretch>
        </p:blipFill>
        <p:spPr>
          <a:xfrm>
            <a:off x="0" y="0"/>
            <a:ext cx="13004800" cy="9753600"/>
          </a:xfrm>
          <a:prstGeom prst="rect">
            <a:avLst/>
          </a:prstGeom>
        </p:spPr>
      </p:pic>
      <p:sp>
        <p:nvSpPr>
          <p:cNvPr id="401" name="REGRA DO PRODUTO"/>
          <p:cNvSpPr txBox="1"/>
          <p:nvPr/>
        </p:nvSpPr>
        <p:spPr>
          <a:xfrm>
            <a:off x="3064192" y="4447859"/>
            <a:ext cx="6876416" cy="857882"/>
          </a:xfrm>
          <a:prstGeom prst="rect">
            <a:avLst/>
          </a:prstGeom>
          <a:solidFill>
            <a:srgbClr val="929292"/>
          </a:solidFill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>
            <a:lvl1pPr>
              <a:defRPr sz="5000">
                <a:solidFill>
                  <a:srgbClr val="FFFFFF"/>
                </a:solidFill>
              </a:defRPr>
            </a:lvl1pPr>
          </a:lstStyle>
          <a:p>
            <a:r>
              <a:t>REGRA DO PRODUTO</a:t>
            </a:r>
          </a:p>
        </p:txBody>
      </p:sp>
    </p:spTree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A Regra do Produto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A Regra do Produto</a:t>
            </a:r>
          </a:p>
        </p:txBody>
      </p:sp>
      <p:sp>
        <p:nvSpPr>
          <p:cNvPr id="404" name="Por analogia com as Regras da Soma e da Diferença, alguém poderia tentar conjecturar que a derivada de um produto é o produto da derivada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386715" indent="-386715" defTabSz="508000">
              <a:spcBef>
                <a:spcPts val="3600"/>
              </a:spcBef>
              <a:defRPr sz="2785"/>
            </a:pPr>
            <a:r>
              <a:t>Por analogia com as Regras da Soma e da Diferença, alguém poderia tentar conjecturar que a derivada de um produto é o produto da derivada</a:t>
            </a:r>
          </a:p>
          <a:p>
            <a:pPr marL="773430" lvl="1" indent="-386715" defTabSz="508000">
              <a:spcBef>
                <a:spcPts val="3600"/>
              </a:spcBef>
              <a:defRPr sz="2785"/>
            </a:pPr>
            <a:r>
              <a:t>Podemos ver que esta conjectura </a:t>
            </a:r>
            <a:r>
              <a:rPr b="1">
                <a:solidFill>
                  <a:schemeClr val="accent5">
                    <a:hueOff val="-82419"/>
                    <a:satOff val="-9511"/>
                    <a:lumOff val="-16341"/>
                  </a:schemeClr>
                </a:solidFill>
              </a:rPr>
              <a:t>está errada</a:t>
            </a:r>
            <a:r>
              <a:rPr>
                <a:solidFill>
                  <a:schemeClr val="accent5">
                    <a:hueOff val="-82419"/>
                    <a:satOff val="-9511"/>
                    <a:lumOff val="-16341"/>
                  </a:schemeClr>
                </a:solidFill>
              </a:rPr>
              <a:t> </a:t>
            </a:r>
            <a:r>
              <a:t>examinando um exemplo particular</a:t>
            </a:r>
            <a:br/>
          </a:p>
          <a:p>
            <a:pPr marL="0" lvl="1" indent="0" defTabSz="508000">
              <a:spcBef>
                <a:spcPts val="3600"/>
              </a:spcBef>
              <a:buSzTx/>
              <a:buNone/>
              <a:defRPr sz="2785"/>
            </a:pPr>
            <a:r>
              <a:rPr b="1">
                <a:solidFill>
                  <a:schemeClr val="accent5">
                    <a:hueOff val="-82419"/>
                    <a:satOff val="-9511"/>
                    <a:lumOff val="-16341"/>
                  </a:schemeClr>
                </a:solidFill>
              </a:rPr>
              <a:t>Exemplo: </a:t>
            </a:r>
            <a:r>
              <a:t>Seja f</a:t>
            </a:r>
            <a:r>
              <a:rPr sz="435"/>
              <a:t> </a:t>
            </a:r>
            <a:r>
              <a:t>(x) = x e g</a:t>
            </a:r>
            <a:r>
              <a:rPr sz="435"/>
              <a:t> </a:t>
            </a:r>
            <a:r>
              <a:t>(x) = x</a:t>
            </a:r>
            <a:r>
              <a:rPr baseline="30000"/>
              <a:t>2, </a:t>
            </a:r>
            <a:r>
              <a:t>então a Regra da Potência fornece f</a:t>
            </a:r>
            <a:r>
              <a:rPr sz="955"/>
              <a:t> </a:t>
            </a:r>
            <a:r>
              <a:t>′(x) = 1 e g</a:t>
            </a:r>
            <a:r>
              <a:rPr sz="955"/>
              <a:t> </a:t>
            </a:r>
            <a:r>
              <a:t>′(x) = 2x</a:t>
            </a:r>
          </a:p>
          <a:p>
            <a:pPr marL="0" lvl="1" indent="0" defTabSz="508000">
              <a:spcBef>
                <a:spcPts val="3600"/>
              </a:spcBef>
              <a:buSzTx/>
              <a:buNone/>
              <a:defRPr sz="2785"/>
            </a:pPr>
            <a:r>
              <a:t>Mas (fg)(x) = x</a:t>
            </a:r>
            <a:r>
              <a:rPr baseline="30000"/>
              <a:t>3</a:t>
            </a:r>
            <a:r>
              <a:t>, logo (fg)</a:t>
            </a:r>
            <a:r>
              <a:rPr sz="955"/>
              <a:t> </a:t>
            </a:r>
            <a:r>
              <a:t>′(x) = 3x</a:t>
            </a:r>
            <a:r>
              <a:rPr baseline="30000"/>
              <a:t>2</a:t>
            </a:r>
            <a:endParaRPr baseline="30000"/>
          </a:p>
          <a:p>
            <a:pPr marL="0" indent="0" algn="ctr" defTabSz="508000">
              <a:spcBef>
                <a:spcPts val="3600"/>
              </a:spcBef>
              <a:buSzTx/>
              <a:buNone/>
              <a:defRPr sz="2785"/>
            </a:pPr>
            <a:r>
              <a:t>Assim</a:t>
            </a:r>
            <a:r>
              <a:rPr b="1">
                <a:solidFill>
                  <a:schemeClr val="accent5">
                    <a:hueOff val="-82419"/>
                    <a:satOff val="-9511"/>
                    <a:lumOff val="-16341"/>
                  </a:schemeClr>
                </a:solidFill>
              </a:rPr>
              <a:t> (</a:t>
            </a:r>
            <a:r>
              <a:rPr b="1" i="1">
                <a:solidFill>
                  <a:schemeClr val="accent5">
                    <a:hueOff val="-82419"/>
                    <a:satOff val="-9511"/>
                    <a:lumOff val="-16341"/>
                  </a:schemeClr>
                </a:solidFill>
              </a:rPr>
              <a:t>fg</a:t>
            </a:r>
            <a:r>
              <a:rPr b="1">
                <a:solidFill>
                  <a:schemeClr val="accent5">
                    <a:hueOff val="-82419"/>
                    <a:satOff val="-9511"/>
                    <a:lumOff val="-16341"/>
                  </a:schemeClr>
                </a:solidFill>
              </a:rPr>
              <a:t>)</a:t>
            </a:r>
            <a:r>
              <a:rPr sz="955" b="1">
                <a:solidFill>
                  <a:schemeClr val="accent5">
                    <a:hueOff val="-82419"/>
                    <a:satOff val="-9511"/>
                    <a:lumOff val="-16341"/>
                  </a:schemeClr>
                </a:solidFill>
              </a:rPr>
              <a:t> </a:t>
            </a:r>
            <a:r>
              <a:rPr b="1">
                <a:solidFill>
                  <a:schemeClr val="accent5">
                    <a:hueOff val="-82419"/>
                    <a:satOff val="-9511"/>
                    <a:lumOff val="-16341"/>
                  </a:schemeClr>
                </a:solidFill>
              </a:rPr>
              <a:t>′ ≠ </a:t>
            </a:r>
            <a:r>
              <a:rPr b="1" i="1">
                <a:solidFill>
                  <a:schemeClr val="accent5">
                    <a:hueOff val="-82419"/>
                    <a:satOff val="-9511"/>
                    <a:lumOff val="-16341"/>
                  </a:schemeClr>
                </a:solidFill>
              </a:rPr>
              <a:t>f</a:t>
            </a:r>
            <a:r>
              <a:rPr sz="955" b="1" i="1">
                <a:solidFill>
                  <a:schemeClr val="accent5">
                    <a:hueOff val="-82419"/>
                    <a:satOff val="-9511"/>
                    <a:lumOff val="-16341"/>
                  </a:schemeClr>
                </a:solidFill>
              </a:rPr>
              <a:t> </a:t>
            </a:r>
            <a:r>
              <a:rPr b="1">
                <a:solidFill>
                  <a:schemeClr val="accent5">
                    <a:hueOff val="-82419"/>
                    <a:satOff val="-9511"/>
                    <a:lumOff val="-16341"/>
                  </a:schemeClr>
                </a:solidFill>
              </a:rPr>
              <a:t>′</a:t>
            </a:r>
            <a:r>
              <a:rPr b="1" i="1">
                <a:solidFill>
                  <a:schemeClr val="accent5">
                    <a:hueOff val="-82419"/>
                    <a:satOff val="-9511"/>
                    <a:lumOff val="-16341"/>
                  </a:schemeClr>
                </a:solidFill>
              </a:rPr>
              <a:t>g</a:t>
            </a:r>
            <a:r>
              <a:rPr sz="955" b="1" i="1">
                <a:solidFill>
                  <a:schemeClr val="accent5">
                    <a:hueOff val="-82419"/>
                    <a:satOff val="-9511"/>
                    <a:lumOff val="-16341"/>
                  </a:schemeClr>
                </a:solidFill>
              </a:rPr>
              <a:t> </a:t>
            </a:r>
            <a:r>
              <a:rPr b="1">
                <a:solidFill>
                  <a:schemeClr val="accent5">
                    <a:hueOff val="-82419"/>
                    <a:satOff val="-9511"/>
                    <a:lumOff val="-16341"/>
                  </a:schemeClr>
                </a:solidFill>
              </a:rPr>
              <a:t>′</a:t>
            </a:r>
            <a:endParaRPr b="1">
              <a:solidFill>
                <a:schemeClr val="accent5">
                  <a:hueOff val="-82419"/>
                  <a:satOff val="-9511"/>
                  <a:lumOff val="-16341"/>
                </a:schemeClr>
              </a:solidFill>
            </a:endParaRPr>
          </a:p>
        </p:txBody>
      </p:sp>
    </p:spTree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A Regra do Produto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A Regra do Produto</a:t>
            </a:r>
          </a:p>
        </p:txBody>
      </p:sp>
      <p:sp>
        <p:nvSpPr>
          <p:cNvPr id="407" name="A fórmula correta foi descoberta por Leibniz (logo depois de tentar a fórmula falsa) - Regra do Produto…"/>
          <p:cNvSpPr txBox="1"/>
          <p:nvPr>
            <p:ph type="body" sz="half" idx="1"/>
          </p:nvPr>
        </p:nvSpPr>
        <p:spPr>
          <a:xfrm>
            <a:off x="952500" y="2590800"/>
            <a:ext cx="11099800" cy="3277165"/>
          </a:xfrm>
          <a:prstGeom prst="rect">
            <a:avLst/>
          </a:prstGeom>
        </p:spPr>
        <p:txBody>
          <a:bodyPr anchor="t"/>
          <a:lstStyle/>
          <a:p>
            <a:r>
              <a:t>A fórmula correta foi descoberta por Leibniz (logo depois de tentar a fórmula falsa) - Regra do Produto </a:t>
            </a:r>
            <a:endParaRPr sz="1100"/>
          </a:p>
          <a:p>
            <a:r>
              <a:t>Começamos assumindo que u</a:t>
            </a:r>
            <a:r>
              <a:rPr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= </a:t>
            </a:r>
            <a:r>
              <a:t>f</a:t>
            </a:r>
            <a:r>
              <a:rPr sz="500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sz="500"/>
              <a:t> </a:t>
            </a:r>
            <a:r>
              <a:rPr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(</a:t>
            </a:r>
            <a:r>
              <a:t>x</a:t>
            </a:r>
            <a:r>
              <a:rPr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)</a:t>
            </a:r>
            <a:r>
              <a:t> </a:t>
            </a:r>
            <a:r>
              <a:rPr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e </a:t>
            </a:r>
            <a:r>
              <a:t>v</a:t>
            </a:r>
            <a:r>
              <a:rPr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= </a:t>
            </a:r>
            <a:r>
              <a:t>g</a:t>
            </a:r>
            <a:r>
              <a:rPr sz="500"/>
              <a:t> </a:t>
            </a:r>
            <a:r>
              <a:rPr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(</a:t>
            </a:r>
            <a:r>
              <a:t>x</a:t>
            </a:r>
            <a:r>
              <a:rPr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)</a:t>
            </a:r>
            <a:r>
              <a:t> </a:t>
            </a:r>
            <a:r>
              <a:rPr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são ambas funções positivas deriváveis.  Então podemos interpretar o produto </a:t>
            </a:r>
            <a:r>
              <a:t>uv</a:t>
            </a:r>
            <a:r>
              <a:rPr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como uma área de uma retângulo</a:t>
            </a:r>
            <a:endParaRPr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08" name="Geometria da Regra do Produto"/>
          <p:cNvSpPr txBox="1"/>
          <p:nvPr/>
        </p:nvSpPr>
        <p:spPr>
          <a:xfrm>
            <a:off x="4487333" y="8832426"/>
            <a:ext cx="4043681" cy="389271"/>
          </a:xfrm>
          <a:prstGeom prst="rect">
            <a:avLst/>
          </a:prstGeom>
          <a:ln w="12700">
            <a:miter lim="400000"/>
          </a:ln>
        </p:spPr>
        <p:txBody>
          <a:bodyPr lIns="65023" tIns="65023" rIns="65023" bIns="65023">
            <a:spAutoFit/>
          </a:bodyPr>
          <a:lstStyle>
            <a:lvl1pPr defTabSz="1300480">
              <a:defRPr sz="1800" b="0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</a:lstStyle>
          <a:p>
            <a:r>
              <a:t>Geometria da Regra do Produto</a:t>
            </a:r>
          </a:p>
        </p:txBody>
      </p:sp>
      <p:pic>
        <p:nvPicPr>
          <p:cNvPr id="409" name="Picture47" descr="Picture4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65226" y="6394026"/>
            <a:ext cx="3887895" cy="2298419"/>
          </a:xfrm>
          <a:prstGeom prst="rect">
            <a:avLst/>
          </a:prstGeom>
          <a:ln w="12700">
            <a:miter lim="400000"/>
            <a:headEnd/>
            <a:tailEnd/>
          </a:ln>
        </p:spPr>
      </p:pic>
    </p:spTree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A Regra do Produto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A Regra do Produto</a:t>
            </a:r>
          </a:p>
        </p:txBody>
      </p:sp>
      <p:sp>
        <p:nvSpPr>
          <p:cNvPr id="412" name="Se x variar uma quantidade Δx, as variações correspondentes então em u e v são…"/>
          <p:cNvSpPr txBox="1"/>
          <p:nvPr>
            <p:ph type="body" sz="half" idx="1"/>
          </p:nvPr>
        </p:nvSpPr>
        <p:spPr>
          <a:xfrm>
            <a:off x="952500" y="2590800"/>
            <a:ext cx="7085839" cy="6286500"/>
          </a:xfrm>
          <a:prstGeom prst="rect">
            <a:avLst/>
          </a:prstGeom>
        </p:spPr>
        <p:txBody>
          <a:bodyPr/>
          <a:lstStyle/>
          <a:p>
            <a:pPr>
              <a:defRPr sz="2400"/>
            </a:pPr>
            <a:r>
              <a:t>Se </a:t>
            </a:r>
            <a:r>
              <a:rPr i="1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x </a:t>
            </a:r>
            <a:r>
              <a:t>variar uma quantidade </a:t>
            </a:r>
            <a:r>
              <a:rPr>
                <a:latin typeface="Symbol" panose="05050102010706020507"/>
                <a:ea typeface="Symbol" panose="05050102010706020507"/>
                <a:cs typeface="Symbol" panose="05050102010706020507"/>
                <a:sym typeface="Symbol" panose="05050102010706020507"/>
              </a:rPr>
              <a:t>D</a:t>
            </a:r>
            <a:r>
              <a:rPr i="1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x</a:t>
            </a:r>
            <a:r>
              <a:t>, as variações correspondentes então em </a:t>
            </a:r>
            <a:r>
              <a:rPr i="1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u </a:t>
            </a:r>
            <a:r>
              <a:t>e </a:t>
            </a:r>
            <a:r>
              <a:rPr i="1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v</a:t>
            </a:r>
            <a:r>
              <a:t> são</a:t>
            </a:r>
          </a:p>
          <a:p>
            <a:pPr marL="0" indent="0">
              <a:buSzTx/>
              <a:buNone/>
              <a:defRPr sz="2400"/>
            </a:pPr>
            <a:r>
              <a:rPr>
                <a:latin typeface="Symbol" panose="05050102010706020507"/>
                <a:ea typeface="Symbol" panose="05050102010706020507"/>
                <a:cs typeface="Symbol" panose="05050102010706020507"/>
                <a:sym typeface="Symbol" panose="05050102010706020507"/>
              </a:rPr>
              <a:t>D</a:t>
            </a:r>
            <a:r>
              <a:rPr i="1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u = f </a:t>
            </a:r>
            <a:r>
              <a:t>(</a:t>
            </a:r>
            <a:r>
              <a:rPr i="1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x </a:t>
            </a:r>
            <a:r>
              <a:t>+</a:t>
            </a:r>
            <a:r>
              <a:rPr i="1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>
                <a:latin typeface="Symbol" panose="05050102010706020507"/>
                <a:ea typeface="Symbol" panose="05050102010706020507"/>
                <a:cs typeface="Symbol" panose="05050102010706020507"/>
                <a:sym typeface="Symbol" panose="05050102010706020507"/>
              </a:rPr>
              <a:t>D</a:t>
            </a:r>
            <a:r>
              <a:rPr i="1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x</a:t>
            </a:r>
            <a:r>
              <a:t>)</a:t>
            </a:r>
            <a:r>
              <a:rPr i="1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– f </a:t>
            </a:r>
            <a:r>
              <a:t>(</a:t>
            </a:r>
            <a:r>
              <a:rPr i="1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x</a:t>
            </a:r>
            <a:r>
              <a:t>),       </a:t>
            </a:r>
            <a:r>
              <a:rPr>
                <a:latin typeface="Symbol" panose="05050102010706020507"/>
                <a:ea typeface="Symbol" panose="05050102010706020507"/>
                <a:cs typeface="Symbol" panose="05050102010706020507"/>
                <a:sym typeface="Symbol" panose="05050102010706020507"/>
              </a:rPr>
              <a:t>D</a:t>
            </a:r>
            <a:r>
              <a:rPr i="1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v = g </a:t>
            </a:r>
            <a:r>
              <a:t>(</a:t>
            </a:r>
            <a:r>
              <a:rPr i="1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x </a:t>
            </a:r>
            <a:r>
              <a:t>+</a:t>
            </a:r>
            <a:r>
              <a:rPr i="1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>
                <a:latin typeface="Symbol" panose="05050102010706020507"/>
                <a:ea typeface="Symbol" panose="05050102010706020507"/>
                <a:cs typeface="Symbol" panose="05050102010706020507"/>
                <a:sym typeface="Symbol" panose="05050102010706020507"/>
              </a:rPr>
              <a:t>D</a:t>
            </a:r>
            <a:r>
              <a:rPr i="1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x</a:t>
            </a:r>
            <a:r>
              <a:t>)</a:t>
            </a:r>
            <a:r>
              <a:rPr i="1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– g </a:t>
            </a:r>
            <a:r>
              <a:t>(</a:t>
            </a:r>
            <a:r>
              <a:rPr i="1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x</a:t>
            </a:r>
            <a:r>
              <a:t>)</a:t>
            </a:r>
          </a:p>
          <a:p>
            <a:pPr marL="0" indent="0">
              <a:buSzTx/>
              <a:buNone/>
              <a:defRPr sz="2400"/>
            </a:pPr>
            <a:r>
              <a:t>e o novo valor do produto, (</a:t>
            </a:r>
            <a:r>
              <a:rPr i="1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u + </a:t>
            </a:r>
            <a:r>
              <a:rPr>
                <a:latin typeface="Symbol" panose="05050102010706020507"/>
                <a:ea typeface="Symbol" panose="05050102010706020507"/>
                <a:cs typeface="Symbol" panose="05050102010706020507"/>
                <a:sym typeface="Symbol" panose="05050102010706020507"/>
              </a:rPr>
              <a:t>D</a:t>
            </a:r>
            <a:r>
              <a:rPr i="1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u</a:t>
            </a:r>
            <a:r>
              <a:t>)(</a:t>
            </a:r>
            <a:r>
              <a:rPr i="1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v + </a:t>
            </a:r>
            <a:r>
              <a:rPr>
                <a:latin typeface="Symbol" panose="05050102010706020507"/>
                <a:ea typeface="Symbol" panose="05050102010706020507"/>
                <a:cs typeface="Symbol" panose="05050102010706020507"/>
                <a:sym typeface="Symbol" panose="05050102010706020507"/>
              </a:rPr>
              <a:t>D</a:t>
            </a:r>
            <a:r>
              <a:rPr i="1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v</a:t>
            </a:r>
            <a:r>
              <a:t>), pode ser interpretado como a área do retângulo maior</a:t>
            </a:r>
            <a:br/>
          </a:p>
          <a:p>
            <a:pPr>
              <a:defRPr sz="2400"/>
            </a:pPr>
            <a:r>
              <a:t>A variação na área do retângulo é</a:t>
            </a:r>
          </a:p>
          <a:p>
            <a:pPr marL="0" indent="0">
              <a:buSzTx/>
              <a:buNone/>
              <a:defRPr sz="2400"/>
            </a:pPr>
            <a:r>
              <a:t>Δ(</a:t>
            </a:r>
            <a:r>
              <a:rPr i="1"/>
              <a:t>uv</a:t>
            </a:r>
            <a:r>
              <a:t>)</a:t>
            </a:r>
            <a:r>
              <a:rPr i="1"/>
              <a:t> </a:t>
            </a:r>
            <a:r>
              <a:t>=</a:t>
            </a:r>
            <a:r>
              <a:rPr i="1"/>
              <a:t> </a:t>
            </a:r>
            <a:r>
              <a:t>(</a:t>
            </a:r>
            <a:r>
              <a:rPr i="1"/>
              <a:t>u </a:t>
            </a:r>
            <a:r>
              <a:t>+</a:t>
            </a:r>
            <a:r>
              <a:rPr i="1"/>
              <a:t> </a:t>
            </a:r>
            <a:r>
              <a:t>Δ</a:t>
            </a:r>
            <a:r>
              <a:rPr i="1"/>
              <a:t>u</a:t>
            </a:r>
            <a:r>
              <a:t>)(</a:t>
            </a:r>
            <a:r>
              <a:rPr i="1"/>
              <a:t>v </a:t>
            </a:r>
            <a:r>
              <a:t>+</a:t>
            </a:r>
            <a:r>
              <a:rPr i="1"/>
              <a:t> </a:t>
            </a:r>
            <a:r>
              <a:t>Δ</a:t>
            </a:r>
            <a:r>
              <a:rPr i="1"/>
              <a:t>v</a:t>
            </a:r>
            <a:r>
              <a:t>) –</a:t>
            </a:r>
            <a:r>
              <a:rPr i="1"/>
              <a:t> uv </a:t>
            </a:r>
            <a:r>
              <a:t>=</a:t>
            </a:r>
            <a:r>
              <a:rPr i="1"/>
              <a:t> u </a:t>
            </a:r>
            <a:r>
              <a:t>Δ</a:t>
            </a:r>
            <a:r>
              <a:rPr i="1"/>
              <a:t>v </a:t>
            </a:r>
            <a:r>
              <a:t>+</a:t>
            </a:r>
            <a:r>
              <a:rPr i="1"/>
              <a:t> v </a:t>
            </a:r>
            <a:r>
              <a:t>Δ</a:t>
            </a:r>
            <a:r>
              <a:rPr i="1"/>
              <a:t>u </a:t>
            </a:r>
            <a:r>
              <a:t>+</a:t>
            </a:r>
            <a:r>
              <a:rPr i="1"/>
              <a:t> </a:t>
            </a:r>
            <a:r>
              <a:t>Δ</a:t>
            </a:r>
            <a:r>
              <a:rPr i="1"/>
              <a:t>u </a:t>
            </a:r>
            <a:r>
              <a:t>Δ</a:t>
            </a:r>
            <a:r>
              <a:rPr i="1"/>
              <a:t>v  </a:t>
            </a:r>
            <a:r>
              <a:t> </a:t>
            </a:r>
            <a:br/>
            <a:r>
              <a:t>         =  a soma das três sombreadas</a:t>
            </a:r>
          </a:p>
        </p:txBody>
      </p:sp>
      <p:pic>
        <p:nvPicPr>
          <p:cNvPr id="413" name="Picture47" descr="Picture4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5831" y="4584841"/>
            <a:ext cx="3887894" cy="2298418"/>
          </a:xfrm>
          <a:prstGeom prst="rect">
            <a:avLst/>
          </a:prstGeom>
          <a:ln w="12700">
            <a:miter lim="400000"/>
            <a:headEnd/>
            <a:tailEnd/>
          </a:ln>
        </p:spPr>
      </p:pic>
    </p:spTree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A Regra do Produto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A Regra do Produto</a:t>
            </a:r>
          </a:p>
        </p:txBody>
      </p:sp>
      <p:sp>
        <p:nvSpPr>
          <p:cNvPr id="416" name="Se dividirmos por Δx, obtemos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 anchor="t"/>
          <a:lstStyle/>
          <a:p>
            <a:pPr marL="0" indent="0">
              <a:buSzTx/>
              <a:buNone/>
            </a:pPr>
            <a:r>
              <a:t>Se dividirmos por </a:t>
            </a:r>
            <a:r>
              <a:rPr>
                <a:latin typeface="Symbol" panose="05050102010706020507"/>
                <a:ea typeface="Symbol" panose="05050102010706020507"/>
                <a:cs typeface="Symbol" panose="05050102010706020507"/>
                <a:sym typeface="Symbol" panose="05050102010706020507"/>
              </a:rPr>
              <a:t>D</a:t>
            </a:r>
            <a:r>
              <a:rPr i="1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x</a:t>
            </a:r>
            <a:r>
              <a:t>, obtemos</a:t>
            </a:r>
          </a:p>
          <a:p>
            <a:pPr marL="0" indent="0">
              <a:buSzTx/>
              <a:buNone/>
              <a:defRPr sz="2800"/>
            </a:pPr>
          </a:p>
          <a:p>
            <a:pPr marL="0" indent="0">
              <a:buSzTx/>
              <a:buNone/>
            </a:pPr>
            <a:r>
              <a:t>Se fizermos </a:t>
            </a:r>
            <a:r>
              <a:rPr>
                <a:latin typeface="Symbol" panose="05050102010706020507"/>
                <a:ea typeface="Symbol" panose="05050102010706020507"/>
                <a:cs typeface="Symbol" panose="05050102010706020507"/>
                <a:sym typeface="Symbol" panose="05050102010706020507"/>
              </a:rPr>
              <a:t>D</a:t>
            </a:r>
            <a:r>
              <a:rPr i="1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x </a:t>
            </a:r>
            <a:r>
              <a:rPr>
                <a:latin typeface="Symbol" panose="05050102010706020507"/>
                <a:ea typeface="Symbol" panose="05050102010706020507"/>
                <a:cs typeface="Symbol" panose="05050102010706020507"/>
                <a:sym typeface="Symbol" panose="05050102010706020507"/>
              </a:rPr>
              <a:t>® </a:t>
            </a:r>
            <a:r>
              <a:t>0, obteremos a derivada de </a:t>
            </a:r>
            <a:r>
              <a:rPr i="1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uv</a:t>
            </a:r>
            <a:r>
              <a:t>:</a:t>
            </a:r>
          </a:p>
        </p:txBody>
      </p:sp>
      <p:pic>
        <p:nvPicPr>
          <p:cNvPr id="417" name="image.tif" descr="image.tif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61314" y="3466898"/>
            <a:ext cx="4882171" cy="103486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418" name="image.png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3266" y="5331094"/>
            <a:ext cx="7818268" cy="295930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grpSp>
        <p:nvGrpSpPr>
          <p:cNvPr id="421" name="image.png"/>
          <p:cNvGrpSpPr/>
          <p:nvPr/>
        </p:nvGrpSpPr>
        <p:grpSpPr>
          <a:xfrm>
            <a:off x="7653019" y="8105023"/>
            <a:ext cx="5090995" cy="1603587"/>
            <a:chOff x="0" y="0"/>
            <a:chExt cx="5090993" cy="1603586"/>
          </a:xfrm>
        </p:grpSpPr>
        <p:pic>
          <p:nvPicPr>
            <p:cNvPr id="420" name="image.png" descr="image.png"/>
            <p:cNvPicPr>
              <a:picLocks noChangeAspect="1"/>
            </p:cNvPicPr>
            <p:nvPr/>
          </p:nvPicPr>
          <p:blipFill>
            <a:blip r:embed="rId3"/>
            <a:srcRect l="24378"/>
            <a:stretch>
              <a:fillRect/>
            </a:stretch>
          </p:blipFill>
          <p:spPr>
            <a:xfrm>
              <a:off x="127000" y="88900"/>
              <a:ext cx="4836994" cy="1273387"/>
            </a:xfrm>
            <a:prstGeom prst="rect">
              <a:avLst/>
            </a:prstGeom>
            <a:ln>
              <a:noFill/>
            </a:ln>
            <a:effectLst/>
          </p:spPr>
        </p:pic>
        <p:pic>
          <p:nvPicPr>
            <p:cNvPr id="419" name="image.png" descr="image.png"/>
            <p:cNvPicPr/>
            <p:nvPr/>
          </p:nvPicPr>
          <p:blipFill>
            <a:blip r:embed="rId4"/>
            <a:stretch>
              <a:fillRect/>
            </a:stretch>
          </p:blipFill>
          <p:spPr>
            <a:xfrm>
              <a:off x="-1" y="0"/>
              <a:ext cx="5090995" cy="1603587"/>
            </a:xfrm>
            <a:prstGeom prst="rect">
              <a:avLst/>
            </a:prstGeom>
            <a:effectLst/>
          </p:spPr>
        </p:pic>
      </p:grpSp>
    </p:spTree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A Regra do Produto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A Regra do Produto</a:t>
            </a:r>
          </a:p>
        </p:txBody>
      </p:sp>
      <p:sp>
        <p:nvSpPr>
          <p:cNvPr id="424" name="A Regra do Produto diz que a derivada de um produto de duas funções é a primeira função vezes a derivada da segunda função mais a segunda função vezes a derivada da primeira função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0" indent="0" defTabSz="525780">
              <a:spcBef>
                <a:spcPts val="3700"/>
              </a:spcBef>
              <a:buSzTx/>
              <a:buNone/>
              <a:defRPr sz="2880" i="1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pPr>
            <a:endParaRPr i="0"/>
          </a:p>
          <a:p>
            <a:pPr marL="0" indent="0" defTabSz="525780">
              <a:spcBef>
                <a:spcPts val="3700"/>
              </a:spcBef>
              <a:buSzTx/>
              <a:buNone/>
              <a:defRPr sz="2880"/>
            </a:pPr>
            <a:endParaRPr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indent="0" defTabSz="525780">
              <a:spcBef>
                <a:spcPts val="3700"/>
              </a:spcBef>
              <a:buSzTx/>
              <a:buNone/>
              <a:defRPr sz="2880"/>
            </a:pPr>
            <a:endParaRPr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indent="0" defTabSz="525780">
              <a:spcBef>
                <a:spcPts val="3700"/>
              </a:spcBef>
              <a:buSzTx/>
              <a:buNone/>
              <a:defRPr sz="2880"/>
            </a:pPr>
            <a:endParaRPr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indent="0" defTabSz="525780">
              <a:spcBef>
                <a:spcPts val="3700"/>
              </a:spcBef>
              <a:buSzTx/>
              <a:buNone/>
              <a:defRPr sz="2880"/>
            </a:pPr>
            <a:endParaRPr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indent="0" defTabSz="525780">
              <a:spcBef>
                <a:spcPts val="3700"/>
              </a:spcBef>
              <a:buSzTx/>
              <a:buNone/>
              <a:defRPr sz="2880"/>
            </a:pPr>
            <a:r>
              <a:rPr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</a:t>
            </a:r>
            <a:r>
              <a:t> Regra do Produto diz que</a:t>
            </a:r>
            <a:r>
              <a:rPr i="1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a derivada de um produto de duas funções é a primeira função vezes a derivada da segunda função mais a segunda função vezes a derivada da primeira função</a:t>
            </a:r>
            <a:endParaRPr i="1"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25" name="Regra do Produto: Se f e g são ambos deriváveis, então"/>
              <p:cNvSpPr txBox="1"/>
              <p:nvPr/>
            </p:nvSpPr>
            <p:spPr>
              <a:xfrm>
                <a:off x="1072360" y="4631102"/>
                <a:ext cx="11099800" cy="1180590"/>
              </a:xfrm>
              <a:prstGeom prst="rect">
                <a:avLst/>
              </a:prstGeom>
              <a:solidFill>
                <a:schemeClr val="accent1"/>
              </a:solidFill>
              <a:ln w="12700">
                <a:miter lim="400000"/>
              </a:ln>
            </p:spPr>
            <p:txBody>
              <a:bodyPr lIns="50800" tIns="50800" rIns="50800" bIns="50800" anchor="ctr">
                <a:spAutoFit/>
              </a:bodyPr>
              <a:lstStyle/>
              <a:p>
                <a:pPr>
                  <a:defRPr sz="2200" b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r>
                  <a:rPr b="1">
                    <a:latin typeface="Helvetica Neue"/>
                    <a:ea typeface="Helvetica Neue"/>
                    <a:cs typeface="Helvetica Neue"/>
                    <a:sym typeface="Helvetica Neue"/>
                  </a:rPr>
                  <a:t>Regra do Produto: </a:t>
                </a:r>
                <a:r>
                  <a:t>Se f e g são ambos deriváveis, então</a:t>
                </a:r>
                <a:endParaRPr b="1">
                  <a:latin typeface="Helvetica Neue"/>
                  <a:ea typeface="Helvetica Neue"/>
                  <a:cs typeface="Helvetica Neue"/>
                  <a:sym typeface="Helvetica Neue"/>
                </a:endParaRPr>
              </a:p>
              <a:p>
                <a:pPr>
                  <a:defRPr sz="2200" b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14:m>
                  <m:oMath xmlns:m="http://schemas.openxmlformats.org/officeDocument/2006/math">
                    <m:f>
                      <m:fPr>
                        <m:ctrlPr>
                          <a:rPr sz="2650" i="1">
                            <a:solidFill>
                              <a:srgbClr val="FEFEFE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sz="2650" i="1">
                            <a:solidFill>
                              <a:srgbClr val="FEFEFE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sz="2650" i="1">
                            <a:solidFill>
                              <a:srgbClr val="FEFEFE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sz="2650" i="1">
                            <a:solidFill>
                              <a:srgbClr val="FEFEFE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sz="2650" i="1">
                        <a:solidFill>
                          <a:srgbClr val="FEFEFE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sz="2650" i="1">
                        <a:solidFill>
                          <a:srgbClr val="FEFEFE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sz="2650" i="1">
                        <a:solidFill>
                          <a:srgbClr val="FEFEFE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sz="2650" i="1">
                        <a:solidFill>
                          <a:srgbClr val="FEFEFE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sz="2650" i="1">
                        <a:solidFill>
                          <a:srgbClr val="FEFEFE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sz="2650" i="1">
                        <a:solidFill>
                          <a:srgbClr val="FEFEFE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a:rPr sz="2650" i="1">
                        <a:solidFill>
                          <a:srgbClr val="FEFEFE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sz="2650" i="1">
                        <a:solidFill>
                          <a:srgbClr val="FEFEFE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sz="2650" i="1">
                        <a:solidFill>
                          <a:srgbClr val="FEFEFE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sz="2650" i="1">
                        <a:solidFill>
                          <a:srgbClr val="FEFEFE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a:rPr sz="2650" i="1">
                        <a:solidFill>
                          <a:srgbClr val="FEFEFE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sz="2650" i="1">
                        <a:solidFill>
                          <a:srgbClr val="FEFEFE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sz="2650" i="1">
                        <a:solidFill>
                          <a:srgbClr val="FEFEFE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sz="2650" i="1">
                        <a:solidFill>
                          <a:srgbClr val="FEFEFE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sz="2650" i="1">
                        <a:solidFill>
                          <a:srgbClr val="FEFEFE"/>
                        </a:solidFill>
                        <a:latin typeface="Cambria Math" panose="02040503050406030204" pitchFamily="18" charset="0"/>
                      </a:rPr>
                      <m:t>)</m:t>
                    </m:r>
                    <m:f>
                      <m:fPr>
                        <m:ctrlPr>
                          <a:rPr sz="2650" i="1">
                            <a:solidFill>
                              <a:srgbClr val="FEFEFE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sz="2650" i="1">
                            <a:solidFill>
                              <a:srgbClr val="FEFEFE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sz="2650" i="1">
                            <a:solidFill>
                              <a:srgbClr val="FEFEFE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sz="2650" i="1">
                            <a:solidFill>
                              <a:srgbClr val="FEFEFE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sz="2650" i="1">
                        <a:solidFill>
                          <a:srgbClr val="FEFEFE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sz="2650" i="1">
                        <a:solidFill>
                          <a:srgbClr val="FEFEFE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a:rPr sz="2650" i="1">
                        <a:solidFill>
                          <a:srgbClr val="FEFEFE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sz="2650" i="1">
                        <a:solidFill>
                          <a:srgbClr val="FEFEFE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sz="2650" i="1">
                        <a:solidFill>
                          <a:srgbClr val="FEFEFE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sz="2650" i="1">
                        <a:solidFill>
                          <a:srgbClr val="FEFEFE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a:rPr sz="2650" i="1">
                        <a:solidFill>
                          <a:srgbClr val="FEFEFE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sz="2650" i="1">
                        <a:solidFill>
                          <a:srgbClr val="FEFEFE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a:rPr sz="2650" i="1">
                        <a:solidFill>
                          <a:srgbClr val="FEFEFE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sz="2650" i="1">
                        <a:solidFill>
                          <a:srgbClr val="FEFEFE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sz="2650" i="1">
                        <a:solidFill>
                          <a:srgbClr val="FEFEFE"/>
                        </a:solidFill>
                        <a:latin typeface="Cambria Math" panose="02040503050406030204" pitchFamily="18" charset="0"/>
                      </a:rPr>
                      <m:t>)</m:t>
                    </m:r>
                    <m:f>
                      <m:fPr>
                        <m:ctrlPr>
                          <a:rPr sz="2650" i="1">
                            <a:solidFill>
                              <a:srgbClr val="FEFEFE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sz="2650" i="1">
                            <a:solidFill>
                              <a:srgbClr val="FEFEFE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sz="2650" i="1">
                            <a:solidFill>
                              <a:srgbClr val="FEFEFE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sz="2650" i="1">
                            <a:solidFill>
                              <a:srgbClr val="FEFEFE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sz="2650" i="1">
                        <a:solidFill>
                          <a:srgbClr val="FEFEFE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sz="2650" i="1">
                        <a:solidFill>
                          <a:srgbClr val="FEFEFE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sz="2650" i="1">
                        <a:solidFill>
                          <a:srgbClr val="FEFEFE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sz="2650" i="1">
                        <a:solidFill>
                          <a:srgbClr val="FEFEFE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sz="2650" i="1">
                        <a:solidFill>
                          <a:srgbClr val="FEFEFE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sz="2650" i="1">
                        <a:solidFill>
                          <a:srgbClr val="FEFEFE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t> </a:t>
                </a:r>
              </a:p>
            </p:txBody>
          </p:sp>
        </mc:Choice>
        <mc:Fallback>
          <p:sp>
            <p:nvSpPr>
              <p:cNvPr id="425" name="Regra do Produto: Se f e g são ambos deriváveis, entã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2360" y="4631102"/>
                <a:ext cx="11099800" cy="1180590"/>
              </a:xfrm>
              <a:prstGeom prst="rect">
                <a:avLst/>
              </a:prstGeom>
              <a:blipFill rotWithShape="1">
                <a:blip r:embed="rId1"/>
                <a:stretch>
                  <a:fillRect l="-4" t="-4" r="4" b="15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pt-BR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A Regra do Produto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A Regra do Produto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28" name="Demonstração: Sejam f(x) e g(x) duas funções deriváveis em I=]a, b[. Provemos que a função y(x)=f(x).g(x) também é derivável em I…"/>
              <p:cNvSpPr txBox="1"/>
              <p:nvPr>
                <p:ph type="body" idx="1"/>
              </p:nvPr>
            </p:nvSpPr>
            <p:spPr>
              <a:prstGeom prst="rect">
                <a:avLst/>
              </a:prstGeom>
            </p:spPr>
            <p:txBody>
              <a:bodyPr anchor="t"/>
              <a:lstStyle/>
              <a:p>
                <a:pPr marL="337820" indent="-337820" defTabSz="443865">
                  <a:spcBef>
                    <a:spcPts val="3100"/>
                  </a:spcBef>
                  <a:defRPr sz="2430"/>
                </a:pPr>
                <a:r>
                  <a:rPr b="1"/>
                  <a:t>Demonstração: </a:t>
                </a:r>
                <a:r>
                  <a:t>Sejam f(x) e g(x) duas </a:t>
                </a:r>
                <a:r>
                  <a:rPr b="1">
                    <a:solidFill>
                      <a:schemeClr val="accent5">
                        <a:hueOff val="-82419"/>
                        <a:satOff val="-9511"/>
                        <a:lumOff val="-16341"/>
                      </a:schemeClr>
                    </a:solidFill>
                  </a:rPr>
                  <a:t>funções deriváveis</a:t>
                </a:r>
                <a:r>
                  <a:t> em I=]a, b[. Provemos que a função y(x)=f(x).g(x) também é derivável em I</a:t>
                </a:r>
              </a:p>
              <a:p>
                <a:pPr marL="0" indent="0" defTabSz="443865">
                  <a:spcBef>
                    <a:spcPts val="3100"/>
                  </a:spcBef>
                  <a:buSzTx/>
                  <a:buNone/>
                  <a:defRPr sz="2430"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sz="29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sz="29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sz="29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sz="29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sz="29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sz="29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sz="29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sz="29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ℎ</m:t>
                      </m:r>
                      <m:r>
                        <a:rPr sz="29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sz="29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sz="29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sz="29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sz="29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sz="29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sz="29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sz="29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sz="29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sz="29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sz="29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sz="29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ℎ</m:t>
                      </m:r>
                      <m:r>
                        <a:rPr sz="29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sz="29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sz="29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sz="29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sz="29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sz="29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ℎ</m:t>
                      </m:r>
                      <m:r>
                        <a:rPr sz="29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sz="29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sz="29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sz="29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sz="29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sz="29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sz="29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sz="29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sz="29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sz="29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sz="29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</a:p>
              <a:p>
                <a:pPr marL="0" indent="0" defTabSz="443865">
                  <a:spcBef>
                    <a:spcPts val="3100"/>
                  </a:spcBef>
                  <a:buSzTx/>
                  <a:buNone/>
                  <a:defRPr sz="2430"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sz="29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sz="29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sz="29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sz="29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sz="29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sz="29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ℎ</m:t>
                      </m:r>
                      <m:r>
                        <a:rPr sz="29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sz="29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sz="29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sz="29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sz="29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sz="29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ℎ</m:t>
                      </m:r>
                      <m:r>
                        <a:rPr sz="29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sz="29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sz="29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sz="29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sz="29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sz="29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sz="29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sz="29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sz="29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sz="29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sz="29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ℎ</m:t>
                      </m:r>
                      <m:r>
                        <a:rPr sz="29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sz="29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sz="29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sz="29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sz="29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sz="29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sz="29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sz="29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sz="29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sz="29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sz="29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ℎ</m:t>
                      </m:r>
                      <m:r>
                        <a:rPr sz="29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sz="29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sz="29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sz="29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sz="29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sz="29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sz="29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sz="29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sz="29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sz="29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sz="29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</a:p>
              <a:p>
                <a:pPr marL="0" indent="0" defTabSz="443865">
                  <a:spcBef>
                    <a:spcPts val="3100"/>
                  </a:spcBef>
                  <a:buSzTx/>
                  <a:buNone/>
                  <a:defRPr sz="2430"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sz="29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sz="29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sz="29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sz="29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sz="29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sz="29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sz="29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ℎ</m:t>
                      </m:r>
                      <m:r>
                        <a:rPr sz="29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sz="29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sz="29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sz="29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sz="29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sz="29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sz="29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]</m:t>
                      </m:r>
                      <m:r>
                        <a:rPr sz="29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sz="29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sz="29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sz="29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sz="29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ℎ</m:t>
                      </m:r>
                      <m:r>
                        <a:rPr sz="29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sz="29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sz="29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sz="29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sz="29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sz="29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sz="29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sz="29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sz="29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sz="29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sz="29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sz="29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ℎ</m:t>
                      </m:r>
                      <m:r>
                        <a:rPr sz="29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sz="29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sz="29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sz="29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sz="29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sz="29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sz="29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]</m:t>
                      </m:r>
                      <m:r>
                        <a:rPr sz="29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</a:p>
              <a:p>
                <a:pPr marL="0" indent="0" defTabSz="443865">
                  <a:spcBef>
                    <a:spcPts val="3100"/>
                  </a:spcBef>
                  <a:buSzTx/>
                  <a:buNone/>
                  <a:defRPr sz="2430"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sz="3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sz="3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sz="3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sz="3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sz="3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sz="3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sz="3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sz="3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sz="3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ℎ</m:t>
                      </m:r>
                      <m:r>
                        <a:rPr sz="3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sz="3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sz="3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sz="3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sz="3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sz="3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sz="3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m:rPr>
                          <m:sty m:val="p"/>
                        </m:rPr>
                        <a:rPr sz="3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sz="3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</m:oMath>
                  </m:oMathPara>
                </a14:m>
              </a:p>
              <a:p>
                <a:pPr marL="0" indent="0" defTabSz="443865">
                  <a:spcBef>
                    <a:spcPts val="3100"/>
                  </a:spcBef>
                  <a:buSzTx/>
                  <a:buNone/>
                  <a:defRPr sz="2430"/>
                </a:pPr>
                <a:r>
                  <a:t>Então,</a:t>
                </a:r>
              </a:p>
              <a:p>
                <a:pPr marL="0" indent="0" algn="ctr" defTabSz="443865">
                  <a:spcBef>
                    <a:spcPts val="3100"/>
                  </a:spcBef>
                  <a:buSzTx/>
                  <a:buNone/>
                  <a:defRPr sz="2430"/>
                </a:pPr>
                <a14:m>
                  <m:oMath xmlns:m="http://schemas.openxmlformats.org/officeDocument/2006/math">
                    <m:sSup>
                      <m:sSupPr>
                        <m:ctrlPr>
                          <a:rPr/>
                        </m:ctrlPr>
                      </m:sSupPr>
                      <m:e>
                        <m:r>
                          <a:rPr sz="29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sz="29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sz="29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sz="29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sz="29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sz="29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sz="29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𝑙</m:t>
                    </m:r>
                    <m:r>
                      <a:rPr sz="29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sSub>
                      <m:sSubPr>
                        <m:ctrlPr>
                          <a:rPr/>
                        </m:ctrlPr>
                      </m:sSubPr>
                      <m:e>
                        <m:r>
                          <a:rPr sz="29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sz="29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r>
                          <a:rPr sz="29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sz="29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f>
                      <m:fPr>
                        <m:ctrlPr>
                          <a:rPr sz="29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sz="29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 sz="29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sz="29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den>
                    </m:f>
                    <m:r>
                      <a:rPr sz="29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/>
                        </m:ctrlPr>
                      </m:sSupPr>
                      <m:e>
                        <m:r>
                          <a:rPr sz="29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sz="29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sz="29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sz="29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sz="29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sz="29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a:rPr sz="29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sz="29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sz="29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sz="29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sz="29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sz="29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sz="29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sz="29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sSupPr>
                        <m:ctrlPr>
                          <a:rPr/>
                        </m:ctrlPr>
                      </m:sSupPr>
                      <m:e>
                        <m:r>
                          <a:rPr sz="29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a:rPr sz="29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sz="29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sz="29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sz="29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t> </a:t>
                </a:r>
                <a:endParaRPr sz="3200"/>
              </a:p>
            </p:txBody>
          </p:sp>
        </mc:Choice>
        <mc:Fallback>
          <p:sp>
            <p:nvSpPr>
              <p:cNvPr id="428" name="Demonstração: Sejam f(x) e g(x) duas funções deriváveis em I=]a, b[. Provemos que a função y(x)=f(x).g(x) também é derivável em I…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prstGeom prst="rect">
                <a:avLst/>
              </a:prstGeom>
              <a:blipFill rotWithShape="1">
                <a:blip r:embed="rId1"/>
                <a:stretch>
                  <a:fillRect t="-697"/>
                </a:stretch>
              </a:blipFill>
            </p:spPr>
            <p:txBody>
              <a:bodyPr/>
              <a:lstStyle/>
              <a:p>
                <a:r>
                  <a:rPr lang="pt-BR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Exercício 4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Exercício 4</a:t>
            </a:r>
          </a:p>
        </p:txBody>
      </p:sp>
      <p:sp>
        <p:nvSpPr>
          <p:cNvPr id="431" name="Exercício:  (a) Se f (x) = xex, encontre f ′(x). (b) Encontre n-ésima derivada, f (n)(x)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 anchor="t"/>
          <a:lstStyle/>
          <a:p>
            <a:pPr marL="0" indent="0">
              <a:buSzTx/>
              <a:buNone/>
            </a:pPr>
            <a:r>
              <a:rPr b="1">
                <a:solidFill>
                  <a:schemeClr val="accent5">
                    <a:hueOff val="-82419"/>
                    <a:satOff val="-9511"/>
                    <a:lumOff val="-16341"/>
                  </a:schemeClr>
                </a:solidFill>
              </a:rPr>
              <a:t>Exercício: </a:t>
            </a:r>
            <a:br>
              <a:rPr b="1">
                <a:solidFill>
                  <a:schemeClr val="accent5">
                    <a:hueOff val="-82419"/>
                    <a:satOff val="-9511"/>
                    <a:lumOff val="-16341"/>
                  </a:schemeClr>
                </a:solidFill>
              </a:rPr>
            </a:br>
            <a:r>
              <a:t>(a) Se </a:t>
            </a:r>
            <a:r>
              <a:rPr i="1"/>
              <a:t>f</a:t>
            </a:r>
            <a:r>
              <a:rPr sz="1100" i="1"/>
              <a:t> </a:t>
            </a:r>
            <a:r>
              <a:t>(</a:t>
            </a:r>
            <a:r>
              <a:rPr i="1"/>
              <a:t>x</a:t>
            </a:r>
            <a:r>
              <a:t>) = </a:t>
            </a:r>
            <a:r>
              <a:rPr i="1"/>
              <a:t>xe</a:t>
            </a:r>
            <a:r>
              <a:rPr i="1" baseline="31000"/>
              <a:t>x</a:t>
            </a:r>
            <a:r>
              <a:t>, encontre </a:t>
            </a:r>
            <a:r>
              <a:rPr i="1"/>
              <a:t>f</a:t>
            </a:r>
            <a:r>
              <a:rPr sz="1100" i="1"/>
              <a:t> </a:t>
            </a:r>
            <a:r>
              <a:t>′(</a:t>
            </a:r>
            <a:r>
              <a:rPr i="1"/>
              <a:t>x</a:t>
            </a:r>
            <a:r>
              <a:t>)</a:t>
            </a:r>
            <a:r>
              <a:rPr i="1"/>
              <a:t>.</a:t>
            </a:r>
            <a:br>
              <a:rPr i="1"/>
            </a:br>
            <a:r>
              <a:t>(b) Encontre </a:t>
            </a:r>
            <a:r>
              <a:rPr i="1"/>
              <a:t>n</a:t>
            </a:r>
            <a:r>
              <a:t>-ésima</a:t>
            </a:r>
            <a:r>
              <a:rPr i="1"/>
              <a:t> </a:t>
            </a:r>
            <a:r>
              <a:t>derivada, </a:t>
            </a:r>
            <a:r>
              <a:rPr i="1"/>
              <a:t>f</a:t>
            </a:r>
            <a:r>
              <a:rPr sz="500" i="1"/>
              <a:t> </a:t>
            </a:r>
            <a:r>
              <a:rPr baseline="31000"/>
              <a:t>(</a:t>
            </a:r>
            <a:r>
              <a:rPr i="1" baseline="31000"/>
              <a:t>n</a:t>
            </a:r>
            <a:r>
              <a:rPr baseline="31000"/>
              <a:t>)</a:t>
            </a:r>
            <a:r>
              <a:t>(</a:t>
            </a:r>
            <a:r>
              <a:rPr i="1"/>
              <a:t>x</a:t>
            </a:r>
            <a:r>
              <a:t>)</a:t>
            </a:r>
          </a:p>
          <a:p>
            <a:pPr marL="0" indent="0">
              <a:buSzTx/>
              <a:buNone/>
            </a:pPr>
            <a:r>
              <a:rPr b="1">
                <a:solidFill>
                  <a:schemeClr val="accent5">
                    <a:hueOff val="-82419"/>
                    <a:satOff val="-9511"/>
                    <a:lumOff val="-16341"/>
                  </a:schemeClr>
                </a:solidFill>
              </a:rPr>
              <a:t>Solução: </a:t>
            </a:r>
            <a:br>
              <a:rPr b="1">
                <a:solidFill>
                  <a:schemeClr val="accent5">
                    <a:hueOff val="-82419"/>
                    <a:satOff val="-9511"/>
                    <a:lumOff val="-16341"/>
                  </a:schemeClr>
                </a:solidFill>
              </a:rPr>
            </a:br>
            <a:r>
              <a:t>(a) Pela Regra do Produto, temos</a:t>
            </a:r>
          </a:p>
        </p:txBody>
      </p:sp>
      <p:grpSp>
        <p:nvGrpSpPr>
          <p:cNvPr id="436" name="Grupo"/>
          <p:cNvGrpSpPr/>
          <p:nvPr/>
        </p:nvGrpSpPr>
        <p:grpSpPr>
          <a:xfrm>
            <a:off x="4330836" y="6199840"/>
            <a:ext cx="4343128" cy="3105275"/>
            <a:chOff x="0" y="0"/>
            <a:chExt cx="4343127" cy="3105274"/>
          </a:xfrm>
        </p:grpSpPr>
        <p:pic>
          <p:nvPicPr>
            <p:cNvPr id="432" name="image.tif" descr="image.tif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0" y="0"/>
              <a:ext cx="2555512" cy="1033910"/>
            </a:xfrm>
            <a:prstGeom prst="rect">
              <a:avLst/>
            </a:prstGeom>
            <a:ln w="12700" cap="flat">
              <a:noFill/>
              <a:miter lim="400000"/>
              <a:headEnd/>
              <a:tailEnd/>
            </a:ln>
            <a:effectLst/>
          </p:spPr>
        </p:pic>
        <p:pic>
          <p:nvPicPr>
            <p:cNvPr id="433" name="image.png" descr="image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96957" y="1191743"/>
              <a:ext cx="3332274" cy="977161"/>
            </a:xfrm>
            <a:prstGeom prst="rect">
              <a:avLst/>
            </a:prstGeom>
            <a:ln w="12700" cap="flat">
              <a:noFill/>
              <a:miter lim="400000"/>
              <a:headEnd/>
              <a:tailEnd/>
            </a:ln>
            <a:effectLst/>
          </p:spPr>
        </p:pic>
        <p:pic>
          <p:nvPicPr>
            <p:cNvPr id="434" name="image.png" descr="image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67894" y="2596300"/>
              <a:ext cx="1911757" cy="508975"/>
            </a:xfrm>
            <a:prstGeom prst="rect">
              <a:avLst/>
            </a:prstGeom>
            <a:ln w="12700" cap="flat">
              <a:noFill/>
              <a:miter lim="400000"/>
              <a:headEnd/>
              <a:tailEnd/>
            </a:ln>
            <a:effectLst/>
          </p:spPr>
        </p:pic>
        <p:pic>
          <p:nvPicPr>
            <p:cNvPr id="435" name="image.png" descr="image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697385" y="2695611"/>
              <a:ext cx="1645743" cy="402569"/>
            </a:xfrm>
            <a:prstGeom prst="rect">
              <a:avLst/>
            </a:prstGeom>
            <a:ln w="12700" cap="flat">
              <a:noFill/>
              <a:miter lim="400000"/>
              <a:headEnd/>
              <a:tailEnd/>
            </a:ln>
            <a:effectLst/>
          </p:spPr>
        </p:pic>
      </p:grp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dur="indefinite" fill="hold"/>
                                        <p:tgtEl>
                                          <p:spTgt spid="4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1000"/>
                                        <p:tgtEl>
                                          <p:spTgt spid="4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9" presetClass="entr" presetSubtype="0" fill="hold" grpId="2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dur="indefinite" fill="hold"/>
                                        <p:tgtEl>
                                          <p:spTgt spid="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1000"/>
                                        <p:tgtEl>
                                          <p:spTgt spid="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6" grpId="2" animBg="1" advAuto="0"/>
      <p:bldP spid="431" grpId="1" animBg="1" advAuto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Exercício 4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Exercício 4</a:t>
            </a:r>
          </a:p>
        </p:txBody>
      </p:sp>
      <p:sp>
        <p:nvSpPr>
          <p:cNvPr id="439" name="(b) Usando a Regra do Produto uma segunda vez, obtemos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 anchor="t"/>
          <a:lstStyle>
            <a:lvl1pPr marL="0" indent="0">
              <a:buSzTx/>
              <a:buNone/>
            </a:lvl1pPr>
          </a:lstStyle>
          <a:p>
            <a:r>
              <a:t>(b) Usando a Regra do Produto uma segunda vez, obtemos</a:t>
            </a:r>
          </a:p>
        </p:txBody>
      </p:sp>
      <p:grpSp>
        <p:nvGrpSpPr>
          <p:cNvPr id="444" name="Grupo"/>
          <p:cNvGrpSpPr/>
          <p:nvPr/>
        </p:nvGrpSpPr>
        <p:grpSpPr>
          <a:xfrm>
            <a:off x="3237653" y="4647026"/>
            <a:ext cx="6529494" cy="3151859"/>
            <a:chOff x="0" y="0"/>
            <a:chExt cx="6529493" cy="3151858"/>
          </a:xfrm>
        </p:grpSpPr>
        <p:pic>
          <p:nvPicPr>
            <p:cNvPr id="440" name="image.tif" descr="image.tif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0" y="0"/>
              <a:ext cx="4068516" cy="984392"/>
            </a:xfrm>
            <a:prstGeom prst="rect">
              <a:avLst/>
            </a:prstGeom>
            <a:ln w="12700" cap="flat">
              <a:noFill/>
              <a:miter lim="400000"/>
              <a:headEnd/>
              <a:tailEnd/>
            </a:ln>
            <a:effectLst/>
          </p:spPr>
        </p:pic>
        <p:pic>
          <p:nvPicPr>
            <p:cNvPr id="441" name="image.tif" descr="image.tif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62470" y="1092764"/>
              <a:ext cx="5667024" cy="1047610"/>
            </a:xfrm>
            <a:prstGeom prst="rect">
              <a:avLst/>
            </a:prstGeom>
            <a:ln w="12700" cap="flat">
              <a:noFill/>
              <a:miter lim="400000"/>
              <a:headEnd/>
              <a:tailEnd/>
            </a:ln>
            <a:effectLst/>
          </p:spPr>
        </p:pic>
        <p:pic>
          <p:nvPicPr>
            <p:cNvPr id="442" name="image.png" descr="image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62470" y="2650630"/>
              <a:ext cx="3431824" cy="501228"/>
            </a:xfrm>
            <a:prstGeom prst="rect">
              <a:avLst/>
            </a:prstGeom>
            <a:ln w="12700" cap="flat">
              <a:noFill/>
              <a:miter lim="400000"/>
              <a:headEnd/>
              <a:tailEnd/>
            </a:ln>
            <a:effectLst/>
          </p:spPr>
        </p:pic>
        <p:pic>
          <p:nvPicPr>
            <p:cNvPr id="443" name="image.pdf" descr="image.pdf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330417" y="2609991"/>
              <a:ext cx="2059094" cy="541868"/>
            </a:xfrm>
            <a:prstGeom prst="rect">
              <a:avLst/>
            </a:prstGeom>
            <a:ln w="12700" cap="flat">
              <a:noFill/>
              <a:miter lim="400000"/>
              <a:headEnd/>
              <a:tailEnd/>
            </a:ln>
            <a:effectLst/>
          </p:spPr>
        </p:pic>
      </p:grpSp>
    </p:spTree>
  </p:cSld>
  <p:clrMapOvr>
    <a:masterClrMapping/>
  </p:clrMapOvr>
  <p:transition spd="med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Exercício 4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Exercício 4</a:t>
            </a:r>
          </a:p>
        </p:txBody>
      </p:sp>
      <p:sp>
        <p:nvSpPr>
          <p:cNvPr id="447" name="Aplicações subsequentes da Regra do Produto nos dão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0" indent="0">
              <a:buSzTx/>
              <a:buNone/>
            </a:pPr>
            <a:r>
              <a:t>Aplicações subsequentes da Regra do Produto nos dão</a:t>
            </a:r>
          </a:p>
          <a:p>
            <a:pPr marL="0" indent="0">
              <a:buSzTx/>
              <a:buNone/>
              <a:defRPr sz="2200"/>
            </a:pPr>
          </a:p>
          <a:p>
            <a:pPr marL="0" indent="0">
              <a:buSzTx/>
              <a:buNone/>
              <a:defRPr i="1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pPr>
            <a:r>
              <a:t>              f</a:t>
            </a:r>
            <a:r>
              <a:rPr sz="1100"/>
              <a:t> </a:t>
            </a:r>
            <a:r>
              <a:rPr i="0">
                <a:latin typeface="Symbol" panose="05050102010706020507"/>
                <a:ea typeface="Symbol" panose="05050102010706020507"/>
                <a:cs typeface="Symbol" panose="05050102010706020507"/>
                <a:sym typeface="Symbol" panose="05050102010706020507"/>
              </a:rPr>
              <a:t>¢¢¢</a:t>
            </a:r>
            <a:r>
              <a:rPr i="0"/>
              <a:t>(</a:t>
            </a:r>
            <a:r>
              <a:t>x</a:t>
            </a:r>
            <a:r>
              <a:rPr i="0"/>
              <a:t>) = (</a:t>
            </a:r>
            <a:r>
              <a:t>x</a:t>
            </a:r>
            <a:r>
              <a:rPr i="0"/>
              <a:t> + 3)</a:t>
            </a:r>
            <a:r>
              <a:t>e</a:t>
            </a:r>
            <a:r>
              <a:rPr baseline="31000"/>
              <a:t>x,                  </a:t>
            </a:r>
            <a:r>
              <a:t>f</a:t>
            </a:r>
            <a:r>
              <a:rPr sz="500"/>
              <a:t> </a:t>
            </a:r>
            <a:r>
              <a:rPr i="0" baseline="31000"/>
              <a:t>(4)</a:t>
            </a:r>
            <a:r>
              <a:rPr i="0"/>
              <a:t>(</a:t>
            </a:r>
            <a:r>
              <a:t>x</a:t>
            </a:r>
            <a:r>
              <a:rPr i="0"/>
              <a:t>) = (</a:t>
            </a:r>
            <a:r>
              <a:t>x</a:t>
            </a:r>
            <a:r>
              <a:rPr i="0"/>
              <a:t> + 4)</a:t>
            </a:r>
            <a:r>
              <a:t>e</a:t>
            </a:r>
            <a:r>
              <a:rPr baseline="31000"/>
              <a:t>x</a:t>
            </a:r>
            <a:endParaRPr baseline="31000"/>
          </a:p>
          <a:p>
            <a:pPr marL="0" indent="0">
              <a:buSzTx/>
              <a:buNone/>
              <a:defRPr sz="2200"/>
            </a:pPr>
          </a:p>
          <a:p>
            <a:pPr marL="0" indent="0">
              <a:buSzTx/>
              <a:buNone/>
            </a:pPr>
            <a:r>
              <a:t>Na realidade, cada derivação sucessiva adiciona outro termo </a:t>
            </a:r>
            <a:r>
              <a:rPr i="1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e</a:t>
            </a:r>
            <a:r>
              <a:rPr i="1" baseline="31000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x</a:t>
            </a:r>
            <a:r>
              <a:t>, logo</a:t>
            </a:r>
            <a:endParaRPr sz="2200"/>
          </a:p>
          <a:p>
            <a:pPr marL="0" indent="0">
              <a:buSzTx/>
              <a:buNone/>
              <a:defRPr i="1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pPr>
            <a:r>
              <a:t>                                  </a:t>
            </a:r>
            <a:r>
              <a:rPr b="1">
                <a:solidFill>
                  <a:schemeClr val="accent5">
                    <a:hueOff val="-82419"/>
                    <a:satOff val="-9511"/>
                    <a:lumOff val="-16341"/>
                  </a:schemeClr>
                </a:solidFill>
              </a:rPr>
              <a:t>f</a:t>
            </a:r>
            <a:r>
              <a:rPr sz="500" b="1">
                <a:solidFill>
                  <a:schemeClr val="accent5">
                    <a:hueOff val="-82419"/>
                    <a:satOff val="-9511"/>
                    <a:lumOff val="-16341"/>
                  </a:schemeClr>
                </a:solidFill>
              </a:rPr>
              <a:t> </a:t>
            </a:r>
            <a:r>
              <a:rPr b="1" i="0" baseline="31000">
                <a:solidFill>
                  <a:schemeClr val="accent5">
                    <a:hueOff val="-82419"/>
                    <a:satOff val="-9511"/>
                    <a:lumOff val="-16341"/>
                  </a:schemeClr>
                </a:solidFill>
              </a:rPr>
              <a:t>(</a:t>
            </a:r>
            <a:r>
              <a:rPr b="1" baseline="31000">
                <a:solidFill>
                  <a:schemeClr val="accent5">
                    <a:hueOff val="-82419"/>
                    <a:satOff val="-9511"/>
                    <a:lumOff val="-16341"/>
                  </a:schemeClr>
                </a:solidFill>
              </a:rPr>
              <a:t>n</a:t>
            </a:r>
            <a:r>
              <a:rPr b="1" i="0" baseline="31000">
                <a:solidFill>
                  <a:schemeClr val="accent5">
                    <a:hueOff val="-82419"/>
                    <a:satOff val="-9511"/>
                    <a:lumOff val="-16341"/>
                  </a:schemeClr>
                </a:solidFill>
              </a:rPr>
              <a:t>)</a:t>
            </a:r>
            <a:r>
              <a:rPr b="1" i="0">
                <a:solidFill>
                  <a:schemeClr val="accent5">
                    <a:hueOff val="-82419"/>
                    <a:satOff val="-9511"/>
                    <a:lumOff val="-16341"/>
                  </a:schemeClr>
                </a:solidFill>
              </a:rPr>
              <a:t>(</a:t>
            </a:r>
            <a:r>
              <a:rPr b="1">
                <a:solidFill>
                  <a:schemeClr val="accent5">
                    <a:hueOff val="-82419"/>
                    <a:satOff val="-9511"/>
                    <a:lumOff val="-16341"/>
                  </a:schemeClr>
                </a:solidFill>
              </a:rPr>
              <a:t>x</a:t>
            </a:r>
            <a:r>
              <a:rPr b="1" i="0">
                <a:solidFill>
                  <a:schemeClr val="accent5">
                    <a:hueOff val="-82419"/>
                    <a:satOff val="-9511"/>
                    <a:lumOff val="-16341"/>
                  </a:schemeClr>
                </a:solidFill>
              </a:rPr>
              <a:t>) = (</a:t>
            </a:r>
            <a:r>
              <a:rPr b="1">
                <a:solidFill>
                  <a:schemeClr val="accent5">
                    <a:hueOff val="-82419"/>
                    <a:satOff val="-9511"/>
                    <a:lumOff val="-16341"/>
                  </a:schemeClr>
                </a:solidFill>
              </a:rPr>
              <a:t>x </a:t>
            </a:r>
            <a:r>
              <a:rPr b="1" i="0">
                <a:solidFill>
                  <a:schemeClr val="accent5">
                    <a:hueOff val="-82419"/>
                    <a:satOff val="-9511"/>
                    <a:lumOff val="-16341"/>
                  </a:schemeClr>
                </a:solidFill>
              </a:rPr>
              <a:t>+</a:t>
            </a:r>
            <a:r>
              <a:rPr b="1">
                <a:solidFill>
                  <a:schemeClr val="accent5">
                    <a:hueOff val="-82419"/>
                    <a:satOff val="-9511"/>
                    <a:lumOff val="-16341"/>
                  </a:schemeClr>
                </a:solidFill>
              </a:rPr>
              <a:t> n</a:t>
            </a:r>
            <a:r>
              <a:rPr b="1" i="0">
                <a:solidFill>
                  <a:schemeClr val="accent5">
                    <a:hueOff val="-82419"/>
                    <a:satOff val="-9511"/>
                    <a:lumOff val="-16341"/>
                  </a:schemeClr>
                </a:solidFill>
              </a:rPr>
              <a:t>)</a:t>
            </a:r>
            <a:r>
              <a:rPr b="1">
                <a:solidFill>
                  <a:schemeClr val="accent5">
                    <a:hueOff val="-82419"/>
                    <a:satOff val="-9511"/>
                    <a:lumOff val="-16341"/>
                  </a:schemeClr>
                </a:solidFill>
              </a:rPr>
              <a:t>e</a:t>
            </a:r>
            <a:r>
              <a:rPr b="1" baseline="31000">
                <a:solidFill>
                  <a:schemeClr val="accent5">
                    <a:hueOff val="-82419"/>
                    <a:satOff val="-9511"/>
                    <a:lumOff val="-16341"/>
                  </a:schemeClr>
                </a:solidFill>
              </a:rPr>
              <a:t>x</a:t>
            </a:r>
            <a:endParaRPr b="1" baseline="31000">
              <a:solidFill>
                <a:schemeClr val="accent5">
                  <a:hueOff val="-82419"/>
                  <a:satOff val="-9511"/>
                  <a:lumOff val="-16341"/>
                </a:schemeClr>
              </a:solidFill>
            </a:endParaRPr>
          </a:p>
        </p:txBody>
      </p:sp>
    </p:spTree>
  </p:cSld>
  <p:clrMapOvr>
    <a:masterClrMapping/>
  </p:clrMapOvr>
  <p:transition spd="med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9" name="Imagem" descr="Imagem"/>
          <p:cNvPicPr>
            <a:picLocks noChangeAspect="1"/>
          </p:cNvPicPr>
          <p:nvPr>
            <p:ph type="pic" idx="13"/>
          </p:nvPr>
        </p:nvPicPr>
        <p:blipFill>
          <a:blip r:embed="rId1"/>
          <a:srcRect l="2929" r="2929"/>
          <a:stretch>
            <a:fillRect/>
          </a:stretch>
        </p:blipFill>
        <p:spPr>
          <a:xfrm>
            <a:off x="0" y="0"/>
            <a:ext cx="13004800" cy="9753600"/>
          </a:xfrm>
          <a:prstGeom prst="rect">
            <a:avLst/>
          </a:prstGeom>
        </p:spPr>
      </p:pic>
      <p:sp>
        <p:nvSpPr>
          <p:cNvPr id="450" name="REGRA DO QUOCIENTE"/>
          <p:cNvSpPr txBox="1"/>
          <p:nvPr/>
        </p:nvSpPr>
        <p:spPr>
          <a:xfrm>
            <a:off x="2764789" y="4447859"/>
            <a:ext cx="7475221" cy="857882"/>
          </a:xfrm>
          <a:prstGeom prst="rect">
            <a:avLst/>
          </a:prstGeom>
          <a:solidFill>
            <a:srgbClr val="929292"/>
          </a:solidFill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>
            <a:lvl1pPr>
              <a:defRPr sz="5000">
                <a:solidFill>
                  <a:srgbClr val="FFFFFF"/>
                </a:solidFill>
              </a:defRPr>
            </a:lvl1pPr>
          </a:lstStyle>
          <a:p>
            <a:r>
              <a:t>REGRA DO QUOCIENTE</a:t>
            </a:r>
          </a:p>
        </p:txBody>
      </p:sp>
    </p:spTree>
  </p:cSld>
  <p:clrMapOvr>
    <a:masterClrMapping/>
  </p:clrMapOvr>
  <p:transition spd="med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A Regra do Quocient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A Regra do Quociente</a:t>
            </a:r>
          </a:p>
        </p:txBody>
      </p:sp>
      <p:sp>
        <p:nvSpPr>
          <p:cNvPr id="453" name="Sejam duas funções diferenciáveis u = f (x) e v = g (x)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 anchor="t"/>
          <a:lstStyle/>
          <a:p>
            <a:r>
              <a:t>Sejam duas funções diferenciáveis </a:t>
            </a:r>
            <a:r>
              <a:rPr i="1"/>
              <a:t>u</a:t>
            </a:r>
            <a:r>
              <a:t> = </a:t>
            </a:r>
            <a:r>
              <a:rPr i="1"/>
              <a:t>f</a:t>
            </a:r>
            <a:r>
              <a:rPr sz="1100"/>
              <a:t> </a:t>
            </a:r>
            <a:r>
              <a:t>(</a:t>
            </a:r>
            <a:r>
              <a:rPr i="1"/>
              <a:t>x</a:t>
            </a:r>
            <a:r>
              <a:t>) e </a:t>
            </a:r>
            <a:r>
              <a:rPr i="1"/>
              <a:t>v</a:t>
            </a:r>
            <a:r>
              <a:t> = </a:t>
            </a:r>
            <a:r>
              <a:rPr i="1"/>
              <a:t>g</a:t>
            </a:r>
            <a:r>
              <a:rPr sz="500" i="1"/>
              <a:t> </a:t>
            </a:r>
            <a:r>
              <a:t>(</a:t>
            </a:r>
            <a:r>
              <a:rPr i="1"/>
              <a:t>x</a:t>
            </a:r>
            <a:r>
              <a:t>) </a:t>
            </a:r>
          </a:p>
          <a:p>
            <a:r>
              <a:t>Se </a:t>
            </a:r>
            <a:r>
              <a:rPr i="1"/>
              <a:t>x</a:t>
            </a:r>
            <a:r>
              <a:t>, </a:t>
            </a:r>
            <a:r>
              <a:rPr i="1"/>
              <a:t>u</a:t>
            </a:r>
            <a:r>
              <a:t>, e </a:t>
            </a:r>
            <a:r>
              <a:rPr i="1"/>
              <a:t>v </a:t>
            </a:r>
            <a:r>
              <a:t>variam em quantidades Δ</a:t>
            </a:r>
            <a:r>
              <a:rPr i="1"/>
              <a:t>x</a:t>
            </a:r>
            <a:r>
              <a:t>, Δ</a:t>
            </a:r>
            <a:r>
              <a:rPr i="1"/>
              <a:t>u</a:t>
            </a:r>
            <a:r>
              <a:t> e Δ</a:t>
            </a:r>
            <a:r>
              <a:rPr i="1"/>
              <a:t>v</a:t>
            </a:r>
            <a:r>
              <a:t>, então a correspondente variação no quociente </a:t>
            </a:r>
            <a:r>
              <a:rPr i="1"/>
              <a:t>u</a:t>
            </a:r>
            <a:r>
              <a:t>/</a:t>
            </a:r>
            <a:r>
              <a:rPr i="1"/>
              <a:t>v</a:t>
            </a:r>
            <a:r>
              <a:t> será</a:t>
            </a:r>
          </a:p>
        </p:txBody>
      </p:sp>
      <p:grpSp>
        <p:nvGrpSpPr>
          <p:cNvPr id="456" name="Grupo"/>
          <p:cNvGrpSpPr/>
          <p:nvPr/>
        </p:nvGrpSpPr>
        <p:grpSpPr>
          <a:xfrm>
            <a:off x="2218266" y="5789733"/>
            <a:ext cx="8568268" cy="2799645"/>
            <a:chOff x="0" y="0"/>
            <a:chExt cx="8568266" cy="2799644"/>
          </a:xfrm>
        </p:grpSpPr>
        <p:pic>
          <p:nvPicPr>
            <p:cNvPr id="454" name="image.png" descr="image.png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0" y="0"/>
              <a:ext cx="8568267" cy="1404338"/>
            </a:xfrm>
            <a:prstGeom prst="rect">
              <a:avLst/>
            </a:prstGeom>
            <a:ln w="12700" cap="flat">
              <a:noFill/>
              <a:miter lim="400000"/>
              <a:headEnd/>
              <a:tailEnd/>
            </a:ln>
            <a:effectLst/>
          </p:spPr>
        </p:pic>
        <p:pic>
          <p:nvPicPr>
            <p:cNvPr id="455" name="image.tif" descr="image.tif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264355" y="1733973"/>
              <a:ext cx="2587415" cy="1065672"/>
            </a:xfrm>
            <a:prstGeom prst="rect">
              <a:avLst/>
            </a:prstGeom>
            <a:ln w="12700" cap="flat">
              <a:noFill/>
              <a:miter lim="400000"/>
              <a:headEnd/>
              <a:tailEnd/>
            </a:ln>
            <a:effectLst/>
          </p:spPr>
        </p:pic>
      </p:grpSp>
      <p:sp>
        <p:nvSpPr>
          <p:cNvPr id="457" name="≈Regra do Produto"/>
          <p:cNvSpPr txBox="1"/>
          <p:nvPr/>
        </p:nvSpPr>
        <p:spPr>
          <a:xfrm rot="1200000">
            <a:off x="10307282" y="2306351"/>
            <a:ext cx="2578329" cy="436396"/>
          </a:xfrm>
          <a:prstGeom prst="rect">
            <a:avLst/>
          </a:prstGeom>
          <a:solidFill>
            <a:schemeClr val="accent6"/>
          </a:solidFill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>
            <a:lvl1pPr>
              <a:defRPr sz="2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lvl1pPr>
          </a:lstStyle>
          <a:p>
            <a:r>
              <a:t>≈Regra do Produto</a:t>
            </a:r>
          </a:p>
        </p:txBody>
      </p:sp>
    </p:spTree>
  </p:cSld>
  <p:clrMapOvr>
    <a:masterClrMapping/>
  </p:clrMapOvr>
  <p:transition spd="med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A Regra do Quocient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A Regra do Quociente</a:t>
            </a:r>
          </a:p>
        </p:txBody>
      </p:sp>
      <p:sp>
        <p:nvSpPr>
          <p:cNvPr id="460" name="logo,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 anchor="t"/>
          <a:lstStyle/>
          <a:p>
            <a:pPr marL="0" indent="0">
              <a:buSzTx/>
              <a:buNone/>
            </a:pPr>
            <a:r>
              <a:t>logo,</a:t>
            </a:r>
          </a:p>
          <a:p>
            <a:pPr marL="0" indent="0">
              <a:buSzTx/>
              <a:buNone/>
            </a:pPr>
          </a:p>
          <a:p>
            <a:pPr marL="0" indent="0">
              <a:buSzTx/>
              <a:buNone/>
            </a:pPr>
            <a:r>
              <a:t>Como Δ</a:t>
            </a:r>
            <a:r>
              <a:rPr i="1"/>
              <a:t>x </a:t>
            </a:r>
            <a:r>
              <a:t>→ 0, Δ</a:t>
            </a:r>
            <a:r>
              <a:rPr i="1"/>
              <a:t>v </a:t>
            </a:r>
            <a:r>
              <a:t>→ 0 também, pois </a:t>
            </a:r>
            <a:r>
              <a:rPr i="1"/>
              <a:t>v</a:t>
            </a:r>
            <a:r>
              <a:t> = </a:t>
            </a:r>
            <a:r>
              <a:rPr i="1"/>
              <a:t>g</a:t>
            </a:r>
            <a:r>
              <a:rPr sz="500" i="1"/>
              <a:t> </a:t>
            </a:r>
            <a:r>
              <a:t>(</a:t>
            </a:r>
            <a:r>
              <a:rPr i="1"/>
              <a:t>x</a:t>
            </a:r>
            <a:r>
              <a:t>) é derivável e, portanto, contínua. Logo, usando Propriedades dos Limites, obtemos</a:t>
            </a:r>
          </a:p>
        </p:txBody>
      </p:sp>
      <p:pic>
        <p:nvPicPr>
          <p:cNvPr id="461" name="image.tif" descr="image.tif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13279" y="6610773"/>
            <a:ext cx="8724055" cy="1794934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462" name="image.png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6702" y="2686755"/>
            <a:ext cx="6755272" cy="1539806"/>
          </a:xfrm>
          <a:prstGeom prst="rect">
            <a:avLst/>
          </a:prstGeom>
          <a:ln w="12700">
            <a:miter lim="400000"/>
            <a:headEnd/>
            <a:tailEnd/>
          </a:ln>
        </p:spPr>
      </p:pic>
    </p:spTree>
  </p:cSld>
  <p:clrMapOvr>
    <a:masterClrMapping/>
  </p:clrMapOvr>
  <p:transition spd="med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A Regra do Quocient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A Regra do Quociente</a:t>
            </a:r>
          </a:p>
        </p:txBody>
      </p:sp>
      <p:sp>
        <p:nvSpPr>
          <p:cNvPr id="465" name="A Regra do Quociente diz que a derivada de um quociente é o denominador vezes a derivada do numerador menos o numerador vezes a derivada do denominador, todos divididos pelo quadrado do denominador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 anchor="b"/>
          <a:lstStyle/>
          <a:p>
            <a:pPr marL="0" indent="0">
              <a:buSzTx/>
              <a:buNone/>
            </a:pPr>
            <a:r>
              <a:t>A Regra do Quociente diz que </a:t>
            </a:r>
            <a:r>
              <a:rPr i="1"/>
              <a:t>a derivada de um quociente é o denominador vezes a derivada do numerador menos o numerador vezes a derivada do denominador, todos divididos pelo quadrado do denominador</a:t>
            </a:r>
            <a:endParaRPr i="1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66" name="Regra do Quociente: Se f e g são ambas deriváveis, então"/>
              <p:cNvSpPr txBox="1"/>
              <p:nvPr/>
            </p:nvSpPr>
            <p:spPr>
              <a:xfrm>
                <a:off x="952500" y="3979512"/>
                <a:ext cx="11099800" cy="1434997"/>
              </a:xfrm>
              <a:prstGeom prst="rect">
                <a:avLst/>
              </a:prstGeom>
              <a:solidFill>
                <a:schemeClr val="accent1"/>
              </a:solidFill>
              <a:ln w="12700">
                <a:miter lim="400000"/>
              </a:ln>
            </p:spPr>
            <p:txBody>
              <a:bodyPr lIns="50800" tIns="50800" rIns="50800" bIns="50800" anchor="ctr">
                <a:spAutoFit/>
              </a:bodyPr>
              <a:lstStyle/>
              <a:p>
                <a:pPr>
                  <a:defRPr sz="2200" b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r>
                  <a:rPr b="1">
                    <a:latin typeface="Helvetica Neue"/>
                    <a:ea typeface="Helvetica Neue"/>
                    <a:cs typeface="Helvetica Neue"/>
                    <a:sym typeface="Helvetica Neue"/>
                  </a:rPr>
                  <a:t>Regra do Quociente: </a:t>
                </a:r>
                <a:r>
                  <a:t>Se f e g são ambas deriváveis, então</a:t>
                </a:r>
                <a:endParaRPr b="1">
                  <a:latin typeface="Helvetica Neue"/>
                  <a:ea typeface="Helvetica Neue"/>
                  <a:cs typeface="Helvetica Neue"/>
                  <a:sym typeface="Helvetica Neue"/>
                </a:endParaRPr>
              </a:p>
              <a:p>
                <a:pPr>
                  <a:defRPr sz="2200" b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14:m>
                  <m:oMath xmlns:m="http://schemas.openxmlformats.org/officeDocument/2006/math">
                    <m:f>
                      <m:fPr>
                        <m:ctrlPr>
                          <a:rPr sz="2600" i="1">
                            <a:solidFill>
                              <a:srgbClr val="FEFEFE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sz="2600" i="1">
                            <a:solidFill>
                              <a:srgbClr val="FEFEFE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sz="2600" i="1">
                            <a:solidFill>
                              <a:srgbClr val="FEFEFE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sz="2600" i="1">
                            <a:solidFill>
                              <a:srgbClr val="FEFEFE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sz="2600" i="1">
                        <a:solidFill>
                          <a:srgbClr val="FEFEFE"/>
                        </a:solidFill>
                        <a:latin typeface="Cambria Math" panose="02040503050406030204" pitchFamily="18" charset="0"/>
                      </a:rPr>
                      <m:t>[</m:t>
                    </m:r>
                    <m:f>
                      <m:fPr>
                        <m:ctrlPr>
                          <a:rPr sz="2600" i="1">
                            <a:solidFill>
                              <a:srgbClr val="FEFEFE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sz="2600" i="1">
                            <a:solidFill>
                              <a:srgbClr val="FEFEFE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sz="2600" i="1">
                            <a:solidFill>
                              <a:srgbClr val="FEFEFE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sz="2600" i="1">
                            <a:solidFill>
                              <a:srgbClr val="FEFEFE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sz="2600" i="1">
                            <a:solidFill>
                              <a:srgbClr val="FEFEFE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sz="2600" i="1">
                            <a:solidFill>
                              <a:srgbClr val="FEFEFE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a:rPr sz="2600" i="1">
                            <a:solidFill>
                              <a:srgbClr val="FEFEFE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sz="2600" i="1">
                            <a:solidFill>
                              <a:srgbClr val="FEFEFE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sz="2600" i="1">
                            <a:solidFill>
                              <a:srgbClr val="FEFEFE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a:rPr sz="2600" i="1">
                        <a:solidFill>
                          <a:srgbClr val="FEFEFE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a:rPr sz="2600" i="1">
                        <a:solidFill>
                          <a:srgbClr val="FEFEFE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sz="2600" i="1">
                            <a:solidFill>
                              <a:srgbClr val="FEFEFE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sz="2600" i="1">
                            <a:solidFill>
                              <a:srgbClr val="FEFEFE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a:rPr sz="2600" i="1">
                            <a:solidFill>
                              <a:srgbClr val="FEFEFE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sz="2600" i="1">
                            <a:solidFill>
                              <a:srgbClr val="FEFEFE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sz="2600" i="1">
                            <a:solidFill>
                              <a:srgbClr val="FEFEFE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f>
                          <m:fPr>
                            <m:ctrlPr>
                              <a:rPr sz="2600" i="1">
                                <a:solidFill>
                                  <a:srgbClr val="FEFEFE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sz="2600" i="1">
                                <a:solidFill>
                                  <a:srgbClr val="FEFEFE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num>
                          <m:den>
                            <m:r>
                              <a:rPr sz="2600" i="1">
                                <a:solidFill>
                                  <a:srgbClr val="FEFEFE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sz="2600" i="1">
                                <a:solidFill>
                                  <a:srgbClr val="FEFEFE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  <m:r>
                          <a:rPr sz="2600" i="1">
                            <a:solidFill>
                              <a:srgbClr val="FEFEFE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sz="2600" i="1">
                            <a:solidFill>
                              <a:srgbClr val="FEFEFE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sz="2600" i="1">
                            <a:solidFill>
                              <a:srgbClr val="FEFEFE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sz="2600" i="1">
                            <a:solidFill>
                              <a:srgbClr val="FEFEFE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sz="2600" i="1">
                            <a:solidFill>
                              <a:srgbClr val="FEFEFE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sz="2600" i="1">
                            <a:solidFill>
                              <a:srgbClr val="FEFEFE"/>
                            </a:solidFill>
                            <a:latin typeface="Cambria Math" panose="02040503050406030204" pitchFamily="18" charset="0"/>
                          </a:rPr>
                          <m:t>]</m:t>
                        </m:r>
                        <m:r>
                          <a:rPr sz="2600" i="1">
                            <a:solidFill>
                              <a:srgbClr val="FEFEFE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sz="2600" i="1">
                            <a:solidFill>
                              <a:srgbClr val="FEFEFE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sz="2600" i="1">
                            <a:solidFill>
                              <a:srgbClr val="FEFEFE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sz="2600" i="1">
                            <a:solidFill>
                              <a:srgbClr val="FEFEFE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sz="2600" i="1">
                            <a:solidFill>
                              <a:srgbClr val="FEFEFE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f>
                          <m:fPr>
                            <m:ctrlPr>
                              <a:rPr sz="2600" i="1">
                                <a:solidFill>
                                  <a:srgbClr val="FEFEFE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sz="2600" i="1">
                                <a:solidFill>
                                  <a:srgbClr val="FEFEFE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num>
                          <m:den>
                            <m:r>
                              <a:rPr sz="2600" i="1">
                                <a:solidFill>
                                  <a:srgbClr val="FEFEFE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sz="2600" i="1">
                                <a:solidFill>
                                  <a:srgbClr val="FEFEFE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  <m:r>
                          <a:rPr sz="2600" i="1">
                            <a:solidFill>
                              <a:srgbClr val="FEFEFE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sz="2600" i="1">
                            <a:solidFill>
                              <a:srgbClr val="FEFEFE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a:rPr sz="2600" i="1">
                            <a:solidFill>
                              <a:srgbClr val="FEFEFE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sz="2600" i="1">
                            <a:solidFill>
                              <a:srgbClr val="FEFEFE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sz="2600" i="1">
                            <a:solidFill>
                              <a:srgbClr val="FEFEFE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sz="2600" i="1">
                            <a:solidFill>
                              <a:srgbClr val="FEFEFE"/>
                            </a:solidFill>
                            <a:latin typeface="Cambria Math" panose="02040503050406030204" pitchFamily="18" charset="0"/>
                          </a:rPr>
                          <m:t>]</m:t>
                        </m:r>
                      </m:num>
                      <m:den>
                        <m:r>
                          <a:rPr sz="2600" i="1">
                            <a:solidFill>
                              <a:srgbClr val="FEFEFE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sz="2600" i="1">
                            <a:solidFill>
                              <a:srgbClr val="FEFEFE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a:rPr sz="2600" i="1">
                            <a:solidFill>
                              <a:srgbClr val="FEFEFE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sz="2600" i="1">
                            <a:solidFill>
                              <a:srgbClr val="FEFEFE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sz="2600" i="1">
                            <a:solidFill>
                              <a:srgbClr val="FEFEFE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sSup>
                          <m:sSupPr>
                            <m:ctrlPr>
                              <a:rPr/>
                            </m:ctrlPr>
                          </m:sSupPr>
                          <m:e>
                            <m:r>
                              <a:rPr sz="2600" i="1">
                                <a:solidFill>
                                  <a:srgbClr val="FEFEFE"/>
                                </a:solidFill>
                                <a:latin typeface="Cambria Math" panose="02040503050406030204" pitchFamily="18" charset="0"/>
                              </a:rPr>
                              <m:t>]</m:t>
                            </m:r>
                          </m:e>
                          <m:sup>
                            <m:r>
                              <a:rPr sz="2600" i="1">
                                <a:solidFill>
                                  <a:srgbClr val="FEFEFE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t> </a:t>
                </a:r>
              </a:p>
            </p:txBody>
          </p:sp>
        </mc:Choice>
        <mc:Fallback>
          <p:sp>
            <p:nvSpPr>
              <p:cNvPr id="466" name="Regra do Quociente: Se f e g são ambas deriváveis, entã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2500" y="3979512"/>
                <a:ext cx="11099800" cy="1434997"/>
              </a:xfrm>
              <a:prstGeom prst="rect">
                <a:avLst/>
              </a:prstGeom>
              <a:blipFill rotWithShape="1">
                <a:blip r:embed="rId1"/>
                <a:stretch>
                  <a:fillRect t="-42" b="35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pt-BR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Exercício 5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Exercício 5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69" name="Exercício: Determine a derivada de…"/>
              <p:cNvSpPr txBox="1"/>
              <p:nvPr>
                <p:ph type="body" idx="1"/>
              </p:nvPr>
            </p:nvSpPr>
            <p:spPr>
              <a:prstGeom prst="rect">
                <a:avLst/>
              </a:prstGeom>
            </p:spPr>
            <p:txBody>
              <a:bodyPr anchor="t"/>
              <a:lstStyle/>
              <a:p>
                <a:pPr marL="0" indent="0">
                  <a:buSzTx/>
                  <a:buNone/>
                </a:pPr>
                <a:r>
                  <a:rPr b="1">
                    <a:solidFill>
                      <a:schemeClr val="accent5">
                        <a:hueOff val="-82419"/>
                        <a:satOff val="-9511"/>
                        <a:lumOff val="-16341"/>
                      </a:schemeClr>
                    </a:solidFill>
                  </a:rPr>
                  <a:t>Exercício: </a:t>
                </a:r>
                <a:r>
                  <a:t>Determine a derivada de </a:t>
                </a:r>
                <a14:m>
                  <m:oMath xmlns:m="http://schemas.openxmlformats.org/officeDocument/2006/math">
                    <m:r>
                      <a:rPr sz="3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sz="3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sz="3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/>
                            </m:ctrlPr>
                          </m:sSupPr>
                          <m:e>
                            <m:r>
                              <a:rPr sz="3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sz="3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sz="3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sz="3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sz="3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sz="3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sSup>
                          <m:sSupPr>
                            <m:ctrlPr>
                              <a:rPr/>
                            </m:ctrlPr>
                          </m:sSupPr>
                          <m:e>
                            <m:r>
                              <a:rPr sz="3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sz="3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a:rPr sz="3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sz="3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</a:p>
              <a:p>
                <a:pPr marL="0" indent="0">
                  <a:buSzTx/>
                  <a:buNone/>
                  <a:defRPr b="1">
                    <a:solidFill>
                      <a:schemeClr val="accent5">
                        <a:hueOff val="-82419"/>
                        <a:satOff val="-9511"/>
                        <a:lumOff val="-16341"/>
                      </a:schemeClr>
                    </a:solidFill>
                  </a:defRPr>
                </a:pPr>
                <a:r>
                  <a:t>Solução:</a:t>
                </a:r>
              </a:p>
            </p:txBody>
          </p:sp>
        </mc:Choice>
        <mc:Fallback>
          <p:sp>
            <p:nvSpPr>
              <p:cNvPr id="469" name="Exercício: Determine a derivada de…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prstGeom prst="rect">
                <a:avLst/>
              </a:prstGeom>
              <a:blipFill rotWithShape="1">
                <a:blip r:embed="rId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74" name="Grupo"/>
          <p:cNvGrpSpPr/>
          <p:nvPr/>
        </p:nvGrpSpPr>
        <p:grpSpPr>
          <a:xfrm>
            <a:off x="2960145" y="4933229"/>
            <a:ext cx="7084510" cy="4418883"/>
            <a:chOff x="0" y="0"/>
            <a:chExt cx="7084508" cy="4418881"/>
          </a:xfrm>
        </p:grpSpPr>
        <p:pic>
          <p:nvPicPr>
            <p:cNvPr id="470" name="image.tif" descr="image.tif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7084509" cy="1198341"/>
            </a:xfrm>
            <a:prstGeom prst="rect">
              <a:avLst/>
            </a:prstGeom>
            <a:ln w="12700" cap="flat">
              <a:noFill/>
              <a:miter lim="400000"/>
              <a:headEnd/>
              <a:tailEnd/>
            </a:ln>
            <a:effectLst/>
          </p:spPr>
        </p:pic>
        <p:pic>
          <p:nvPicPr>
            <p:cNvPr id="471" name="image.png" descr="image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32355" y="1317493"/>
              <a:ext cx="4817195" cy="919183"/>
            </a:xfrm>
            <a:prstGeom prst="rect">
              <a:avLst/>
            </a:prstGeom>
            <a:ln w="12700" cap="flat">
              <a:noFill/>
              <a:miter lim="400000"/>
              <a:headEnd/>
              <a:tailEnd/>
            </a:ln>
            <a:effectLst/>
          </p:spPr>
        </p:pic>
        <p:pic>
          <p:nvPicPr>
            <p:cNvPr id="472" name="image.png" descr="image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80017" y="2452853"/>
              <a:ext cx="5450408" cy="857904"/>
            </a:xfrm>
            <a:prstGeom prst="rect">
              <a:avLst/>
            </a:prstGeom>
            <a:ln w="12700" cap="flat">
              <a:noFill/>
              <a:miter lim="400000"/>
              <a:headEnd/>
              <a:tailEnd/>
            </a:ln>
            <a:effectLst/>
          </p:spPr>
        </p:pic>
        <p:pic>
          <p:nvPicPr>
            <p:cNvPr id="473" name="image.tif" descr="image.tif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22142" y="3632470"/>
              <a:ext cx="3898013" cy="786412"/>
            </a:xfrm>
            <a:prstGeom prst="rect">
              <a:avLst/>
            </a:prstGeom>
            <a:ln w="12700" cap="flat">
              <a:noFill/>
              <a:miter lim="400000"/>
              <a:headEnd/>
              <a:tailEnd/>
            </a:ln>
            <a:effectLst/>
          </p:spPr>
        </p:pic>
      </p:grp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dur="indefinite" fill="hold"/>
                                        <p:tgtEl>
                                          <p:spTgt spid="4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1000"/>
                                        <p:tgtEl>
                                          <p:spTgt spid="4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9" presetClass="entr" presetSubtype="0" fill="hold" grpId="2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dur="indefinite" fill="hold"/>
                                        <p:tgtEl>
                                          <p:spTgt spid="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1000"/>
                                        <p:tgtEl>
                                          <p:spTgt spid="4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9" grpId="1" animBg="1" advAuto="0" build="p"/>
      <p:bldP spid="474" grpId="2" animBg="1" advAuto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Fórmulas de Derivação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Fórmulas de Derivação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77" name="Corpo"/>
              <p:cNvSpPr txBox="1"/>
              <p:nvPr>
                <p:ph type="body" idx="1"/>
              </p:nvPr>
            </p:nvSpPr>
            <p:spPr>
              <a:prstGeom prst="rect">
                <a:avLst/>
              </a:prstGeom>
            </p:spPr>
            <p:txBody>
              <a:bodyPr numCol="2" spcCol="554990" anchor="t"/>
              <a:lstStyle/>
              <a:p>
                <a:pPr marL="635000" indent="-635000">
                  <a:buSzPct val="100000"/>
                  <a:buAutoNum type="arabicPeriod"/>
                </a:pPr>
                <a14:m>
                  <m:oMath xmlns:m="http://schemas.openxmlformats.org/officeDocument/2006/math">
                    <m:f>
                      <m:fPr>
                        <m:ctrlPr>
                          <a:rPr sz="39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sz="39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sz="39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sz="39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sz="39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sz="39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sz="39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sz="39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sz="39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</a:p>
              <a:p>
                <a:pPr marL="635000" indent="-635000">
                  <a:buSzPct val="100000"/>
                  <a:buAutoNum type="arabicPeriod"/>
                </a:pPr>
                <a14:m>
                  <m:oMath xmlns:m="http://schemas.openxmlformats.org/officeDocument/2006/math">
                    <m:f>
                      <m:fPr>
                        <m:ctrlPr>
                          <a:rPr sz="39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sz="39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sz="39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sz="39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sz="39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/>
                        </m:ctrlPr>
                      </m:sSupPr>
                      <m:e>
                        <m:r>
                          <a:rPr sz="39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sz="39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sz="39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sz="39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sz="39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sSup>
                      <m:sSupPr>
                        <m:ctrlPr>
                          <a:rPr/>
                        </m:ctrlPr>
                      </m:sSupPr>
                      <m:e>
                        <m:r>
                          <a:rPr sz="39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sz="39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sz="39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sz="39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</a:p>
              <a:p>
                <a:pPr marL="635000" indent="-635000">
                  <a:buSzPct val="100000"/>
                  <a:buAutoNum type="arabicPeriod"/>
                </a:pPr>
                <a14:m>
                  <m:oMath xmlns:m="http://schemas.openxmlformats.org/officeDocument/2006/math">
                    <m:f>
                      <m:fPr>
                        <m:ctrlPr>
                          <a:rPr sz="38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sz="38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sz="38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sz="38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sz="38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/>
                        </m:ctrlPr>
                      </m:sSupPr>
                      <m:e>
                        <m:r>
                          <a:rPr sz="38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sz="38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a:rPr sz="38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sz="38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/>
                        </m:ctrlPr>
                      </m:sSupPr>
                      <m:e>
                        <m:r>
                          <a:rPr sz="38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sz="38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</a:p>
              <a:p>
                <a:pPr marL="635000" indent="-635000">
                  <a:buSzPct val="100000"/>
                  <a:buAutoNum type="arabicPeriod"/>
                </a:pPr>
              </a:p>
              <a:p>
                <a:pPr marL="635000" indent="-635000">
                  <a:buSzPct val="100000"/>
                  <a:buAutoNum type="arabicPeriod" startAt="5"/>
                </a:pPr>
                <a14:m>
                  <m:oMath xmlns:m="http://schemas.openxmlformats.org/officeDocument/2006/math">
                    <m:r>
                      <a:rPr sz="3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sz="3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sz="3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sSup>
                      <m:sSupPr>
                        <m:ctrlPr>
                          <a:rPr/>
                        </m:ctrlPr>
                      </m:sSupPr>
                      <m:e>
                        <m:r>
                          <a:rPr sz="3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sz="3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sz="3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sz="3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sSup>
                      <m:sSupPr>
                        <m:ctrlPr>
                          <a:rPr/>
                        </m:ctrlPr>
                      </m:sSupPr>
                      <m:e>
                        <m:r>
                          <a:rPr sz="3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sz="3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</a:p>
              <a:p>
                <a:pPr marL="635000" indent="-635000">
                  <a:buSzPct val="100000"/>
                  <a:buAutoNum type="arabicPeriod" startAt="5"/>
                </a:pPr>
                <a14:m>
                  <m:oMath xmlns:m="http://schemas.openxmlformats.org/officeDocument/2006/math">
                    <m:r>
                      <a:rPr sz="38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sz="38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sz="38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sz="38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sSup>
                      <m:sSupPr>
                        <m:ctrlPr>
                          <a:rPr/>
                        </m:ctrlPr>
                      </m:sSupPr>
                      <m:e>
                        <m:r>
                          <a:rPr sz="38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sz="38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sz="38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/>
                        </m:ctrlPr>
                      </m:sSupPr>
                      <m:e>
                        <m:r>
                          <a:rPr sz="38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sz="38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sz="38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/>
                        </m:ctrlPr>
                      </m:sSupPr>
                      <m:e>
                        <m:r>
                          <a:rPr sz="38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a:rPr sz="38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</a:p>
              <a:p>
                <a:pPr marL="635000" indent="-635000">
                  <a:buSzPct val="100000"/>
                  <a:buAutoNum type="arabicPeriod" startAt="5"/>
                </a:pPr>
                <a14:m>
                  <m:oMath xmlns:m="http://schemas.openxmlformats.org/officeDocument/2006/math">
                    <m:r>
                      <a:rPr sz="38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sz="38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sz="38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sz="38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sSup>
                      <m:sSupPr>
                        <m:ctrlPr>
                          <a:rPr/>
                        </m:ctrlPr>
                      </m:sSupPr>
                      <m:e>
                        <m:r>
                          <a:rPr sz="38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sz="38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sz="38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/>
                        </m:ctrlPr>
                      </m:sSupPr>
                      <m:e>
                        <m:r>
                          <a:rPr sz="38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sz="38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sz="38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/>
                        </m:ctrlPr>
                      </m:sSupPr>
                      <m:e>
                        <m:r>
                          <a:rPr sz="38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a:rPr sz="38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</a:p>
              <a:p>
                <a:pPr marL="635000" indent="-635000">
                  <a:buSzPct val="100000"/>
                  <a:buAutoNum type="arabicPeriod" startAt="5"/>
                </a:pPr>
                <a14:m>
                  <m:oMath xmlns:m="http://schemas.openxmlformats.org/officeDocument/2006/math">
                    <m:r>
                      <a:rPr sz="38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sz="38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sz="38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sSup>
                      <m:sSupPr>
                        <m:ctrlPr>
                          <a:rPr/>
                        </m:ctrlPr>
                      </m:sSupPr>
                      <m:e>
                        <m:r>
                          <a:rPr sz="38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sz="38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sz="38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sz="38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sSup>
                      <m:sSupPr>
                        <m:ctrlPr>
                          <a:rPr/>
                        </m:ctrlPr>
                      </m:sSupPr>
                      <m:e>
                        <m:r>
                          <a:rPr sz="38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a:rPr sz="38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sz="38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sz="38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sSup>
                      <m:sSupPr>
                        <m:ctrlPr>
                          <a:rPr/>
                        </m:ctrlPr>
                      </m:sSupPr>
                      <m:e>
                        <m:r>
                          <a:rPr sz="38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sz="38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</a:p>
              <a:p>
                <a:pPr marL="635000" indent="-635000">
                  <a:buSzPct val="100000"/>
                  <a:buAutoNum type="arabicPeriod" startAt="5"/>
                </a:pPr>
                <a14:m>
                  <m:oMath xmlns:m="http://schemas.openxmlformats.org/officeDocument/2006/math">
                    <m:r>
                      <a:rPr sz="39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f>
                      <m:fPr>
                        <m:ctrlPr>
                          <a:rPr sz="39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sz="39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num>
                      <m:den>
                        <m:r>
                          <a:rPr sz="39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den>
                    </m:f>
                    <m:sSup>
                      <m:sSupPr>
                        <m:ctrlPr>
                          <a:rPr/>
                        </m:ctrlPr>
                      </m:sSupPr>
                      <m:e>
                        <m:r>
                          <a:rPr sz="39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sz="39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sz="39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sz="39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sz="39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  <m:sSup>
                          <m:sSupPr>
                            <m:ctrlPr>
                              <a:rPr/>
                            </m:ctrlPr>
                          </m:sSupPr>
                          <m:e>
                            <m:r>
                              <a:rPr sz="39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a:rPr sz="39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sz="39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sz="39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sSup>
                          <m:sSupPr>
                            <m:ctrlPr>
                              <a:rPr/>
                            </m:ctrlPr>
                          </m:sSupPr>
                          <m:e>
                            <m:r>
                              <a:rPr sz="39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p>
                            <m:r>
                              <a:rPr sz="39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/>
                            </m:ctrlPr>
                          </m:sSupPr>
                          <m:e>
                            <m:r>
                              <a:rPr sz="39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p>
                            <m:r>
                              <a:rPr sz="39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477" name="Corpo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prstGeom prst="rect">
                <a:avLst/>
              </a:prstGeom>
              <a:blipFill rotWithShape="1">
                <a:blip r:embed="rId1"/>
                <a:stretch>
                  <a:fillRect b="-69980"/>
                </a:stretch>
              </a:blipFill>
            </p:spPr>
            <p:txBody>
              <a:bodyPr/>
              <a:lstStyle/>
              <a:p>
                <a:r>
                  <a:rPr lang="pt-BR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9" name="Imagem" descr="Imagem"/>
          <p:cNvPicPr>
            <a:picLocks noChangeAspect="1"/>
          </p:cNvPicPr>
          <p:nvPr>
            <p:ph type="pic" idx="13"/>
          </p:nvPr>
        </p:nvPicPr>
        <p:blipFill>
          <a:blip r:embed="rId1"/>
          <a:srcRect l="2929" r="2929"/>
          <a:stretch>
            <a:fillRect/>
          </a:stretch>
        </p:blipFill>
        <p:spPr>
          <a:xfrm>
            <a:off x="0" y="0"/>
            <a:ext cx="13004800" cy="9753600"/>
          </a:xfrm>
          <a:prstGeom prst="rect">
            <a:avLst/>
          </a:prstGeom>
        </p:spPr>
      </p:pic>
      <p:sp>
        <p:nvSpPr>
          <p:cNvPr id="480" name="REGRA DA CADEIA"/>
          <p:cNvSpPr txBox="1"/>
          <p:nvPr/>
        </p:nvSpPr>
        <p:spPr>
          <a:xfrm>
            <a:off x="3488372" y="4447859"/>
            <a:ext cx="6028056" cy="857882"/>
          </a:xfrm>
          <a:prstGeom prst="rect">
            <a:avLst/>
          </a:prstGeom>
          <a:solidFill>
            <a:srgbClr val="929292"/>
          </a:solidFill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>
            <a:lvl1pPr>
              <a:defRPr sz="5000">
                <a:solidFill>
                  <a:srgbClr val="FFFFFF"/>
                </a:solidFill>
              </a:defRPr>
            </a:lvl1pPr>
          </a:lstStyle>
          <a:p>
            <a:r>
              <a:t>REGRA DA CADEIA</a:t>
            </a:r>
          </a:p>
        </p:txBody>
      </p:sp>
    </p:spTree>
  </p:cSld>
  <p:clrMapOvr>
    <a:masterClrMapping/>
  </p:clrMapOvr>
  <p:transition spd="med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Rectangle 2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A Regra da Cadeia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83" name="Rectangle 3"/>
              <p:cNvSpPr txBox="1"/>
              <p:nvPr>
                <p:ph type="body" idx="1"/>
              </p:nvPr>
            </p:nvSpPr>
            <p:spPr>
              <a:prstGeom prst="rect">
                <a:avLst/>
              </a:prstGeom>
            </p:spPr>
            <p:txBody>
              <a:bodyPr/>
              <a:lstStyle/>
              <a:p>
                <a:pPr marL="364490" indent="-364490" defTabSz="478790">
                  <a:lnSpc>
                    <a:spcPct val="110000"/>
                  </a:lnSpc>
                  <a:spcBef>
                    <a:spcPts val="3400"/>
                  </a:spcBef>
                  <a:defRPr sz="2625"/>
                </a:pPr>
                <a:r>
                  <a:rPr b="1">
                    <a:solidFill>
                      <a:schemeClr val="accent5">
                        <a:hueOff val="-82419"/>
                        <a:satOff val="-9511"/>
                        <a:lumOff val="-16341"/>
                      </a:schemeClr>
                    </a:solidFill>
                  </a:rPr>
                  <a:t>Exemplo:</a:t>
                </a:r>
                <a:r>
                  <a:t> Suponha que você precise derivar a função </a:t>
                </a:r>
                <a14:m>
                  <m:oMath xmlns:m="http://schemas.openxmlformats.org/officeDocument/2006/math">
                    <m:r>
                      <a:rPr sz="3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a:rPr sz="3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sz="3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sz="3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sz="3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sz="31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/>
                            </m:ctrlPr>
                          </m:sSupPr>
                          <m:e>
                            <m:r>
                              <a:rPr sz="31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sz="31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sz="31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sz="31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rad>
                  </m:oMath>
                </a14:m>
                <a:r>
                  <a:t>. As fórmulas de derivação até aqui não permitem calcular </a:t>
                </a:r>
                <a:r>
                  <a:rPr i="1"/>
                  <a:t>F</a:t>
                </a:r>
                <a:r>
                  <a:t>′(</a:t>
                </a:r>
                <a:r>
                  <a:rPr i="1"/>
                  <a:t>x</a:t>
                </a:r>
                <a:r>
                  <a:t>)</a:t>
                </a:r>
                <a:br/>
              </a:p>
              <a:p>
                <a:pPr marL="364490" indent="-364490" defTabSz="478790">
                  <a:lnSpc>
                    <a:spcPct val="110000"/>
                  </a:lnSpc>
                  <a:spcBef>
                    <a:spcPts val="3400"/>
                  </a:spcBef>
                  <a:defRPr sz="2625"/>
                </a:pPr>
                <a:r>
                  <a:rPr i="1"/>
                  <a:t>F</a:t>
                </a:r>
                <a:r>
                  <a:t> é uma </a:t>
                </a:r>
                <a:r>
                  <a:rPr b="1">
                    <a:solidFill>
                      <a:schemeClr val="accent5">
                        <a:hueOff val="-82419"/>
                        <a:satOff val="-9511"/>
                        <a:lumOff val="-16341"/>
                      </a:schemeClr>
                    </a:solidFill>
                  </a:rPr>
                  <a:t>função composta</a:t>
                </a:r>
                <a:r>
                  <a:t>, se assumirmos </a:t>
                </a:r>
                <a14:m>
                  <m:oMath xmlns:m="http://schemas.openxmlformats.org/officeDocument/2006/math">
                    <m:r>
                      <a:rPr sz="3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sz="3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sz="3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sz="3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sz="3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a:rPr sz="3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sz="3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sz="31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sz="31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rad>
                  </m:oMath>
                </a14:m>
                <a:r>
                  <a:t> e </a:t>
                </a:r>
                <a14:m>
                  <m:oMath xmlns:m="http://schemas.openxmlformats.org/officeDocument/2006/math">
                    <m:r>
                      <a:rPr sz="3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a:rPr sz="3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sz="3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a:rPr sz="3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sz="3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sz="3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sz="3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/>
                        </m:ctrlPr>
                      </m:sSupPr>
                      <m:e>
                        <m:r>
                          <a:rPr sz="3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sz="3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sz="3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sz="3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t>, podemos escrever </a:t>
                </a:r>
                <a14:m>
                  <m:oMath xmlns:m="http://schemas.openxmlformats.org/officeDocument/2006/math">
                    <m:r>
                      <a:rPr sz="3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sz="3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sz="3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a:rPr sz="3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sz="3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sz="3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sz="3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sz="3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sz="3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sz="3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a:rPr sz="3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sz="3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sz="3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sz="3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t>, ou </a:t>
                </a:r>
                <a:r>
                  <a:rPr i="1"/>
                  <a:t>F</a:t>
                </a:r>
                <a:r>
                  <a:t> = </a:t>
                </a:r>
                <a:r>
                  <a:rPr i="1"/>
                  <a:t>f</a:t>
                </a:r>
                <a:r>
                  <a:t> </a:t>
                </a:r>
                <a:r>
                  <a:rPr baseline="-10000"/>
                  <a:t>°</a:t>
                </a:r>
                <a:r>
                  <a:t> </a:t>
                </a:r>
                <a:r>
                  <a:rPr i="1"/>
                  <a:t>g</a:t>
                </a:r>
                <a:r>
                  <a:t> </a:t>
                </a:r>
                <a:br/>
              </a:p>
              <a:p>
                <a:pPr marL="364490" indent="-364490" defTabSz="478790">
                  <a:lnSpc>
                    <a:spcPct val="110000"/>
                  </a:lnSpc>
                  <a:spcBef>
                    <a:spcPts val="3400"/>
                  </a:spcBef>
                  <a:defRPr sz="2625"/>
                </a:pPr>
                <a:r>
                  <a:t>Sabemos como derivar </a:t>
                </a:r>
                <a:r>
                  <a:rPr i="1"/>
                  <a:t>f</a:t>
                </a:r>
                <a:r>
                  <a:t> e </a:t>
                </a:r>
                <a:r>
                  <a:rPr i="1"/>
                  <a:t>g</a:t>
                </a:r>
                <a:r>
                  <a:t>, então seria útil ter uma regra que nos dissesse como achar a derivada de F</a:t>
                </a:r>
                <a:r>
                  <a:t> = </a:t>
                </a:r>
                <a:r>
                  <a:t>f</a:t>
                </a:r>
                <a:r>
                  <a:t> </a:t>
                </a:r>
                <a:r>
                  <a:rPr baseline="-10000"/>
                  <a:t>°</a:t>
                </a:r>
                <a:r>
                  <a:t> </a:t>
                </a:r>
                <a:r>
                  <a:t>g</a:t>
                </a:r>
                <a:r>
                  <a:t> em termos das derivadas de </a:t>
                </a:r>
                <a:r>
                  <a:t>f</a:t>
                </a:r>
                <a:r>
                  <a:t> e </a:t>
                </a:r>
                <a:r>
                  <a:t>g</a:t>
                </a:r>
                <a:br/>
              </a:p>
            </p:txBody>
          </p:sp>
        </mc:Choice>
        <mc:Fallback>
          <p:sp>
            <p:nvSpPr>
              <p:cNvPr id="483" name="Rectangle 3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prstGeom prst="rect">
                <a:avLst/>
              </a:prstGeom>
              <a:blipFill rotWithShape="1">
                <a:blip r:embed="rId1"/>
                <a:stretch>
                  <a:fillRect t="-2657" b="-1879"/>
                </a:stretch>
              </a:blipFill>
            </p:spPr>
            <p:txBody>
              <a:bodyPr/>
              <a:lstStyle/>
              <a:p>
                <a:r>
                  <a:rPr lang="pt-BR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Rectangle 2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A Regra da Cadeia</a:t>
            </a:r>
          </a:p>
        </p:txBody>
      </p:sp>
      <p:sp>
        <p:nvSpPr>
          <p:cNvPr id="486" name="Rectangle 3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342265" indent="-342265" defTabSz="449580">
              <a:spcBef>
                <a:spcPts val="800"/>
              </a:spcBef>
              <a:defRPr sz="2465"/>
            </a:pPr>
            <a:r>
              <a:t>O resultado é que a derivada da função composta </a:t>
            </a:r>
            <a:r>
              <a:rPr i="1"/>
              <a:t>f</a:t>
            </a:r>
            <a:r>
              <a:t> </a:t>
            </a:r>
            <a:r>
              <a:rPr sz="3385" baseline="-10000"/>
              <a:t>°</a:t>
            </a:r>
            <a:r>
              <a:t> </a:t>
            </a:r>
            <a:r>
              <a:rPr i="1"/>
              <a:t>g</a:t>
            </a:r>
            <a:r>
              <a:t> é o produto das derivadas de </a:t>
            </a:r>
            <a:r>
              <a:rPr i="1"/>
              <a:t>f </a:t>
            </a:r>
            <a:r>
              <a:t>e </a:t>
            </a:r>
            <a:r>
              <a:rPr i="1"/>
              <a:t>g: </a:t>
            </a:r>
            <a:r>
              <a:rPr b="1" i="1">
                <a:solidFill>
                  <a:schemeClr val="accent5">
                    <a:lumOff val="-29864"/>
                  </a:schemeClr>
                </a:solidFill>
              </a:rPr>
              <a:t>Regra da Cadeia</a:t>
            </a:r>
            <a:endParaRPr b="1" i="1">
              <a:solidFill>
                <a:schemeClr val="accent5">
                  <a:lumOff val="-29864"/>
                </a:schemeClr>
              </a:solidFill>
            </a:endParaRPr>
          </a:p>
          <a:p>
            <a:pPr marL="342265" indent="-342265" defTabSz="449580">
              <a:spcBef>
                <a:spcPts val="800"/>
              </a:spcBef>
              <a:defRPr sz="2465"/>
            </a:pPr>
            <a:endParaRPr i="1"/>
          </a:p>
          <a:p>
            <a:pPr marL="342265" indent="-342265" defTabSz="449580">
              <a:spcBef>
                <a:spcPts val="800"/>
              </a:spcBef>
              <a:defRPr sz="2465"/>
            </a:pPr>
            <a:r>
              <a:t>Ela parece plausível se interpretarmos as derivadas como taxas de variação</a:t>
            </a:r>
          </a:p>
          <a:p>
            <a:pPr marL="684530" lvl="1" indent="-342265" defTabSz="449580">
              <a:spcBef>
                <a:spcPts val="800"/>
              </a:spcBef>
              <a:defRPr sz="2465"/>
            </a:pPr>
            <a:r>
              <a:t>Considere </a:t>
            </a:r>
            <a:r>
              <a:rPr i="1"/>
              <a:t>du</a:t>
            </a:r>
            <a:r>
              <a:rPr sz="385" i="1"/>
              <a:t> </a:t>
            </a:r>
            <a:r>
              <a:t>/</a:t>
            </a:r>
            <a:r>
              <a:rPr i="1"/>
              <a:t>dx</a:t>
            </a:r>
            <a:r>
              <a:t> como a taxa de variação de </a:t>
            </a:r>
            <a:r>
              <a:rPr i="1"/>
              <a:t>u</a:t>
            </a:r>
            <a:r>
              <a:t> com relação a </a:t>
            </a:r>
            <a:r>
              <a:rPr i="1"/>
              <a:t>x</a:t>
            </a:r>
            <a:endParaRPr i="1"/>
          </a:p>
          <a:p>
            <a:pPr marL="684530" lvl="1" indent="-342265" defTabSz="449580">
              <a:spcBef>
                <a:spcPts val="800"/>
              </a:spcBef>
              <a:defRPr sz="2465"/>
            </a:pPr>
            <a:r>
              <a:rPr i="1"/>
              <a:t>E dy</a:t>
            </a:r>
            <a:r>
              <a:t>/</a:t>
            </a:r>
            <a:r>
              <a:rPr i="1"/>
              <a:t>du</a:t>
            </a:r>
            <a:r>
              <a:t> como a taxa de variação de </a:t>
            </a:r>
            <a:r>
              <a:rPr i="1"/>
              <a:t>y</a:t>
            </a:r>
            <a:r>
              <a:t> com relação a </a:t>
            </a:r>
            <a:r>
              <a:rPr i="1"/>
              <a:t>u</a:t>
            </a:r>
            <a:endParaRPr i="1"/>
          </a:p>
          <a:p>
            <a:pPr marL="684530" lvl="1" indent="-342265" defTabSz="449580">
              <a:spcBef>
                <a:spcPts val="800"/>
              </a:spcBef>
              <a:defRPr sz="2465"/>
            </a:pPr>
            <a:r>
              <a:rPr i="1"/>
              <a:t>E</a:t>
            </a:r>
            <a:r>
              <a:t> </a:t>
            </a:r>
            <a:r>
              <a:rPr i="1"/>
              <a:t>dy</a:t>
            </a:r>
            <a:r>
              <a:t>/</a:t>
            </a:r>
            <a:r>
              <a:rPr i="1"/>
              <a:t>dx</a:t>
            </a:r>
            <a:r>
              <a:t> como a taxa de variação de </a:t>
            </a:r>
            <a:r>
              <a:rPr i="1"/>
              <a:t>y</a:t>
            </a:r>
            <a:r>
              <a:t> com relação a </a:t>
            </a:r>
            <a:r>
              <a:rPr i="1"/>
              <a:t>x</a:t>
            </a:r>
            <a:endParaRPr i="1"/>
          </a:p>
          <a:p>
            <a:pPr marL="342265" indent="-342265" defTabSz="449580">
              <a:spcBef>
                <a:spcPts val="800"/>
              </a:spcBef>
              <a:defRPr sz="2465"/>
            </a:pPr>
            <a:endParaRPr i="1"/>
          </a:p>
          <a:p>
            <a:pPr marL="342265" indent="-342265" defTabSz="449580">
              <a:spcBef>
                <a:spcPts val="800"/>
              </a:spcBef>
              <a:defRPr sz="2465"/>
            </a:pPr>
            <a:r>
              <a:t>Se </a:t>
            </a:r>
            <a:r>
              <a:rPr i="1"/>
              <a:t>u</a:t>
            </a:r>
            <a:r>
              <a:t> variar duas vezes mais rápido que </a:t>
            </a:r>
            <a:r>
              <a:rPr i="1"/>
              <a:t>x,</a:t>
            </a:r>
            <a:r>
              <a:t> e </a:t>
            </a:r>
            <a:r>
              <a:rPr i="1"/>
              <a:t>y</a:t>
            </a:r>
            <a:r>
              <a:t> variar três vezes mais rápido que </a:t>
            </a:r>
            <a:r>
              <a:rPr i="1"/>
              <a:t>u</a:t>
            </a:r>
            <a:r>
              <a:t>, então parece plausível que </a:t>
            </a:r>
            <a:r>
              <a:rPr i="1"/>
              <a:t>y</a:t>
            </a:r>
            <a:r>
              <a:t> varie seis vezes mais rápido que </a:t>
            </a:r>
            <a:r>
              <a:rPr i="1"/>
              <a:t>x</a:t>
            </a:r>
            <a:r>
              <a:t> e, portanto, esperamos que</a:t>
            </a:r>
            <a:br/>
            <a:br/>
          </a:p>
        </p:txBody>
      </p:sp>
      <p:pic>
        <p:nvPicPr>
          <p:cNvPr id="487" name="Picture 4" descr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71253" y="8071566"/>
            <a:ext cx="2262294" cy="986650"/>
          </a:xfrm>
          <a:prstGeom prst="rect">
            <a:avLst/>
          </a:prstGeom>
          <a:ln w="12700">
            <a:miter lim="400000"/>
            <a:headEnd/>
            <a:tailEnd/>
          </a:ln>
        </p:spPr>
      </p:pic>
    </p:spTree>
  </p:cSld>
  <p:clrMapOvr>
    <a:masterClrMapping/>
  </p:clrMapOvr>
  <p:transition spd="med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Rectangle 2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A Regra da Cadeia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90" name="Rectangle 3"/>
              <p:cNvSpPr txBox="1"/>
              <p:nvPr>
                <p:ph type="body" sz="half" idx="1"/>
              </p:nvPr>
            </p:nvSpPr>
            <p:spPr>
              <a:xfrm>
                <a:off x="952500" y="5386555"/>
                <a:ext cx="11099800" cy="3033168"/>
              </a:xfrm>
              <a:prstGeom prst="rect">
                <a:avLst/>
              </a:prstGeom>
            </p:spPr>
            <p:txBody>
              <a:bodyPr anchor="t"/>
              <a:lstStyle/>
              <a:p>
                <a:pPr marL="0" indent="0" defTabSz="432435">
                  <a:spcBef>
                    <a:spcPts val="3100"/>
                  </a:spcBef>
                  <a:buSzTx/>
                  <a:buNone/>
                  <a:defRPr sz="2370"/>
                </a:pPr>
                <a:r>
                  <a:t>A Regra da Cadeia pode ser escrita na notação linha</a:t>
                </a:r>
              </a:p>
              <a:p>
                <a:pPr marL="0" indent="0" defTabSz="432435">
                  <a:spcBef>
                    <a:spcPts val="800"/>
                  </a:spcBef>
                  <a:buSzTx/>
                  <a:buNone/>
                  <a:defRPr sz="2370"/>
                </a:pPr>
                <a:r>
                  <a:t>                            (</a:t>
                </a:r>
                <a:r>
                  <a:rPr i="1"/>
                  <a:t>f</a:t>
                </a:r>
                <a:r>
                  <a:t> </a:t>
                </a:r>
                <a:r>
                  <a:rPr sz="3255" baseline="-10000"/>
                  <a:t>°</a:t>
                </a:r>
                <a:r>
                  <a:t> </a:t>
                </a:r>
                <a:r>
                  <a:rPr i="1"/>
                  <a:t>g</a:t>
                </a:r>
                <a:r>
                  <a:t>)′(</a:t>
                </a:r>
                <a:r>
                  <a:rPr i="1"/>
                  <a:t>x</a:t>
                </a:r>
                <a:r>
                  <a:t>) = </a:t>
                </a:r>
                <a:r>
                  <a:rPr i="1"/>
                  <a:t>f</a:t>
                </a:r>
                <a:r>
                  <a:rPr sz="815"/>
                  <a:t> </a:t>
                </a:r>
                <a:r>
                  <a:t>′(</a:t>
                </a:r>
                <a:r>
                  <a:rPr i="1"/>
                  <a:t>g</a:t>
                </a:r>
                <a:r>
                  <a:t>(</a:t>
                </a:r>
                <a:r>
                  <a:rPr i="1"/>
                  <a:t>x</a:t>
                </a:r>
                <a:r>
                  <a:t>)) . </a:t>
                </a:r>
                <a:r>
                  <a:rPr i="1"/>
                  <a:t>g</a:t>
                </a:r>
                <a:r>
                  <a:t>′(</a:t>
                </a:r>
                <a:r>
                  <a:rPr i="1"/>
                  <a:t>x</a:t>
                </a:r>
                <a:r>
                  <a:t>)</a:t>
                </a:r>
              </a:p>
              <a:p>
                <a:pPr marL="0" indent="0" defTabSz="432435">
                  <a:spcBef>
                    <a:spcPts val="3100"/>
                  </a:spcBef>
                  <a:buSzTx/>
                  <a:buNone/>
                  <a:defRPr sz="2370"/>
                </a:pPr>
                <a:r>
                  <a:t>ou, se </a:t>
                </a:r>
                <a:r>
                  <a:rPr i="1"/>
                  <a:t>y</a:t>
                </a:r>
                <a:r>
                  <a:t> = </a:t>
                </a:r>
                <a:r>
                  <a:rPr i="1"/>
                  <a:t>f</a:t>
                </a:r>
                <a:r>
                  <a:rPr sz="370"/>
                  <a:t> </a:t>
                </a:r>
                <a:r>
                  <a:t>(</a:t>
                </a:r>
                <a:r>
                  <a:rPr i="1"/>
                  <a:t>u</a:t>
                </a:r>
                <a:r>
                  <a:t>) e </a:t>
                </a:r>
                <a:r>
                  <a:rPr i="1"/>
                  <a:t>u</a:t>
                </a:r>
                <a:r>
                  <a:t> = </a:t>
                </a:r>
                <a:r>
                  <a:rPr i="1"/>
                  <a:t>g</a:t>
                </a:r>
                <a:r>
                  <a:t>(</a:t>
                </a:r>
                <a:r>
                  <a:rPr i="1"/>
                  <a:t>x</a:t>
                </a:r>
                <a:r>
                  <a:t>), na notação de Leibniz:</a:t>
                </a:r>
              </a:p>
              <a:p>
                <a:pPr marL="0" indent="0" algn="ctr" defTabSz="432435">
                  <a:spcBef>
                    <a:spcPts val="3100"/>
                  </a:spcBef>
                  <a:buSzTx/>
                  <a:buNone/>
                  <a:defRPr sz="2370"/>
                </a:pPr>
                <a14:m>
                  <m:oMath xmlns:m="http://schemas.openxmlformats.org/officeDocument/2006/math">
                    <m:f>
                      <m:fPr>
                        <m:ctrlPr>
                          <a:rPr sz="28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sz="28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sz="28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sz="28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sz="28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sz="28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sz="28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sz="28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sz="28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sz="28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sz="28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den>
                    </m:f>
                    <m:f>
                      <m:fPr>
                        <m:ctrlPr>
                          <a:rPr sz="28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sz="28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sz="28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r>
                          <a:rPr sz="28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sz="28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t> </a:t>
                </a:r>
                <a:endParaRPr sz="3200"/>
              </a:p>
            </p:txBody>
          </p:sp>
        </mc:Choice>
        <mc:Fallback>
          <p:sp>
            <p:nvSpPr>
              <p:cNvPr id="490" name="Rectangle 3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ph type="body" sz="half" idx="1"/>
              </p:nvPr>
            </p:nvSpPr>
            <p:spPr>
              <a:xfrm>
                <a:off x="952500" y="5386555"/>
                <a:ext cx="11099800" cy="3033168"/>
              </a:xfrm>
              <a:prstGeom prst="rect">
                <a:avLst/>
              </a:prstGeom>
              <a:blipFill rotWithShape="1">
                <a:blip r:embed="rId1"/>
                <a:stretch>
                  <a:fillRect t="-16" b="9"/>
                </a:stretch>
              </a:blipFill>
            </p:spPr>
            <p:txBody>
              <a:bodyPr/>
              <a:lstStyle/>
              <a:p>
                <a:r>
                  <a:rPr lang="pt-B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91" name="Regra da Cadeia: Se g for derivável em x e f for derivável em g(x), então a função composta f=f∘g definida por F(x)=f(g(x)) é derivável em x e F’ é dada pelo produto…"/>
              <p:cNvSpPr txBox="1"/>
              <p:nvPr/>
            </p:nvSpPr>
            <p:spPr>
              <a:xfrm>
                <a:off x="952500" y="2129727"/>
                <a:ext cx="11099800" cy="3033167"/>
              </a:xfrm>
              <a:prstGeom prst="rect">
                <a:avLst/>
              </a:prstGeom>
              <a:solidFill>
                <a:schemeClr val="accent1"/>
              </a:solidFill>
              <a:ln w="12700">
                <a:miter lim="400000"/>
              </a:ln>
            </p:spPr>
            <p:txBody>
              <a:bodyPr lIns="50800" tIns="50800" rIns="50800" bIns="50800" anchor="ctr">
                <a:spAutoFit/>
              </a:bodyPr>
              <a:lstStyle/>
              <a:p>
                <a:pPr>
                  <a:defRPr sz="2200" b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r>
                  <a:rPr b="1">
                    <a:latin typeface="Helvetica Neue"/>
                    <a:ea typeface="Helvetica Neue"/>
                    <a:cs typeface="Helvetica Neue"/>
                    <a:sym typeface="Helvetica Neue"/>
                  </a:rPr>
                  <a:t>Regra da Cadeia: </a:t>
                </a:r>
                <a:r>
                  <a:t>Se g for derivável em x e f for derivável em g(x), então a função composta f=f</a:t>
                </a:r>
                <a:r>
                  <a:rPr>
                    <a:latin typeface="Courier"/>
                    <a:ea typeface="Courier"/>
                    <a:cs typeface="Courier"/>
                    <a:sym typeface="Courier"/>
                  </a:rPr>
                  <a:t>∘</a:t>
                </a:r>
                <a:r>
                  <a:t>g definida por F(x)=f(g(x)) é derivável em x e F’ é dada pelo produto</a:t>
                </a:r>
                <a:endParaRPr b="1">
                  <a:latin typeface="Helvetica Neue"/>
                  <a:ea typeface="Helvetica Neue"/>
                  <a:cs typeface="Helvetica Neue"/>
                  <a:sym typeface="Helvetica Neue"/>
                </a:endParaRPr>
              </a:p>
              <a:p>
                <a:pPr>
                  <a:defRPr sz="2200" b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p>
                        <m:sSupPr>
                          <m:ctrlPr>
                            <a:rPr/>
                          </m:ctrlPr>
                        </m:sSupPr>
                        <m:e>
                          <m:r>
                            <a:rPr sz="2650" i="1">
                              <a:solidFill>
                                <a:srgbClr val="FEFEFE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p>
                          <m:r>
                            <a:rPr sz="2650" i="1">
                              <a:solidFill>
                                <a:srgbClr val="FEFEFE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sz="2650" i="1">
                          <a:solidFill>
                            <a:srgbClr val="FEFEFE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sz="2650" i="1">
                          <a:solidFill>
                            <a:srgbClr val="FEFEFE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sz="2650" i="1">
                          <a:solidFill>
                            <a:srgbClr val="FEFEFE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sz="2650" i="1">
                          <a:solidFill>
                            <a:srgbClr val="FEFEFE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/>
                          </m:ctrlPr>
                        </m:sSupPr>
                        <m:e>
                          <m:r>
                            <a:rPr sz="2650" i="1">
                              <a:solidFill>
                                <a:srgbClr val="FEFEFE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sz="2650" i="1">
                              <a:solidFill>
                                <a:srgbClr val="FEFEFE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sz="2650" i="1">
                          <a:solidFill>
                            <a:srgbClr val="FEFEFE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sz="2650" i="1">
                          <a:solidFill>
                            <a:srgbClr val="FEFEFE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sz="2650" i="1">
                          <a:solidFill>
                            <a:srgbClr val="FEFEFE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sz="2650" i="1">
                          <a:solidFill>
                            <a:srgbClr val="FEFEFE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sz="2650" i="1">
                          <a:solidFill>
                            <a:srgbClr val="FEFEFE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sz="2650" i="1">
                          <a:solidFill>
                            <a:srgbClr val="FEFEFE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sz="2650" i="1">
                          <a:solidFill>
                            <a:srgbClr val="FEFEFE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sSup>
                        <m:sSupPr>
                          <m:ctrlPr>
                            <a:rPr/>
                          </m:ctrlPr>
                        </m:sSupPr>
                        <m:e>
                          <m:r>
                            <a:rPr sz="2650" i="1">
                              <a:solidFill>
                                <a:srgbClr val="FEFEFE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p>
                          <m:r>
                            <a:rPr sz="2650" i="1">
                              <a:solidFill>
                                <a:srgbClr val="FEFEFE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sz="2650" i="1">
                          <a:solidFill>
                            <a:srgbClr val="FEFEFE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sz="2650" i="1">
                          <a:solidFill>
                            <a:srgbClr val="FEFEFE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sz="2650" i="1">
                          <a:solidFill>
                            <a:srgbClr val="FEFEFE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</a:p>
              <a:p>
                <a:pPr>
                  <a:defRPr sz="2200" b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r>
                  <a:t>Na notação de Leibniz, se y=f(u) e u=g(x) forem funções deriváveis, então</a:t>
                </a:r>
              </a:p>
              <a:p>
                <a:pPr>
                  <a:defRPr sz="2200" b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r>
                  <a:t> </a:t>
                </a:r>
              </a:p>
            </p:txBody>
          </p:sp>
        </mc:Choice>
        <mc:Fallback>
          <p:sp>
            <p:nvSpPr>
              <p:cNvPr id="491" name="Regra da Cadeia: Se g for derivável em x e f for derivável em g(x), então a função composta f=f∘g definida por F(x)=f(g(x)) é derivável em x e F’ é dada pelo produto…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2500" y="2129727"/>
                <a:ext cx="11099800" cy="3033167"/>
              </a:xfrm>
              <a:prstGeom prst="rect">
                <a:avLst/>
              </a:prstGeom>
              <a:blipFill rotWithShape="1">
                <a:blip r:embed="rId2"/>
                <a:stretch>
                  <a:fillRect t="-19" b="11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pt-B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92" name="Retângulo"/>
              <p:cNvSpPr txBox="1"/>
              <p:nvPr/>
            </p:nvSpPr>
            <p:spPr>
              <a:xfrm>
                <a:off x="952500" y="2129727"/>
                <a:ext cx="10998073" cy="1421845"/>
              </a:xfrm>
              <a:prstGeom prst="rect">
                <a:avLst/>
              </a:prstGeom>
              <a:solidFill>
                <a:schemeClr val="accent1"/>
              </a:solidFill>
              <a:ln w="12700">
                <a:miter lim="400000"/>
              </a:ln>
            </p:spPr>
            <p:txBody>
              <a:bodyPr lIns="50800" tIns="50800" rIns="50800" bIns="50800" anchor="ctr"/>
              <a:lstStyle/>
              <a:p>
                <a:pPr>
                  <a:defRPr sz="2200" b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14:m>
                  <m:oMath xmlns:m="http://schemas.openxmlformats.org/officeDocument/2006/math">
                    <m:f>
                      <m:fPr>
                        <m:ctrlPr>
                          <a:rPr sz="2650" i="1">
                            <a:solidFill>
                              <a:srgbClr val="FEFEFE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sz="2650" i="1">
                            <a:solidFill>
                              <a:srgbClr val="FEFEFE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sz="2650" i="1">
                            <a:solidFill>
                              <a:srgbClr val="FEFEFE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sz="2650" i="1">
                            <a:solidFill>
                              <a:srgbClr val="FEFEFE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sz="2650" i="1">
                            <a:solidFill>
                              <a:srgbClr val="FEFEFE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sz="2650" i="1">
                        <a:solidFill>
                          <a:srgbClr val="FEFEFE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sz="2650" i="1">
                            <a:solidFill>
                              <a:srgbClr val="FEFEFE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sz="2650" i="1">
                            <a:solidFill>
                              <a:srgbClr val="FEFEFE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sz="2650" i="1">
                            <a:solidFill>
                              <a:srgbClr val="FEFEFE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sz="2650" i="1">
                            <a:solidFill>
                              <a:srgbClr val="FEFEFE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sz="2650" i="1">
                            <a:solidFill>
                              <a:srgbClr val="FEFEFE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den>
                    </m:f>
                    <m:f>
                      <m:fPr>
                        <m:ctrlPr>
                          <a:rPr sz="2650" i="1">
                            <a:solidFill>
                              <a:srgbClr val="FEFEFE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sz="2650" i="1">
                            <a:solidFill>
                              <a:srgbClr val="FEFEFE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sz="2650" i="1">
                            <a:solidFill>
                              <a:srgbClr val="FEFEFE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r>
                          <a:rPr sz="2650" i="1">
                            <a:solidFill>
                              <a:srgbClr val="FEFEFE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sz="2650" i="1">
                            <a:solidFill>
                              <a:srgbClr val="FEFEFE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t> </a:t>
                </a:r>
              </a:p>
            </p:txBody>
          </p:sp>
        </mc:Choice>
        <mc:Fallback>
          <p:sp>
            <p:nvSpPr>
              <p:cNvPr id="492" name="Retângul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2500" y="2129727"/>
                <a:ext cx="10998073" cy="1421845"/>
              </a:xfrm>
              <a:prstGeom prst="rect">
                <a:avLst/>
              </a:prstGeom>
              <a:blipFill rotWithShape="1">
                <a:blip r:embed="rId3"/>
                <a:stretch>
                  <a:fillRect t="-40" r="5" b="1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pt-BR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Rectangle 2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Exercício 6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95" name="Rectangle 3"/>
              <p:cNvSpPr txBox="1"/>
              <p:nvPr>
                <p:ph type="body" idx="1"/>
              </p:nvPr>
            </p:nvSpPr>
            <p:spPr>
              <a:prstGeom prst="rect">
                <a:avLst/>
              </a:prstGeom>
            </p:spPr>
            <p:txBody>
              <a:bodyPr/>
              <a:lstStyle/>
              <a:p>
                <a:pPr marL="0" indent="0" defTabSz="449580">
                  <a:spcBef>
                    <a:spcPts val="3200"/>
                  </a:spcBef>
                  <a:buSzTx/>
                  <a:buNone/>
                  <a:defRPr sz="2465"/>
                </a:pPr>
                <a:r>
                  <a:rPr b="1">
                    <a:solidFill>
                      <a:schemeClr val="accent5">
                        <a:hueOff val="-82419"/>
                        <a:satOff val="-9511"/>
                        <a:lumOff val="-16341"/>
                      </a:schemeClr>
                    </a:solidFill>
                  </a:rPr>
                  <a:t>Exercício: </a:t>
                </a:r>
                <a:r>
                  <a:t>Encontre </a:t>
                </a:r>
                <a:r>
                  <a:rPr i="1"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rPr>
                  <a:t>F</a:t>
                </a:r>
                <a:r>
                  <a:rPr sz="385" i="1"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rPr>
                  <a:t> </a:t>
                </a:r>
                <a:r>
                  <a:rPr i="1"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rPr>
                  <a:t>'</a:t>
                </a:r>
                <a:r>
                  <a:t>(</a:t>
                </a:r>
                <a:r>
                  <a:rPr i="1"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rPr>
                  <a:t>x</a:t>
                </a:r>
                <a:r>
                  <a:t>) se </a:t>
                </a:r>
                <a:r>
                  <a:rPr i="1"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rPr>
                  <a:t>F</a:t>
                </a:r>
                <a:r>
                  <a:rPr sz="385" i="1"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rPr>
                  <a:t> </a:t>
                </a:r>
                <a:r>
                  <a:t>(</a:t>
                </a:r>
                <a:r>
                  <a:rPr i="1"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rPr>
                  <a:t>x</a:t>
                </a:r>
                <a:r>
                  <a:t>) = 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sz="2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/>
                            </m:ctrlPr>
                          </m:sSupPr>
                          <m:e>
                            <m:r>
                              <a:rPr sz="29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sz="29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sz="2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sz="2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rad>
                  </m:oMath>
                </a14:m>
                <a:r>
                  <a:t>           .</a:t>
                </a:r>
                <a:br/>
                <a:br/>
              </a:p>
              <a:p>
                <a:pPr marL="0" indent="0" defTabSz="449580">
                  <a:spcBef>
                    <a:spcPts val="3200"/>
                  </a:spcBef>
                  <a:buSzTx/>
                  <a:buNone/>
                  <a:defRPr sz="2465"/>
                </a:pPr>
                <a:r>
                  <a:rPr b="1">
                    <a:solidFill>
                      <a:schemeClr val="accent5">
                        <a:hueOff val="-82419"/>
                        <a:satOff val="-9511"/>
                        <a:lumOff val="-16341"/>
                      </a:schemeClr>
                    </a:solidFill>
                  </a:rPr>
                  <a:t>Solução 1: </a:t>
                </a:r>
                <a:r>
                  <a:t>Expressamos </a:t>
                </a:r>
                <a:r>
                  <a:rPr i="1"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rPr>
                  <a:t>F</a:t>
                </a:r>
                <a:r>
                  <a:t> como </a:t>
                </a:r>
                <a:r>
                  <a:rPr i="1"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rPr>
                  <a:t>F</a:t>
                </a:r>
                <a:r>
                  <a:rPr sz="385" i="1"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rPr>
                  <a:t> </a:t>
                </a:r>
                <a:r>
                  <a:t>(</a:t>
                </a:r>
                <a:r>
                  <a:rPr i="1"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rPr>
                  <a:t>x</a:t>
                </a:r>
                <a:r>
                  <a:t>) = (</a:t>
                </a:r>
                <a:r>
                  <a:rPr i="1"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rPr>
                  <a:t>f</a:t>
                </a:r>
                <a:r>
                  <a:t> </a:t>
                </a:r>
                <a:r>
                  <a:rPr sz="3385" baseline="-10000">
                    <a:latin typeface="Symbol" panose="05050102010706020507"/>
                    <a:ea typeface="Symbol" panose="05050102010706020507"/>
                    <a:cs typeface="Symbol" panose="05050102010706020507"/>
                    <a:sym typeface="Symbol" panose="05050102010706020507"/>
                  </a:rPr>
                  <a:t>°</a:t>
                </a:r>
                <a:r>
                  <a:t> </a:t>
                </a:r>
                <a:r>
                  <a:rPr i="1"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rPr>
                  <a:t>g</a:t>
                </a:r>
                <a:r>
                  <a:t>)(</a:t>
                </a:r>
                <a:r>
                  <a:rPr i="1"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rPr>
                  <a:t>x</a:t>
                </a:r>
                <a:r>
                  <a:t>) = </a:t>
                </a:r>
                <a:r>
                  <a:rPr i="1"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rPr>
                  <a:t>f</a:t>
                </a:r>
                <a:r>
                  <a:rPr sz="385"/>
                  <a:t> </a:t>
                </a:r>
                <a:r>
                  <a:t>(</a:t>
                </a:r>
                <a:r>
                  <a:rPr i="1"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rPr>
                  <a:t>g</a:t>
                </a:r>
                <a:r>
                  <a:t>(</a:t>
                </a:r>
                <a:r>
                  <a:rPr i="1"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rPr>
                  <a:t>x</a:t>
                </a:r>
                <a:r>
                  <a:t>)), onde </a:t>
                </a:r>
                <a14:m>
                  <m:oMath xmlns:m="http://schemas.openxmlformats.org/officeDocument/2006/math">
                    <m:r>
                      <a:rPr sz="2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sz="2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sz="2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a:rPr sz="2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sz="2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sz="2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sz="2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rad>
                    <m:r>
                      <a:rPr sz="2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a:rPr sz="2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a:rPr sz="2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sz="2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sz="2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sz="2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/>
                        </m:ctrlPr>
                      </m:sSupPr>
                      <m:e>
                        <m:r>
                          <a:rPr sz="2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sz="2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sz="2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sz="2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br/>
                <a:br/>
                <a:r>
                  <a:t>Uma vez que</a:t>
                </a:r>
                <a:br/>
                <a:br/>
                <a14:m>
                  <m:oMath xmlns:m="http://schemas.openxmlformats.org/officeDocument/2006/math">
                    <m:sSup>
                      <m:sSupPr>
                        <m:ctrlPr>
                          <a:rPr/>
                        </m:ctrlPr>
                      </m:sSupPr>
                      <m:e>
                        <m:r>
                          <a:rPr sz="29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sz="29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sz="29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sz="29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a:rPr sz="29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sz="29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sz="29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sz="29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sz="29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sSupPr>
                        <m:ctrlPr>
                          <a:rPr/>
                        </m:ctrlPr>
                      </m:sSupPr>
                      <m:e>
                        <m:r>
                          <a:rPr sz="29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sz="29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sz="29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sz="29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sz="29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sz="29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sz="29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sz="29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sz="29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sz="29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sz="29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</m:rad>
                      </m:den>
                    </m:f>
                  </m:oMath>
                </a14:m>
                <a:r>
                  <a:t>            e       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/>
                        </m:ctrlPr>
                      </m:sSupPr>
                      <m:e>
                        <m:r>
                          <a:rPr sz="2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a:rPr sz="2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sz="2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sz="2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sz="2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sz="2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sz="2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sz="2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br>
                  <a:rPr i="1"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rPr>
                </a:br>
                <a:br>
                  <a:rPr i="1"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rPr>
                </a:br>
                <a:r>
                  <a:t>temos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/>
                        </m:ctrlPr>
                      </m:sSupPr>
                      <m:e>
                        <m:r>
                          <a:rPr sz="2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p>
                        <m:r>
                          <a:rPr sz="2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sz="2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sz="2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sz="2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sz="2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/>
                        </m:ctrlPr>
                      </m:sSupPr>
                      <m:e>
                        <m:r>
                          <a:rPr sz="2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sz="2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sz="2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sz="2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a:rPr sz="2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sz="2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sz="2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sz="2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sSupPr>
                        <m:ctrlPr>
                          <a:rPr/>
                        </m:ctrlPr>
                      </m:sSupPr>
                      <m:e>
                        <m:r>
                          <a:rPr sz="2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a:rPr sz="2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sz="2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sz="2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sz="2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sz="2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sz="2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sz="2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sz="2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sz="29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sSupPr>
                                <m:ctrlPr>
                                  <a:rPr/>
                                </m:ctrlPr>
                              </m:sSupPr>
                              <m:e>
                                <m:r>
                                  <a:rPr sz="295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sz="295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sz="29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sz="29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rad>
                      </m:den>
                    </m:f>
                    <m:r>
                      <a:rPr sz="2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sz="2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sz="2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sz="2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sz="2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sz="29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sSupPr>
                                <m:ctrlPr>
                                  <a:rPr/>
                                </m:ctrlPr>
                              </m:sSupPr>
                              <m:e>
                                <m:r>
                                  <a:rPr sz="295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sz="295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sz="29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sz="29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rad>
                      </m:den>
                    </m:f>
                  </m:oMath>
                </a14:m>
                <a:r>
                  <a:t>       </a:t>
                </a:r>
                <a:endParaRPr sz="3200"/>
              </a:p>
            </p:txBody>
          </p:sp>
        </mc:Choice>
        <mc:Fallback>
          <p:sp>
            <p:nvSpPr>
              <p:cNvPr id="495" name="Rectangle 3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prstGeom prst="rect">
                <a:avLst/>
              </a:prstGeom>
              <a:blipFill rotWithShape="1">
                <a:blip r:embed="rId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1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dur="indefinite" fill="hold"/>
                                        <p:tgtEl>
                                          <p:spTgt spid="4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5" grpId="1" bldLvl="5" animBg="1" advAuto="0" build="p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Rectangle 2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Exercício 6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98" name="Rectangle 3"/>
              <p:cNvSpPr txBox="1"/>
              <p:nvPr>
                <p:ph type="body" idx="1"/>
              </p:nvPr>
            </p:nvSpPr>
            <p:spPr>
              <a:prstGeom prst="rect">
                <a:avLst/>
              </a:prstGeom>
            </p:spPr>
            <p:txBody>
              <a:bodyPr anchor="t"/>
              <a:lstStyle/>
              <a:p>
                <a:pPr marL="0" indent="0">
                  <a:buSzTx/>
                  <a:buNone/>
                </a:pPr>
                <a:r>
                  <a:rPr b="1">
                    <a:solidFill>
                      <a:schemeClr val="accent5">
                        <a:hueOff val="-82419"/>
                        <a:satOff val="-9511"/>
                        <a:lumOff val="-16341"/>
                      </a:schemeClr>
                    </a:solidFill>
                  </a:rPr>
                  <a:t>Exercício: </a:t>
                </a:r>
                <a:r>
                  <a:t>Encontre </a:t>
                </a:r>
                <a:r>
                  <a:rPr i="1"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rPr>
                  <a:t>F</a:t>
                </a:r>
                <a:r>
                  <a:rPr sz="500" i="1"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rPr>
                  <a:t> </a:t>
                </a:r>
                <a:r>
                  <a:rPr i="1"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rPr>
                  <a:t>'</a:t>
                </a:r>
                <a:r>
                  <a:t>(</a:t>
                </a:r>
                <a:r>
                  <a:rPr i="1"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rPr>
                  <a:t>x</a:t>
                </a:r>
                <a:r>
                  <a:t>) se </a:t>
                </a:r>
                <a:r>
                  <a:rPr i="1"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rPr>
                  <a:t>F</a:t>
                </a:r>
                <a:r>
                  <a:rPr sz="500" i="1"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rPr>
                  <a:t> </a:t>
                </a:r>
                <a:r>
                  <a:t>(</a:t>
                </a:r>
                <a:r>
                  <a:rPr i="1"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rPr>
                  <a:t>x</a:t>
                </a:r>
                <a:r>
                  <a:t>) =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sz="38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/>
                            </m:ctrlPr>
                          </m:sSupPr>
                          <m:e>
                            <m:r>
                              <a:rPr sz="38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sz="38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sz="38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sz="38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rad>
                  </m:oMath>
                </a14:m>
                <a:r>
                  <a:t>            </a:t>
                </a:r>
                <a:br/>
                <a:br/>
              </a:p>
              <a:p>
                <a:pPr marL="0" indent="0">
                  <a:buSzTx/>
                  <a:buNone/>
                </a:pPr>
                <a:r>
                  <a:rPr b="1">
                    <a:solidFill>
                      <a:schemeClr val="accent5">
                        <a:hueOff val="-82419"/>
                        <a:satOff val="-9511"/>
                        <a:lumOff val="-16341"/>
                      </a:schemeClr>
                    </a:solidFill>
                  </a:rPr>
                  <a:t>Solução 2: </a:t>
                </a:r>
                <a:r>
                  <a:t>Se fizermos </a:t>
                </a:r>
                <a14:m>
                  <m:oMath xmlns:m="http://schemas.openxmlformats.org/officeDocument/2006/math">
                    <m:r>
                      <a:rPr sz="38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a:rPr sz="38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/>
                        </m:ctrlPr>
                      </m:sSupPr>
                      <m:e>
                        <m:r>
                          <a:rPr sz="38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sz="38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sz="38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sz="38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sz="38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sz="38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a:rPr sz="38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sz="38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sz="38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sz="38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rad>
                  </m:oMath>
                </a14:m>
                <a:r>
                  <a:t> , então</a:t>
                </a:r>
                <a:br/>
                <a:br/>
                <a:b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/>
                          </m:ctrlPr>
                        </m:sSupPr>
                        <m:e>
                          <m:r>
                            <a:rPr sz="3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p>
                          <m:r>
                            <a:rPr sz="3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sz="3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sz="3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sz="3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sz="3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sz="3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sz="3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sz="3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num>
                        <m:den>
                          <m:r>
                            <a:rPr sz="3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sz="3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den>
                      </m:f>
                      <m:f>
                        <m:fPr>
                          <m:ctrlPr>
                            <a:rPr sz="3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sz="3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sz="3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num>
                        <m:den>
                          <m:r>
                            <a:rPr sz="3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sz="3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sz="3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sz="3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sz="3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sz="3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ad>
                            <m:radPr>
                              <m:degHide m:val="on"/>
                              <m:ctrlPr>
                                <a:rPr sz="3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sz="3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</m:rad>
                        </m:den>
                      </m:f>
                      <m:r>
                        <a:rPr sz="3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sz="3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sz="3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sz="3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sz="3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sz="3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sz="3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sz="3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ad>
                            <m:radPr>
                              <m:degHide m:val="on"/>
                              <m:ctrlPr>
                                <a:rPr sz="3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/>
                                  </m:ctrlPr>
                                </m:sSupPr>
                                <m:e>
                                  <m:r>
                                    <a:rPr sz="3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sz="3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sz="3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sz="3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rad>
                        </m:den>
                      </m:f>
                      <m:r>
                        <a:rPr sz="3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sz="3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sz="3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sz="3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sz="3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sz="3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sz="3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sz="3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/>
                                  </m:ctrlPr>
                                </m:sSupPr>
                                <m:e>
                                  <m:r>
                                    <a:rPr sz="3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sz="3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sz="3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sz="3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rad>
                        </m:den>
                      </m:f>
                    </m:oMath>
                  </m:oMathPara>
                </a14:m>
              </a:p>
            </p:txBody>
          </p:sp>
        </mc:Choice>
        <mc:Fallback>
          <p:sp>
            <p:nvSpPr>
              <p:cNvPr id="498" name="Rectangle 3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prstGeom prst="rect">
                <a:avLst/>
              </a:prstGeom>
              <a:blipFill rotWithShape="1">
                <a:blip r:embed="rId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Rectangle 2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A Regra da Cadeia</a:t>
            </a:r>
          </a:p>
        </p:txBody>
      </p:sp>
      <p:sp>
        <p:nvSpPr>
          <p:cNvPr id="501" name="Rectangle 3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 anchor="t"/>
          <a:lstStyle/>
          <a:p>
            <a:r>
              <a:t>Se </a:t>
            </a:r>
            <a:r>
              <a:rPr i="1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y</a:t>
            </a:r>
            <a:r>
              <a:t> = [</a:t>
            </a:r>
            <a:r>
              <a:rPr i="1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g</a:t>
            </a:r>
            <a:r>
              <a:rPr sz="500" i="1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t>(</a:t>
            </a:r>
            <a:r>
              <a:rPr i="1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x</a:t>
            </a:r>
            <a:r>
              <a:t>)]</a:t>
            </a:r>
            <a:r>
              <a:rPr i="1" baseline="31000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n</a:t>
            </a:r>
            <a:r>
              <a:t>, então podemos escrever </a:t>
            </a:r>
            <a:r>
              <a:rPr i="1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y</a:t>
            </a:r>
            <a:r>
              <a:t> = </a:t>
            </a:r>
            <a:r>
              <a:rPr i="1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</a:t>
            </a:r>
            <a:r>
              <a:t>(</a:t>
            </a:r>
            <a:r>
              <a:rPr i="1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u</a:t>
            </a:r>
            <a:r>
              <a:t>) = </a:t>
            </a:r>
            <a:r>
              <a:rPr i="1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u</a:t>
            </a:r>
            <a:r>
              <a:rPr i="1" baseline="31000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n</a:t>
            </a:r>
            <a:r>
              <a:t> onde u</a:t>
            </a:r>
            <a:r>
              <a:rPr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= </a:t>
            </a:r>
            <a:r>
              <a:t>g</a:t>
            </a:r>
            <a:r>
              <a:rPr sz="500"/>
              <a:t> </a:t>
            </a:r>
            <a:r>
              <a:rPr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(</a:t>
            </a:r>
            <a:r>
              <a:t>x</a:t>
            </a:r>
            <a:r>
              <a:rPr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) &gt;&gt;&gt; Usando a Regra da Cadeia e a Regra da Potência, obteremos</a:t>
            </a:r>
            <a:endParaRPr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502" name="Picture 5" descr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94470" y="4282993"/>
            <a:ext cx="7215860" cy="961815"/>
          </a:xfrm>
          <a:prstGeom prst="rect">
            <a:avLst/>
          </a:prstGeom>
          <a:ln w="12700">
            <a:miter lim="400000"/>
            <a:headEnd/>
            <a:tailEnd/>
          </a:ln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03" name="Regra da Potência Combinada com a Regra da Cadeia: Se n for qualquer número real e u=g(x) for derivável, então…"/>
              <p:cNvSpPr txBox="1"/>
              <p:nvPr/>
            </p:nvSpPr>
            <p:spPr>
              <a:xfrm>
                <a:off x="952500" y="6133936"/>
                <a:ext cx="11099800" cy="2953483"/>
              </a:xfrm>
              <a:prstGeom prst="rect">
                <a:avLst/>
              </a:prstGeom>
              <a:solidFill>
                <a:schemeClr val="accent1"/>
              </a:solidFill>
              <a:ln w="12700">
                <a:miter lim="400000"/>
              </a:ln>
            </p:spPr>
            <p:txBody>
              <a:bodyPr lIns="50800" tIns="50800" rIns="50800" bIns="50800" anchor="ctr">
                <a:spAutoFit/>
              </a:bodyPr>
              <a:lstStyle/>
              <a:p>
                <a:pPr>
                  <a:defRPr sz="2200" b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r>
                  <a:rPr b="1">
                    <a:latin typeface="Helvetica Neue"/>
                    <a:ea typeface="Helvetica Neue"/>
                    <a:cs typeface="Helvetica Neue"/>
                    <a:sym typeface="Helvetica Neue"/>
                  </a:rPr>
                  <a:t>Regra da Potência Combinada com a Regra da Cadeia: </a:t>
                </a:r>
                <a:r>
                  <a:t>Se n for qualquer número real e u=g(x) for derivável, então</a:t>
                </a:r>
              </a:p>
              <a:p>
                <a:pPr>
                  <a:defRPr sz="2200" b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f>
                        <m:fPr>
                          <m:ctrlPr>
                            <a:rPr sz="2650" i="1">
                              <a:solidFill>
                                <a:srgbClr val="FEFEFE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sz="2650" i="1">
                              <a:solidFill>
                                <a:srgbClr val="FEFEFE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sz="2650" i="1">
                              <a:solidFill>
                                <a:srgbClr val="FEFEFE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sz="2650" i="1">
                              <a:solidFill>
                                <a:srgbClr val="FEFEFE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sz="2650" i="1">
                          <a:solidFill>
                            <a:srgbClr val="FEFEFE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/>
                          </m:ctrlPr>
                        </m:sSupPr>
                        <m:e>
                          <m:r>
                            <a:rPr sz="2650" i="1">
                              <a:solidFill>
                                <a:srgbClr val="FEFEFE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p>
                          <m:r>
                            <a:rPr sz="2650" i="1">
                              <a:solidFill>
                                <a:srgbClr val="FEFEFE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sz="2650" i="1">
                          <a:solidFill>
                            <a:srgbClr val="FEFEFE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sz="2650" i="1">
                          <a:solidFill>
                            <a:srgbClr val="FEFEFE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sz="2650" i="1">
                          <a:solidFill>
                            <a:srgbClr val="FEFEFE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sSup>
                        <m:sSupPr>
                          <m:ctrlPr>
                            <a:rPr/>
                          </m:ctrlPr>
                        </m:sSupPr>
                        <m:e>
                          <m:r>
                            <a:rPr sz="2650" i="1">
                              <a:solidFill>
                                <a:srgbClr val="FEFEFE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p>
                          <m:r>
                            <a:rPr sz="2650" i="1">
                              <a:solidFill>
                                <a:srgbClr val="FEFEFE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sz="2650" i="1">
                              <a:solidFill>
                                <a:srgbClr val="FEFEFE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sz="2650" i="1">
                              <a:solidFill>
                                <a:srgbClr val="FEFEFE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f>
                        <m:fPr>
                          <m:ctrlPr>
                            <a:rPr sz="2650" i="1">
                              <a:solidFill>
                                <a:srgbClr val="FEFEFE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sz="2650" i="1">
                              <a:solidFill>
                                <a:srgbClr val="FEFEFE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sz="2650" i="1">
                              <a:solidFill>
                                <a:srgbClr val="FEFEFE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num>
                        <m:den>
                          <m:r>
                            <a:rPr sz="2650" i="1">
                              <a:solidFill>
                                <a:srgbClr val="FEFEFE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sz="2650" i="1">
                              <a:solidFill>
                                <a:srgbClr val="FEFEFE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</m:oMath>
                  </m:oMathPara>
                </a14:m>
              </a:p>
              <a:p>
                <a:pPr>
                  <a:defRPr sz="2200" b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</a:p>
              <a:p>
                <a:pPr>
                  <a:defRPr sz="2200" b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r>
                  <a:t>Ou,</a:t>
                </a:r>
              </a:p>
              <a:p>
                <a:pPr>
                  <a:defRPr sz="2200" b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sz="2650" i="1">
                            <a:solidFill>
                              <a:srgbClr val="FEFEFE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sz="2650" i="1">
                            <a:solidFill>
                              <a:srgbClr val="FEFEFE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sz="2650" i="1">
                            <a:solidFill>
                              <a:srgbClr val="FEFEFE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sz="2650" i="1">
                            <a:solidFill>
                              <a:srgbClr val="FEFEFE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sz="2650" i="1">
                        <a:solidFill>
                          <a:srgbClr val="FEFEFE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sz="2650" i="1">
                        <a:solidFill>
                          <a:srgbClr val="FEFEFE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a:rPr sz="2650" i="1">
                        <a:solidFill>
                          <a:srgbClr val="FEFEFE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sz="2650" i="1">
                        <a:solidFill>
                          <a:srgbClr val="FEFEFE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sSupPr>
                        <m:ctrlPr>
                          <a:rPr/>
                        </m:ctrlPr>
                      </m:sSupPr>
                      <m:e>
                        <m:r>
                          <a:rPr sz="2650" i="1">
                            <a:solidFill>
                              <a:srgbClr val="FEFEFE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sz="2650" i="1">
                            <a:solidFill>
                              <a:srgbClr val="FEFEFE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sz="2650" i="1">
                        <a:solidFill>
                          <a:srgbClr val="FEFEFE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sz="2650" i="1">
                        <a:solidFill>
                          <a:srgbClr val="FEFEFE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sz="2650" i="1">
                        <a:solidFill>
                          <a:srgbClr val="FEFEFE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sz="2650" i="1">
                        <a:solidFill>
                          <a:srgbClr val="FEFEFE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sz="2650" i="1">
                        <a:solidFill>
                          <a:srgbClr val="FEFEFE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a:rPr sz="2650" i="1">
                        <a:solidFill>
                          <a:srgbClr val="FEFEFE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sz="2650" i="1">
                        <a:solidFill>
                          <a:srgbClr val="FEFEFE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sz="2650" i="1">
                        <a:solidFill>
                          <a:srgbClr val="FEFEFE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sSupPr>
                        <m:ctrlPr>
                          <a:rPr/>
                        </m:ctrlPr>
                      </m:sSupPr>
                      <m:e>
                        <m:r>
                          <a:rPr sz="2650" i="1">
                            <a:solidFill>
                              <a:srgbClr val="FEFEFE"/>
                            </a:solidFill>
                            <a:latin typeface="Cambria Math" panose="02040503050406030204" pitchFamily="18" charset="0"/>
                          </a:rPr>
                          <m:t>]</m:t>
                        </m:r>
                      </m:e>
                      <m:sup>
                        <m:r>
                          <a:rPr sz="2650" i="1">
                            <a:solidFill>
                              <a:srgbClr val="FEFEFE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sz="2650" i="1">
                            <a:solidFill>
                              <a:srgbClr val="FEFEFE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sz="2650" i="1">
                            <a:solidFill>
                              <a:srgbClr val="FEFEFE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sSup>
                      <m:sSupPr>
                        <m:ctrlPr>
                          <a:rPr/>
                        </m:ctrlPr>
                      </m:sSupPr>
                      <m:e>
                        <m:r>
                          <a:rPr sz="2650" i="1">
                            <a:solidFill>
                              <a:srgbClr val="FEFEFE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a:rPr sz="2650" i="1">
                            <a:solidFill>
                              <a:srgbClr val="FEFEFE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sz="2650" i="1">
                        <a:solidFill>
                          <a:srgbClr val="FEFEFE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sz="2650" i="1">
                        <a:solidFill>
                          <a:srgbClr val="FEFEFE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sz="2650" i="1">
                        <a:solidFill>
                          <a:srgbClr val="FEFEFE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</a:p>
            </p:txBody>
          </p:sp>
        </mc:Choice>
        <mc:Fallback>
          <p:sp>
            <p:nvSpPr>
              <p:cNvPr id="503" name="Regra da Potência Combinada com a Regra da Cadeia: Se n for qualquer número real e u=g(x) for derivável, então…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2500" y="6133936"/>
                <a:ext cx="11099800" cy="2953483"/>
              </a:xfrm>
              <a:prstGeom prst="rect">
                <a:avLst/>
              </a:prstGeom>
              <a:blipFill rotWithShape="1">
                <a:blip r:embed="rId2"/>
                <a:stretch>
                  <a:fillRect t="-16" b="19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pt-BR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Rectangle 2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Exercício 7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06" name="Rectangle 3"/>
              <p:cNvSpPr txBox="1"/>
              <p:nvPr>
                <p:ph type="body" idx="1"/>
              </p:nvPr>
            </p:nvSpPr>
            <p:spPr>
              <a:prstGeom prst="rect">
                <a:avLst/>
              </a:prstGeom>
            </p:spPr>
            <p:txBody>
              <a:bodyPr/>
              <a:lstStyle/>
              <a:p>
                <a:pPr marL="0" indent="0" defTabSz="549275">
                  <a:lnSpc>
                    <a:spcPct val="110000"/>
                  </a:lnSpc>
                  <a:spcBef>
                    <a:spcPts val="3900"/>
                  </a:spcBef>
                  <a:buSzTx/>
                  <a:buNone/>
                  <a:defRPr sz="3010"/>
                </a:pPr>
                <a:r>
                  <a:rPr b="1">
                    <a:solidFill>
                      <a:schemeClr val="accent5">
                        <a:hueOff val="-82419"/>
                        <a:satOff val="-9511"/>
                        <a:lumOff val="-16341"/>
                      </a:schemeClr>
                    </a:solidFill>
                  </a:rPr>
                  <a:t>Exercício: </a:t>
                </a:r>
                <a:r>
                  <a:t>Derive </a:t>
                </a:r>
                <a:r>
                  <a:rPr i="1"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rPr>
                  <a:t>y</a:t>
                </a:r>
                <a:r>
                  <a:t> = (</a:t>
                </a:r>
                <a:r>
                  <a:rPr i="1"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rPr>
                  <a:t>x</a:t>
                </a:r>
                <a:r>
                  <a:rPr baseline="30000"/>
                  <a:t>3</a:t>
                </a:r>
                <a:r>
                  <a:t> – 1)</a:t>
                </a:r>
                <a:r>
                  <a:rPr baseline="30000"/>
                  <a:t>100</a:t>
                </a:r>
                <a:br>
                  <a:rPr baseline="30000"/>
                </a:br>
                <a:endParaRPr baseline="30000"/>
              </a:p>
              <a:p>
                <a:pPr marL="0" indent="0" defTabSz="549275">
                  <a:lnSpc>
                    <a:spcPct val="110000"/>
                  </a:lnSpc>
                  <a:spcBef>
                    <a:spcPts val="3900"/>
                  </a:spcBef>
                  <a:buSzTx/>
                  <a:buNone/>
                  <a:defRPr sz="3010" cap="all">
                    <a:solidFill>
                      <a:srgbClr val="0073AE"/>
                    </a:solidFill>
                  </a:defRPr>
                </a:pPr>
                <a:r>
                  <a:rPr b="1" cap="none">
                    <a:solidFill>
                      <a:schemeClr val="accent5">
                        <a:hueOff val="-82419"/>
                        <a:satOff val="-9511"/>
                        <a:lumOff val="-16341"/>
                      </a:schemeClr>
                    </a:solidFill>
                  </a:rPr>
                  <a:t>Solução:</a:t>
                </a:r>
                <a:r>
                  <a:rPr cap="none">
                    <a:solidFill>
                      <a:srgbClr val="000000"/>
                    </a:solidFill>
                  </a:rPr>
                  <a:t> Fazendo </a:t>
                </a:r>
                <a:r>
                  <a:rPr i="1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rPr>
                  <a:t>u</a:t>
                </a:r>
                <a:r>
                  <a:rPr cap="none">
                    <a:solidFill>
                      <a:srgbClr val="000000"/>
                    </a:solidFill>
                  </a:rPr>
                  <a:t> = </a:t>
                </a:r>
                <a:r>
                  <a:rPr i="1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rPr>
                  <a:t>g</a:t>
                </a:r>
                <a:r>
                  <a:rPr cap="none">
                    <a:solidFill>
                      <a:srgbClr val="000000"/>
                    </a:solidFill>
                  </a:rPr>
                  <a:t>(</a:t>
                </a:r>
                <a:r>
                  <a:rPr i="1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rPr>
                  <a:t>x</a:t>
                </a:r>
                <a:r>
                  <a:rPr cap="none">
                    <a:solidFill>
                      <a:srgbClr val="000000"/>
                    </a:solidFill>
                  </a:rPr>
                  <a:t>) = </a:t>
                </a:r>
                <a:r>
                  <a:rPr i="1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rPr>
                  <a:t>x</a:t>
                </a:r>
                <a:r>
                  <a:rPr cap="none" baseline="30000">
                    <a:solidFill>
                      <a:srgbClr val="000000"/>
                    </a:solidFill>
                  </a:rPr>
                  <a:t>3</a:t>
                </a:r>
                <a:r>
                  <a:rPr cap="none">
                    <a:solidFill>
                      <a:srgbClr val="000000"/>
                    </a:solidFill>
                  </a:rPr>
                  <a:t> – 1 e </a:t>
                </a:r>
                <a:r>
                  <a:rPr i="1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rPr>
                  <a:t>n</a:t>
                </a:r>
                <a:r>
                  <a:rPr cap="none">
                    <a:solidFill>
                      <a:srgbClr val="000000"/>
                    </a:solidFill>
                  </a:rPr>
                  <a:t> = 100, temos</a:t>
                </a:r>
                <a:br>
                  <a:rPr cap="none">
                    <a:solidFill>
                      <a:srgbClr val="000000"/>
                    </a:solidFill>
                  </a:rPr>
                </a:br>
                <a:endParaRPr cap="none">
                  <a:solidFill>
                    <a:srgbClr val="000000"/>
                  </a:solidFill>
                </a:endParaRPr>
              </a:p>
              <a:p>
                <a:pPr marL="0" indent="0" defTabSz="549275">
                  <a:lnSpc>
                    <a:spcPct val="110000"/>
                  </a:lnSpc>
                  <a:spcBef>
                    <a:spcPts val="3900"/>
                  </a:spcBef>
                  <a:buSzTx/>
                  <a:buNone/>
                  <a:defRPr sz="3010"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sz="3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sz="3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sz="3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num>
                        <m:den>
                          <m:r>
                            <a:rPr sz="3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sz="3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sz="3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sz="3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sz="3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sz="3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sz="3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sz="3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/>
                          </m:ctrlPr>
                        </m:sSupPr>
                        <m:e>
                          <m:r>
                            <a:rPr sz="3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sz="3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sz="3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sz="3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sSup>
                        <m:sSupPr>
                          <m:ctrlPr>
                            <a:rPr/>
                          </m:ctrlPr>
                        </m:sSupPr>
                        <m:e>
                          <m:r>
                            <a:rPr sz="3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sz="3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100</m:t>
                          </m:r>
                        </m:sup>
                      </m:sSup>
                      <m:r>
                        <a:rPr sz="3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sz="3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100</m:t>
                      </m:r>
                      <m:r>
                        <a:rPr sz="3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/>
                          </m:ctrlPr>
                        </m:sSupPr>
                        <m:e>
                          <m:r>
                            <a:rPr sz="3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sz="3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sz="3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sz="3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sSup>
                        <m:sSupPr>
                          <m:ctrlPr>
                            <a:rPr/>
                          </m:ctrlPr>
                        </m:sSupPr>
                        <m:e>
                          <m:r>
                            <a:rPr sz="3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sz="3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99</m:t>
                          </m:r>
                        </m:sup>
                      </m:sSup>
                      <m:f>
                        <m:fPr>
                          <m:ctrlPr>
                            <a:rPr sz="3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sz="3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sz="3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sz="3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sz="3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/>
                          </m:ctrlPr>
                        </m:sSupPr>
                        <m:e>
                          <m:r>
                            <a:rPr sz="3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sz="3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sz="3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sz="3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sz="3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</a:p>
              <a:p>
                <a:pPr marL="0" lvl="8" indent="3760470" defTabSz="549275">
                  <a:lnSpc>
                    <a:spcPct val="110000"/>
                  </a:lnSpc>
                  <a:spcBef>
                    <a:spcPts val="3900"/>
                  </a:spcBef>
                  <a:buSzTx/>
                  <a:buNone/>
                  <a:defRPr sz="3010"/>
                </a:pPr>
                <a14:m>
                  <m:oMath xmlns:m="http://schemas.openxmlformats.org/officeDocument/2006/math">
                    <m:r>
                      <a:rPr sz="37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sz="37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100</m:t>
                    </m:r>
                    <m:r>
                      <a:rPr sz="37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/>
                        </m:ctrlPr>
                      </m:sSupPr>
                      <m:e>
                        <m:r>
                          <a:rPr sz="37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sz="37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sz="37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sz="37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sSupPr>
                        <m:ctrlPr>
                          <a:rPr/>
                        </m:ctrlPr>
                      </m:sSupPr>
                      <m:e>
                        <m:r>
                          <a:rPr sz="37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sz="37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99</m:t>
                        </m:r>
                      </m:sup>
                    </m:sSup>
                    <m:r>
                      <a:rPr sz="37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sSupPr>
                        <m:ctrlPr>
                          <a:rPr/>
                        </m:ctrlPr>
                      </m:sSupPr>
                      <m:e>
                        <m:r>
                          <a:rPr sz="37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sz="37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sz="37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sz="37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300</m:t>
                    </m:r>
                    <m:sSup>
                      <m:sSupPr>
                        <m:ctrlPr>
                          <a:rPr/>
                        </m:ctrlPr>
                      </m:sSupPr>
                      <m:e>
                        <m:r>
                          <a:rPr sz="37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sz="37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sz="37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/>
                        </m:ctrlPr>
                      </m:sSupPr>
                      <m:e>
                        <m:r>
                          <a:rPr sz="37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sz="37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sz="37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sz="37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sSupPr>
                        <m:ctrlPr>
                          <a:rPr/>
                        </m:ctrlPr>
                      </m:sSupPr>
                      <m:e>
                        <m:r>
                          <a:rPr sz="37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sz="37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99</m:t>
                        </m:r>
                      </m:sup>
                    </m:sSup>
                  </m:oMath>
                </a14:m>
                <a:r>
                  <a:rPr sz="37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_x001B_</a:t>
                </a:r>
                <a:br>
                  <a:rPr sz="37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</a:br>
                <a:br>
                  <a:rPr sz="37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</a:br>
                <a:br>
                  <a:rPr sz="37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</a:br>
                <a:endParaRPr sz="3200"/>
              </a:p>
            </p:txBody>
          </p:sp>
        </mc:Choice>
        <mc:Fallback>
          <p:sp>
            <p:nvSpPr>
              <p:cNvPr id="506" name="Rectangle 3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prstGeom prst="rect">
                <a:avLst/>
              </a:prstGeom>
              <a:blipFill rotWithShape="1">
                <a:blip r:embed="rId1"/>
                <a:stretch>
                  <a:fillRect t="-7192" b="-4172"/>
                </a:stretch>
              </a:blipFill>
            </p:spPr>
            <p:txBody>
              <a:bodyPr/>
              <a:lstStyle/>
              <a:p>
                <a:r>
                  <a:rPr lang="pt-BR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dur="indefinite" fill="hold"/>
                                        <p:tgtEl>
                                          <p:spTgt spid="5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1000"/>
                                        <p:tgtEl>
                                          <p:spTgt spid="5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9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dur="indefinite" fill="hold"/>
                                        <p:tgtEl>
                                          <p:spTgt spid="5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1000"/>
                                        <p:tgtEl>
                                          <p:spTgt spid="5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9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3" dur="indefinite" fill="hold"/>
                                        <p:tgtEl>
                                          <p:spTgt spid="50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1000"/>
                                        <p:tgtEl>
                                          <p:spTgt spid="50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6" grpId="1" animBg="1" advAuto="0" build="p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Rectangle 2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A Regra da Cadeia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09" name="Rectangle 3"/>
              <p:cNvSpPr txBox="1"/>
              <p:nvPr>
                <p:ph type="body" idx="1"/>
              </p:nvPr>
            </p:nvSpPr>
            <p:spPr>
              <a:prstGeom prst="rect">
                <a:avLst/>
              </a:prstGeom>
            </p:spPr>
            <p:txBody>
              <a:bodyPr/>
              <a:lstStyle/>
              <a:p>
                <a:pPr marL="0" indent="0" defTabSz="426720">
                  <a:spcBef>
                    <a:spcPts val="3000"/>
                  </a:spcBef>
                  <a:buSzTx/>
                  <a:buNone/>
                  <a:defRPr sz="2335"/>
                </a:pPr>
                <a:r>
                  <a:t>Podemos usar a Regra da Cadeia para derivar uma função exponencial com qualquer base </a:t>
                </a:r>
                <a:r>
                  <a:rPr i="1"/>
                  <a:t>a</a:t>
                </a:r>
                <a:r>
                  <a:t> &gt; 0. Lembre-se de que  a</a:t>
                </a:r>
                <a:r>
                  <a:t> = </a:t>
                </a:r>
                <a:r>
                  <a:t>e</a:t>
                </a:r>
                <a:r>
                  <a:rPr baseline="30000"/>
                  <a:t>ln </a:t>
                </a:r>
                <a:r>
                  <a:rPr baseline="30000"/>
                  <a:t>a</a:t>
                </a:r>
                <a:r>
                  <a:t>. Logo</a:t>
                </a:r>
              </a:p>
              <a:p>
                <a:pPr marL="0" indent="0" defTabSz="426720">
                  <a:spcBef>
                    <a:spcPts val="3000"/>
                  </a:spcBef>
                  <a:buSzTx/>
                  <a:buNone/>
                  <a:defRPr sz="2335"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/>
                          </m:ctrlPr>
                        </m:sSupPr>
                        <m:e>
                          <m:r>
                            <a:rPr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  <m:r>
                        <a:rPr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/>
                          </m:ctrlPr>
                        </m:sSupPr>
                        <m:e>
                          <m:r>
                            <a:rPr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sup>
                      </m:sSup>
                      <m:sSup>
                        <m:sSupPr>
                          <m:ctrlPr>
                            <a:rPr/>
                          </m:ctrlPr>
                        </m:sSupPr>
                        <m:e>
                          <m:r>
                            <a:rPr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  <m:r>
                        <a:rPr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/>
                          </m:ctrlPr>
                        </m:sSupPr>
                        <m:e>
                          <m:r>
                            <a:rPr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</m:oMath>
                  </m:oMathPara>
                </a14:m>
              </a:p>
              <a:p>
                <a:pPr marL="0" indent="0" defTabSz="426720">
                  <a:spcBef>
                    <a:spcPts val="3000"/>
                  </a:spcBef>
                  <a:buSzTx/>
                  <a:buNone/>
                  <a:defRPr sz="2335"/>
                </a:pPr>
                <a:r>
                  <a:t>e a Regra da Cadeia dá</a:t>
                </a:r>
              </a:p>
              <a:p>
                <a:pPr marL="0" lvl="4" indent="1622425" defTabSz="426720">
                  <a:spcBef>
                    <a:spcPts val="3000"/>
                  </a:spcBef>
                  <a:buSzTx/>
                  <a:buNone/>
                  <a:defRPr sz="2335"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/>
                          </m:ctrlPr>
                        </m:sSupPr>
                        <m:e>
                          <m:r>
                            <a:rPr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  <m:r>
                        <a:rPr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/>
                          </m:ctrlPr>
                        </m:sSupPr>
                        <m:e>
                          <m:r>
                            <a:rPr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  <m:r>
                        <a:rPr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/>
                          </m:ctrlPr>
                        </m:sSupPr>
                        <m:e>
                          <m:r>
                            <a:rPr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  <m:f>
                        <m:fPr>
                          <m:ctrlPr>
                            <a:rPr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</a:p>
              <a:p>
                <a:pPr marL="0" lvl="6" indent="2271395" defTabSz="426720">
                  <a:spcBef>
                    <a:spcPts val="3000"/>
                  </a:spcBef>
                  <a:buSzTx/>
                  <a:buNone/>
                  <a:defRPr sz="2335"/>
                </a:pPr>
                <a:r>
                  <a:t>    </a:t>
                </a:r>
                <a14:m>
                  <m:oMath xmlns:m="http://schemas.openxmlformats.org/officeDocument/2006/math">
                    <m:r>
                      <a:rPr sz="2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/>
                        </m:ctrlPr>
                      </m:sSupPr>
                      <m:e>
                        <m:r>
                          <a:rPr sz="2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sz="2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sz="2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sz="2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sz="2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sz="2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sz="2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a:rPr sz="2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𝑙</m:t>
                    </m:r>
                    <m:r>
                      <a:rPr sz="2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sz="2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sz="2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/>
                        </m:ctrlPr>
                      </m:sSupPr>
                      <m:e>
                        <m:r>
                          <a:rPr sz="2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sz="2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a:rPr sz="2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𝑙</m:t>
                    </m:r>
                    <m:r>
                      <a:rPr sz="2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sz="2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</a:p>
              <a:p>
                <a:pPr marL="324485" indent="-324485" defTabSz="426720">
                  <a:spcBef>
                    <a:spcPts val="3000"/>
                  </a:spcBef>
                  <a:defRPr sz="2335"/>
                </a:pPr>
                <a:r>
                  <a:t>Porque ln a é uma constante. Então temos a fórmula</a:t>
                </a:r>
              </a:p>
              <a:p>
                <a:pPr marL="0" indent="0" algn="ctr" defTabSz="426720">
                  <a:spcBef>
                    <a:spcPts val="3000"/>
                  </a:spcBef>
                  <a:buSzTx/>
                  <a:buNone/>
                  <a:defRPr sz="2335"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f>
                        <m:fPr>
                          <m:ctrlPr>
                            <a:rPr sz="28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sz="28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sz="28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sz="28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sz="28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/>
                          </m:ctrlPr>
                        </m:sSupPr>
                        <m:e>
                          <m:r>
                            <a:rPr sz="28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sz="28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  <m:r>
                        <a:rPr sz="28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sz="28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/>
                          </m:ctrlPr>
                        </m:sSupPr>
                        <m:e>
                          <m:r>
                            <a:rPr sz="28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sz="28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  <m:r>
                        <a:rPr sz="28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sz="28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sz="28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sz="28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sz="28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sz="3200"/>
              </a:p>
            </p:txBody>
          </p:sp>
        </mc:Choice>
        <mc:Fallback>
          <p:sp>
            <p:nvSpPr>
              <p:cNvPr id="509" name="Rectangle 3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prstGeom prst="rect">
                <a:avLst/>
              </a:prstGeom>
              <a:blipFill rotWithShape="1">
                <a:blip r:embed="rId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Rectangle 2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A Regra da Cadeia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12" name="Rectangle 3"/>
              <p:cNvSpPr txBox="1"/>
              <p:nvPr>
                <p:ph type="body" idx="1"/>
              </p:nvPr>
            </p:nvSpPr>
            <p:spPr>
              <a:prstGeom prst="rect">
                <a:avLst/>
              </a:prstGeom>
            </p:spPr>
            <p:txBody>
              <a:bodyPr/>
              <a:lstStyle/>
              <a:p>
                <a:pPr marL="373380" indent="-373380" defTabSz="490855">
                  <a:spcBef>
                    <a:spcPts val="3500"/>
                  </a:spcBef>
                  <a:defRPr sz="2690"/>
                </a:pPr>
                <a:r>
                  <a:t>Em particular, se </a:t>
                </a:r>
                <a:r>
                  <a:rPr i="1"/>
                  <a:t>a</a:t>
                </a:r>
                <a:r>
                  <a:t> = 2, obteremos</a:t>
                </a:r>
              </a:p>
              <a:p>
                <a:pPr marL="0" indent="0" algn="ctr" defTabSz="490855">
                  <a:spcBef>
                    <a:spcPts val="3500"/>
                  </a:spcBef>
                  <a:buSzTx/>
                  <a:buNone/>
                  <a:defRPr sz="2690"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f>
                        <m:fPr>
                          <m:ctrlPr>
                            <a:rPr sz="32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sz="32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sz="32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sz="32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sz="32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/>
                          </m:ctrlPr>
                        </m:sSupPr>
                        <m:e>
                          <m:r>
                            <a:rPr sz="32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sz="32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  <m:r>
                        <a:rPr sz="32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sz="32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/>
                          </m:ctrlPr>
                        </m:sSupPr>
                        <m:e>
                          <m:r>
                            <a:rPr sz="32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sz="32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  <m:r>
                        <a:rPr sz="32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sz="32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sz="32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</a:p>
              <a:p>
                <a:pPr marL="373380" indent="-373380" defTabSz="490855">
                  <a:spcBef>
                    <a:spcPts val="3500"/>
                  </a:spcBef>
                  <a:defRPr sz="2690"/>
                </a:pPr>
                <a:r>
                  <a:t>Demos a estimativa</a:t>
                </a:r>
              </a:p>
              <a:p>
                <a:pPr marL="0" indent="0" algn="ctr" defTabSz="490855">
                  <a:spcBef>
                    <a:spcPts val="3500"/>
                  </a:spcBef>
                  <a:buSzTx/>
                  <a:buNone/>
                  <a:defRPr sz="2690"/>
                </a:pPr>
                <a14:m>
                  <m:oMath xmlns:m="http://schemas.openxmlformats.org/officeDocument/2006/math">
                    <m:f>
                      <m:fPr>
                        <m:ctrlPr>
                          <a:rPr sz="3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sz="3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sz="3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sz="3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sz="32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/>
                        </m:ctrlPr>
                      </m:sSupPr>
                      <m:e>
                        <m:r>
                          <a:rPr sz="3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sz="3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a:rPr sz="32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sz="32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sz="32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sz="32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sz="32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sz="32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69</m:t>
                    </m:r>
                    <m:r>
                      <a:rPr sz="32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sSupPr>
                        <m:ctrlPr>
                          <a:rPr/>
                        </m:ctrlPr>
                      </m:sSupPr>
                      <m:e>
                        <m:r>
                          <a:rPr sz="3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sz="3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t> </a:t>
                </a:r>
              </a:p>
              <a:p>
                <a:pPr marL="373380" indent="-373380" defTabSz="490855">
                  <a:spcBef>
                    <a:spcPts val="3500"/>
                  </a:spcBef>
                  <a:defRPr sz="2690"/>
                </a:pPr>
                <a:r>
                  <a:t>Ela é consistente com a fórmula exata, pois ln 2 ≈ 0,693147</a:t>
                </a:r>
              </a:p>
              <a:p>
                <a:pPr marL="373380" indent="-373380" defTabSz="490855">
                  <a:spcBef>
                    <a:spcPts val="3500"/>
                  </a:spcBef>
                  <a:defRPr sz="2690"/>
                </a:pPr>
                <a:r>
                  <a:t>A razão para o nome “Regra da Cadeia” fica evidente se fizermos uma cadeia maior adicionando mais um elo</a:t>
                </a:r>
              </a:p>
            </p:txBody>
          </p:sp>
        </mc:Choice>
        <mc:Fallback>
          <p:sp>
            <p:nvSpPr>
              <p:cNvPr id="512" name="Rectangle 3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prstGeom prst="rect">
                <a:avLst/>
              </a:prstGeom>
              <a:blipFill rotWithShape="1">
                <a:blip r:embed="rId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Rectangle 2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A Regra da Cadeia</a:t>
            </a:r>
          </a:p>
        </p:txBody>
      </p:sp>
      <p:sp>
        <p:nvSpPr>
          <p:cNvPr id="515" name="Rectangle 3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 anchor="t"/>
          <a:lstStyle/>
          <a:p>
            <a:r>
              <a:t>Suponha que </a:t>
            </a:r>
            <a:r>
              <a:rPr i="1"/>
              <a:t>y</a:t>
            </a:r>
            <a:r>
              <a:t> = </a:t>
            </a:r>
            <a:r>
              <a:rPr i="1"/>
              <a:t>f</a:t>
            </a:r>
            <a:r>
              <a:t>(</a:t>
            </a:r>
            <a:r>
              <a:rPr i="1"/>
              <a:t>u</a:t>
            </a:r>
            <a:r>
              <a:t>), </a:t>
            </a:r>
            <a:r>
              <a:rPr i="1"/>
              <a:t>u</a:t>
            </a:r>
            <a:r>
              <a:t> = </a:t>
            </a:r>
            <a:r>
              <a:rPr i="1"/>
              <a:t>g</a:t>
            </a:r>
            <a:r>
              <a:t>(</a:t>
            </a:r>
            <a:r>
              <a:rPr i="1"/>
              <a:t>x</a:t>
            </a:r>
            <a:r>
              <a:t>) e </a:t>
            </a:r>
            <a:r>
              <a:rPr i="1"/>
              <a:t>x</a:t>
            </a:r>
            <a:r>
              <a:t> = </a:t>
            </a:r>
            <a:r>
              <a:rPr i="1"/>
              <a:t>h</a:t>
            </a:r>
            <a:r>
              <a:t>(</a:t>
            </a:r>
            <a:r>
              <a:rPr i="1"/>
              <a:t>t</a:t>
            </a:r>
            <a:r>
              <a:t>), onde </a:t>
            </a:r>
            <a:r>
              <a:rPr i="1"/>
              <a:t>f</a:t>
            </a:r>
            <a:r>
              <a:t>, </a:t>
            </a:r>
            <a:r>
              <a:rPr i="1"/>
              <a:t>g</a:t>
            </a:r>
            <a:r>
              <a:t> e </a:t>
            </a:r>
            <a:r>
              <a:rPr i="1"/>
              <a:t>h</a:t>
            </a:r>
            <a:r>
              <a:t> são funções deriváveis. Então, para calcular a derivada de </a:t>
            </a:r>
            <a:r>
              <a:rPr i="1"/>
              <a:t>y</a:t>
            </a:r>
            <a:r>
              <a:t> em relação a </a:t>
            </a:r>
            <a:r>
              <a:rPr i="1"/>
              <a:t>t</a:t>
            </a:r>
            <a:r>
              <a:t>, usamos duas vezes a Regra da Cadeia:</a:t>
            </a:r>
          </a:p>
        </p:txBody>
      </p:sp>
      <p:pic>
        <p:nvPicPr>
          <p:cNvPr id="516" name="Picture 5" descr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88079" y="4791390"/>
            <a:ext cx="5628642" cy="1248551"/>
          </a:xfrm>
          <a:prstGeom prst="rect">
            <a:avLst/>
          </a:prstGeom>
          <a:ln w="12700">
            <a:miter lim="400000"/>
            <a:headEnd/>
            <a:tailEnd/>
          </a:ln>
        </p:spPr>
      </p:pic>
    </p:spTree>
  </p:cSld>
  <p:clrMapOvr>
    <a:masterClrMapping/>
  </p:clrMapOvr>
  <p:transition spd="med"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5" name="Imagem" descr="Imagem"/>
          <p:cNvPicPr>
            <a:picLocks noChangeAspect="1"/>
          </p:cNvPicPr>
          <p:nvPr>
            <p:ph type="pic" idx="13"/>
          </p:nvPr>
        </p:nvPicPr>
        <p:blipFill>
          <a:blip r:embed="rId1"/>
          <a:srcRect l="2929" r="2929"/>
          <a:stretch>
            <a:fillRect/>
          </a:stretch>
        </p:blipFill>
        <p:spPr>
          <a:xfrm>
            <a:off x="0" y="0"/>
            <a:ext cx="13004800" cy="9753600"/>
          </a:xfrm>
          <a:prstGeom prst="rect">
            <a:avLst/>
          </a:prstGeom>
        </p:spPr>
      </p:pic>
      <p:sp>
        <p:nvSpPr>
          <p:cNvPr id="346" name="FUNÇÕES EXPONENCIAIS"/>
          <p:cNvSpPr txBox="1"/>
          <p:nvPr/>
        </p:nvSpPr>
        <p:spPr>
          <a:xfrm>
            <a:off x="2405379" y="4447859"/>
            <a:ext cx="8194041" cy="857882"/>
          </a:xfrm>
          <a:prstGeom prst="rect">
            <a:avLst/>
          </a:prstGeom>
          <a:solidFill>
            <a:srgbClr val="929292"/>
          </a:solidFill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>
            <a:lvl1pPr>
              <a:defRPr sz="5000">
                <a:solidFill>
                  <a:srgbClr val="FFFFFF"/>
                </a:solidFill>
              </a:defRPr>
            </a:lvl1pPr>
          </a:lstStyle>
          <a:p>
            <a:r>
              <a:t>FUNÇÕES EXPONENCIAIS</a:t>
            </a:r>
          </a:p>
        </p:txBody>
      </p:sp>
    </p:spTree>
  </p:cSld>
  <p:clrMapOvr>
    <a:masterClrMapping/>
  </p:clrMapOvr>
  <p:transition spd="med"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Funções Exponenciai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Funções Exponenciais</a:t>
            </a:r>
          </a:p>
        </p:txBody>
      </p:sp>
      <p:sp>
        <p:nvSpPr>
          <p:cNvPr id="349" name="Vamos tentar calcular a derivada da função exponencial f (x) = ax usando a definição de derivada:…"/>
          <p:cNvSpPr txBox="1"/>
          <p:nvPr>
            <p:ph type="body" idx="1"/>
          </p:nvPr>
        </p:nvSpPr>
        <p:spPr>
          <a:xfrm>
            <a:off x="952500" y="2590800"/>
            <a:ext cx="11099800" cy="5307664"/>
          </a:xfrm>
          <a:prstGeom prst="rect">
            <a:avLst/>
          </a:prstGeom>
        </p:spPr>
        <p:txBody>
          <a:bodyPr/>
          <a:lstStyle/>
          <a:p>
            <a:pPr marL="395605" indent="-395605" defTabSz="520065">
              <a:spcBef>
                <a:spcPts val="3700"/>
              </a:spcBef>
              <a:defRPr sz="2850"/>
            </a:pPr>
            <a:r>
              <a:t>Vamos tentar calcular a derivada da </a:t>
            </a:r>
            <a:r>
              <a:rPr b="1">
                <a:solidFill>
                  <a:schemeClr val="accent5">
                    <a:hueOff val="-82419"/>
                    <a:satOff val="-9510"/>
                    <a:lumOff val="-16340"/>
                  </a:schemeClr>
                </a:solidFill>
              </a:rPr>
              <a:t>função exponencial </a:t>
            </a:r>
            <a:r>
              <a:t>f</a:t>
            </a:r>
            <a:r>
              <a:rPr sz="445"/>
              <a:t> </a:t>
            </a:r>
            <a:r>
              <a:t>(</a:t>
            </a:r>
            <a:r>
              <a:t>x</a:t>
            </a:r>
            <a:r>
              <a:t>) = </a:t>
            </a:r>
            <a:r>
              <a:t>a</a:t>
            </a:r>
            <a:r>
              <a:rPr baseline="30000"/>
              <a:t>x</a:t>
            </a:r>
            <a:r>
              <a:t> usando a definição de derivada:</a:t>
            </a:r>
          </a:p>
          <a:p>
            <a:pPr marL="395605" indent="-395605" defTabSz="520065">
              <a:lnSpc>
                <a:spcPct val="115000"/>
              </a:lnSpc>
              <a:spcBef>
                <a:spcPts val="3700"/>
              </a:spcBef>
              <a:defRPr sz="2850"/>
            </a:pPr>
          </a:p>
          <a:p>
            <a:pPr marL="395605" indent="-395605" defTabSz="520065">
              <a:lnSpc>
                <a:spcPct val="115000"/>
              </a:lnSpc>
              <a:spcBef>
                <a:spcPts val="3700"/>
              </a:spcBef>
              <a:defRPr sz="2850"/>
            </a:pPr>
          </a:p>
          <a:p>
            <a:pPr marL="395605" indent="-395605" defTabSz="520065">
              <a:lnSpc>
                <a:spcPct val="115000"/>
              </a:lnSpc>
              <a:spcBef>
                <a:spcPts val="3700"/>
              </a:spcBef>
              <a:defRPr sz="2850"/>
            </a:pPr>
          </a:p>
          <a:p>
            <a:pPr marL="395605" indent="-395605" defTabSz="520065">
              <a:lnSpc>
                <a:spcPct val="115000"/>
              </a:lnSpc>
              <a:spcBef>
                <a:spcPts val="3700"/>
              </a:spcBef>
              <a:defRPr sz="2850"/>
            </a:pPr>
            <a:r>
              <a:t>O fator </a:t>
            </a:r>
            <a:r>
              <a:rPr i="1"/>
              <a:t>a</a:t>
            </a:r>
            <a:r>
              <a:rPr i="1" baseline="30000"/>
              <a:t>x</a:t>
            </a:r>
            <a:r>
              <a:t> não depende de </a:t>
            </a:r>
            <a:r>
              <a:rPr i="1"/>
              <a:t>h</a:t>
            </a:r>
            <a:r>
              <a:t>, logo podemos colocá-lo adiante do limite:</a:t>
            </a:r>
          </a:p>
        </p:txBody>
      </p:sp>
      <p:grpSp>
        <p:nvGrpSpPr>
          <p:cNvPr id="352" name="Grupo"/>
          <p:cNvGrpSpPr/>
          <p:nvPr/>
        </p:nvGrpSpPr>
        <p:grpSpPr>
          <a:xfrm>
            <a:off x="1227044" y="4249041"/>
            <a:ext cx="6608887" cy="1991182"/>
            <a:chOff x="0" y="0"/>
            <a:chExt cx="6608885" cy="1991180"/>
          </a:xfrm>
        </p:grpSpPr>
        <p:pic>
          <p:nvPicPr>
            <p:cNvPr id="350" name="image.png" descr="image.png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0" y="0"/>
              <a:ext cx="6608886" cy="885879"/>
            </a:xfrm>
            <a:prstGeom prst="rect">
              <a:avLst/>
            </a:prstGeom>
            <a:ln w="12700" cap="flat">
              <a:noFill/>
              <a:miter lim="400000"/>
              <a:headEnd/>
              <a:tailEnd/>
            </a:ln>
            <a:effectLst/>
          </p:spPr>
        </p:pic>
        <p:pic>
          <p:nvPicPr>
            <p:cNvPr id="351" name="image.png" descr="image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64591" y="1047989"/>
              <a:ext cx="4977953" cy="943192"/>
            </a:xfrm>
            <a:prstGeom prst="rect">
              <a:avLst/>
            </a:prstGeom>
            <a:ln w="12700" cap="flat">
              <a:noFill/>
              <a:miter lim="400000"/>
              <a:headEnd/>
              <a:tailEnd/>
            </a:ln>
            <a:effectLst/>
          </p:spPr>
        </p:pic>
      </p:grpSp>
      <p:grpSp>
        <p:nvGrpSpPr>
          <p:cNvPr id="355" name="image.png"/>
          <p:cNvGrpSpPr/>
          <p:nvPr/>
        </p:nvGrpSpPr>
        <p:grpSpPr>
          <a:xfrm>
            <a:off x="4178582" y="7905267"/>
            <a:ext cx="4647636" cy="1513276"/>
            <a:chOff x="0" y="0"/>
            <a:chExt cx="4647635" cy="1513275"/>
          </a:xfrm>
        </p:grpSpPr>
        <p:pic>
          <p:nvPicPr>
            <p:cNvPr id="354" name="image.png" descr="image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7000" y="88900"/>
              <a:ext cx="4393636" cy="1183076"/>
            </a:xfrm>
            <a:prstGeom prst="rect">
              <a:avLst/>
            </a:prstGeom>
            <a:ln>
              <a:noFill/>
            </a:ln>
            <a:effectLst/>
          </p:spPr>
        </p:pic>
        <p:pic>
          <p:nvPicPr>
            <p:cNvPr id="353" name="image.png" descr="image.png"/>
            <p:cNvPicPr/>
            <p:nvPr/>
          </p:nvPicPr>
          <p:blipFill>
            <a:blip r:embed="rId4"/>
            <a:stretch>
              <a:fillRect/>
            </a:stretch>
          </p:blipFill>
          <p:spPr>
            <a:xfrm>
              <a:off x="0" y="0"/>
              <a:ext cx="4647636" cy="1513276"/>
            </a:xfrm>
            <a:prstGeom prst="rect">
              <a:avLst/>
            </a:prstGeom>
            <a:effectLst/>
          </p:spPr>
        </p:pic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56" name="Relembrar Propriedades Logaritmos e Exponenciais"/>
              <p:cNvSpPr txBox="1"/>
              <p:nvPr/>
            </p:nvSpPr>
            <p:spPr>
              <a:xfrm>
                <a:off x="8585259" y="4649781"/>
                <a:ext cx="3872621" cy="1189701"/>
              </a:xfrm>
              <a:prstGeom prst="rect">
                <a:avLst/>
              </a:prstGeom>
              <a:solidFill>
                <a:schemeClr val="accent5">
                  <a:hueOff val="-82419"/>
                  <a:satOff val="-9510"/>
                  <a:lumOff val="-16340"/>
                </a:schemeClr>
              </a:solidFill>
              <a:ln w="12700">
                <a:miter lim="400000"/>
              </a:ln>
            </p:spPr>
            <p:txBody>
              <a:bodyPr lIns="50800" tIns="50800" rIns="50800" bIns="50800" anchor="ctr">
                <a:spAutoFit/>
              </a:bodyPr>
              <a:lstStyle/>
              <a:p>
                <a:pPr>
                  <a:defRPr sz="2200" b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r>
                  <a:rPr sz="2400"/>
                  <a:t>Relembrar Propriedades Logaritmos e Exponenciais</a:t>
                </a:r>
                <a:endParaRPr sz="2400"/>
              </a:p>
              <a:p>
                <a:pPr>
                  <a:defRPr sz="2200" b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p>
                        <m:sSupPr>
                          <m:ctrlPr>
                            <a:rPr sz="2400"/>
                          </m:ctrlPr>
                        </m:sSupPr>
                        <m:e>
                          <m:r>
                            <a:rPr sz="2650" i="1">
                              <a:solidFill>
                                <a:srgbClr val="FEFEFE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sz="2650" i="1">
                              <a:solidFill>
                                <a:srgbClr val="FEFEFE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sz="2650" i="1">
                              <a:solidFill>
                                <a:srgbClr val="FEFEFE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sz="2650" i="1">
                              <a:solidFill>
                                <a:srgbClr val="FEFEFE"/>
                              </a:solidFill>
                              <a:latin typeface="Cambria Math" panose="02040503050406030204" pitchFamily="18" charset="0"/>
                            </a:rPr>
                            <m:t>ℎ</m:t>
                          </m:r>
                        </m:sup>
                      </m:sSup>
                      <m:r>
                        <a:rPr sz="2650" i="1">
                          <a:solidFill>
                            <a:srgbClr val="FEFEFE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sz="2400"/>
                          </m:ctrlPr>
                        </m:sSupPr>
                        <m:e>
                          <m:r>
                            <a:rPr sz="2650" i="1">
                              <a:solidFill>
                                <a:srgbClr val="FEFEFE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sz="2650" i="1">
                              <a:solidFill>
                                <a:srgbClr val="FEFEFE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  <m:sSup>
                        <m:sSupPr>
                          <m:ctrlPr>
                            <a:rPr sz="2400"/>
                          </m:ctrlPr>
                        </m:sSupPr>
                        <m:e>
                          <m:r>
                            <a:rPr sz="2650" i="1">
                              <a:solidFill>
                                <a:srgbClr val="FEFEFE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sz="2650" i="1">
                              <a:solidFill>
                                <a:srgbClr val="FEFEFE"/>
                              </a:solidFill>
                              <a:latin typeface="Cambria Math" panose="02040503050406030204" pitchFamily="18" charset="0"/>
                            </a:rPr>
                            <m:t>ℎ</m:t>
                          </m:r>
                        </m:sup>
                      </m:sSup>
                    </m:oMath>
                  </m:oMathPara>
                </a14:m>
                <a:endParaRPr sz="2400"/>
              </a:p>
            </p:txBody>
          </p:sp>
        </mc:Choice>
        <mc:Fallback>
          <p:sp>
            <p:nvSpPr>
              <p:cNvPr id="356" name="Relembrar Propriedades Logaritmos e Exponenciais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85259" y="4649781"/>
                <a:ext cx="3872621" cy="1189701"/>
              </a:xfrm>
              <a:prstGeom prst="rect">
                <a:avLst/>
              </a:prstGeom>
              <a:blipFill rotWithShape="1">
                <a:blip r:embed="rId5"/>
                <a:stretch>
                  <a:fillRect l="-2" t="-12516" r="12" b="-12541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pt-BR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Funções Exponenciai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Funções Exponenciais</a:t>
            </a:r>
          </a:p>
        </p:txBody>
      </p:sp>
      <p:sp>
        <p:nvSpPr>
          <p:cNvPr id="359" name="Observe que o limite é o valor da derivada de f em 0, isto é,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377825" indent="-377825" defTabSz="496570">
              <a:spcBef>
                <a:spcPts val="3500"/>
              </a:spcBef>
              <a:defRPr sz="2720"/>
            </a:pPr>
            <a:r>
              <a:t>Observe que o </a:t>
            </a:r>
            <a:r>
              <a:rPr b="1">
                <a:solidFill>
                  <a:schemeClr val="accent5">
                    <a:hueOff val="-82419"/>
                    <a:satOff val="-9510"/>
                    <a:lumOff val="-16340"/>
                  </a:schemeClr>
                </a:solidFill>
              </a:rPr>
              <a:t>limite é o valor da derivada de </a:t>
            </a:r>
            <a:r>
              <a:rPr b="1" i="1">
                <a:solidFill>
                  <a:schemeClr val="accent5">
                    <a:hueOff val="-82419"/>
                    <a:satOff val="-9510"/>
                    <a:lumOff val="-16340"/>
                  </a:schemeClr>
                </a:solidFill>
              </a:rPr>
              <a:t>f</a:t>
            </a:r>
            <a:r>
              <a:rPr b="1">
                <a:solidFill>
                  <a:schemeClr val="accent5">
                    <a:hueOff val="-82419"/>
                    <a:satOff val="-9510"/>
                    <a:lumOff val="-16340"/>
                  </a:schemeClr>
                </a:solidFill>
              </a:rPr>
              <a:t> em 0</a:t>
            </a:r>
            <a:r>
              <a:t>, isto é,</a:t>
            </a:r>
          </a:p>
          <a:p>
            <a:pPr marL="377825" indent="-377825" defTabSz="496570">
              <a:lnSpc>
                <a:spcPct val="110000"/>
              </a:lnSpc>
              <a:spcBef>
                <a:spcPts val="3500"/>
              </a:spcBef>
              <a:defRPr sz="2720"/>
            </a:pPr>
          </a:p>
          <a:p>
            <a:pPr marL="377825" indent="-377825" defTabSz="496570">
              <a:lnSpc>
                <a:spcPct val="110000"/>
              </a:lnSpc>
              <a:spcBef>
                <a:spcPts val="3500"/>
              </a:spcBef>
              <a:defRPr sz="2720"/>
            </a:pPr>
          </a:p>
          <a:p>
            <a:pPr marL="377825" indent="-377825" defTabSz="496570">
              <a:spcBef>
                <a:spcPts val="3500"/>
              </a:spcBef>
              <a:defRPr sz="2720"/>
            </a:pPr>
            <a:r>
              <a:t>Portanto, mostramos que se a função exponencial f</a:t>
            </a:r>
            <a:r>
              <a:rPr sz="425"/>
              <a:t> </a:t>
            </a:r>
            <a:r>
              <a:t>(</a:t>
            </a:r>
            <a:r>
              <a:t>x</a:t>
            </a:r>
            <a:r>
              <a:t>) = </a:t>
            </a:r>
            <a:r>
              <a:t>a</a:t>
            </a:r>
            <a:r>
              <a:rPr baseline="30000"/>
              <a:t>x </a:t>
            </a:r>
            <a:r>
              <a:t>for derivável em 0, então é derivável em toda </a:t>
            </a:r>
            <a:r>
              <a:t>a parte e</a:t>
            </a:r>
          </a:p>
          <a:p>
            <a:pPr marL="0" lvl="1" indent="0" algn="ctr" defTabSz="496570">
              <a:lnSpc>
                <a:spcPct val="110000"/>
              </a:lnSpc>
              <a:spcBef>
                <a:spcPts val="3500"/>
              </a:spcBef>
              <a:buSzTx/>
              <a:buNone/>
              <a:defRPr sz="2720"/>
            </a:pPr>
            <a:r>
              <a:rPr i="1"/>
              <a:t>f</a:t>
            </a:r>
            <a:r>
              <a:rPr sz="935" i="1"/>
              <a:t> </a:t>
            </a:r>
            <a:r>
              <a:t>′(</a:t>
            </a:r>
            <a:r>
              <a:rPr i="1"/>
              <a:t>x</a:t>
            </a:r>
            <a:r>
              <a:t>) = </a:t>
            </a:r>
            <a:r>
              <a:rPr i="1"/>
              <a:t>f</a:t>
            </a:r>
            <a:r>
              <a:rPr sz="935" i="1"/>
              <a:t> </a:t>
            </a:r>
            <a:r>
              <a:t>′(0)</a:t>
            </a:r>
            <a:r>
              <a:rPr sz="935"/>
              <a:t> </a:t>
            </a:r>
            <a:r>
              <a:rPr i="1"/>
              <a:t>a</a:t>
            </a:r>
            <a:r>
              <a:rPr i="1" baseline="30000"/>
              <a:t>x</a:t>
            </a:r>
            <a:r>
              <a:t> </a:t>
            </a:r>
          </a:p>
          <a:p>
            <a:pPr marL="377825" indent="-377825" defTabSz="496570">
              <a:spcBef>
                <a:spcPts val="3500"/>
              </a:spcBef>
              <a:defRPr sz="2720"/>
            </a:pPr>
            <a:r>
              <a:t>Essa equação diz que </a:t>
            </a:r>
            <a:r>
              <a:rPr i="1"/>
              <a:t>a taxa de variação de qualquer função exponencial é proporcional à própria função </a:t>
            </a:r>
            <a:r>
              <a:t>(a inclinação é proporcional à altura)</a:t>
            </a:r>
          </a:p>
        </p:txBody>
      </p:sp>
      <p:pic>
        <p:nvPicPr>
          <p:cNvPr id="360" name="image.png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22789" y="3604253"/>
            <a:ext cx="3559221" cy="1009605"/>
          </a:xfrm>
          <a:prstGeom prst="rect">
            <a:avLst/>
          </a:prstGeom>
          <a:ln w="12700">
            <a:miter lim="400000"/>
            <a:headEnd/>
            <a:tailEnd/>
          </a:ln>
        </p:spPr>
      </p:pic>
    </p:spTree>
  </p:cSld>
  <p:clrMapOvr>
    <a:masterClrMapping/>
  </p:clrMapOvr>
  <p:transition spd="med"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Funções Exponenciai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Funções Exponenciais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63" name="Uma evidência numérica para a existência de f ′(0) é dada na tabela à direita para os casos a = 2 e a = 3…"/>
              <p:cNvSpPr txBox="1"/>
              <p:nvPr>
                <p:ph type="body" sz="half" idx="1"/>
              </p:nvPr>
            </p:nvSpPr>
            <p:spPr>
              <a:xfrm>
                <a:off x="952500" y="2590800"/>
                <a:ext cx="7059971" cy="5616854"/>
              </a:xfrm>
              <a:prstGeom prst="rect">
                <a:avLst/>
              </a:prstGeom>
            </p:spPr>
            <p:txBody>
              <a:bodyPr anchor="t"/>
              <a:lstStyle/>
              <a:p>
                <a:pPr marL="322580" indent="-322580" defTabSz="549275">
                  <a:spcBef>
                    <a:spcPts val="3000"/>
                  </a:spcBef>
                  <a:defRPr sz="2630"/>
                </a:pPr>
                <a:r>
                  <a:t>Uma </a:t>
                </a:r>
                <a:r>
                  <a:rPr b="1">
                    <a:solidFill>
                      <a:schemeClr val="accent5">
                        <a:hueOff val="-82419"/>
                        <a:satOff val="-9510"/>
                        <a:lumOff val="-16340"/>
                      </a:schemeClr>
                    </a:solidFill>
                  </a:rPr>
                  <a:t>evidência numérica</a:t>
                </a:r>
                <a:r>
                  <a:t> para a existência de </a:t>
                </a:r>
                <a:r>
                  <a:rPr i="1"/>
                  <a:t>f</a:t>
                </a:r>
                <a:r>
                  <a:rPr sz="1035" i="1"/>
                  <a:t> </a:t>
                </a:r>
                <a:r>
                  <a:t>′(0) é dada na tabela à direita para os casos </a:t>
                </a:r>
                <a:r>
                  <a:rPr i="1"/>
                  <a:t>a</a:t>
                </a:r>
                <a:r>
                  <a:t> = 2 e </a:t>
                </a:r>
                <a:r>
                  <a:rPr i="1"/>
                  <a:t>a</a:t>
                </a:r>
                <a:r>
                  <a:t> = 3</a:t>
                </a:r>
              </a:p>
              <a:p>
                <a:pPr marL="322580" indent="-322580" defTabSz="549275">
                  <a:spcBef>
                    <a:spcPts val="3000"/>
                  </a:spcBef>
                  <a:defRPr sz="2630"/>
                </a:pPr>
              </a:p>
              <a:p>
                <a:pPr marL="322580" indent="-322580" defTabSz="549275">
                  <a:spcBef>
                    <a:spcPts val="3000"/>
                  </a:spcBef>
                  <a:defRPr sz="2630"/>
                </a:pPr>
                <a:r>
                  <a:t>Aparentemente, os limites existem e</a:t>
                </a:r>
              </a:p>
              <a:p>
                <a:pPr marL="740410" lvl="1" indent="-322580" defTabSz="549275">
                  <a:spcBef>
                    <a:spcPts val="3000"/>
                  </a:spcBef>
                  <a:defRPr sz="2630"/>
                </a:pPr>
                <a:r>
                  <a:t>Para a=2,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/>
                        </m:ctrlPr>
                      </m:sSupPr>
                      <m:e>
                        <m:r>
                          <a:rPr sz="3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sz="3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sz="3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sz="3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sz="3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sz="3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sz="3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𝑙</m:t>
                    </m:r>
                    <m:r>
                      <a:rPr sz="3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sSub>
                      <m:sSubPr>
                        <m:ctrlPr>
                          <a:rPr/>
                        </m:ctrlPr>
                      </m:sSubPr>
                      <m:e>
                        <m:r>
                          <a:rPr sz="3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sz="3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r>
                          <a:rPr sz="3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sz="3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f>
                      <m:fPr>
                        <m:ctrlPr>
                          <a:rPr sz="3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/>
                            </m:ctrlPr>
                          </m:sSupPr>
                          <m:e>
                            <m:r>
                              <a:rPr sz="31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sz="31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ℎ</m:t>
                            </m:r>
                          </m:sup>
                        </m:sSup>
                        <m:r>
                          <a:rPr sz="3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sz="3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sz="3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den>
                    </m:f>
                    <m:r>
                      <a:rPr sz="3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sz="3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sz="3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sz="3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69</m:t>
                    </m:r>
                  </m:oMath>
                </a14:m>
              </a:p>
              <a:p>
                <a:pPr marL="740410" lvl="1" indent="-322580" defTabSz="549275">
                  <a:spcBef>
                    <a:spcPts val="3000"/>
                  </a:spcBef>
                  <a:defRPr sz="2630"/>
                </a:pPr>
                <a:r>
                  <a:t>Para a=3,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/>
                        </m:ctrlPr>
                      </m:sSupPr>
                      <m:e>
                        <m:r>
                          <a:rPr sz="3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sz="3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sz="3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sz="3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sz="3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sz="3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sz="3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𝑙</m:t>
                    </m:r>
                    <m:r>
                      <a:rPr sz="3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sSub>
                      <m:sSubPr>
                        <m:ctrlPr>
                          <a:rPr/>
                        </m:ctrlPr>
                      </m:sSubPr>
                      <m:e>
                        <m:r>
                          <a:rPr sz="3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sz="3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r>
                          <a:rPr sz="3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sz="3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f>
                      <m:fPr>
                        <m:ctrlPr>
                          <a:rPr sz="3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/>
                            </m:ctrlPr>
                          </m:sSupPr>
                          <m:e>
                            <m:r>
                              <a:rPr sz="31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  <m:sup>
                            <m:r>
                              <a:rPr sz="31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ℎ</m:t>
                            </m:r>
                          </m:sup>
                        </m:sSup>
                        <m:r>
                          <a:rPr sz="3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sz="3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sz="3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den>
                    </m:f>
                    <m:r>
                      <a:rPr sz="3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sz="3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sz="3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sz="3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endParaRPr sz="2800"/>
              </a:p>
            </p:txBody>
          </p:sp>
        </mc:Choice>
        <mc:Fallback>
          <p:sp>
            <p:nvSpPr>
              <p:cNvPr id="363" name="Uma evidência numérica para a existência de f ′(0) é dada na tabela à direita para os casos a = 2 e a = 3…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ph type="body" sz="half" idx="1"/>
              </p:nvPr>
            </p:nvSpPr>
            <p:spPr>
              <a:xfrm>
                <a:off x="952500" y="2590800"/>
                <a:ext cx="7059971" cy="5616854"/>
              </a:xfrm>
              <a:prstGeom prst="rect">
                <a:avLst/>
              </a:prstGeom>
              <a:blipFill rotWithShape="1">
                <a:blip r:embed="rId1"/>
                <a:stretch>
                  <a:fillRect t="-927" r="1" b="5"/>
                </a:stretch>
              </a:blipFill>
            </p:spPr>
            <p:txBody>
              <a:bodyPr/>
              <a:lstStyle/>
              <a:p>
                <a:r>
                  <a:rPr lang="pt-B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66" name="image.png"/>
          <p:cNvGrpSpPr/>
          <p:nvPr/>
        </p:nvGrpSpPr>
        <p:grpSpPr>
          <a:xfrm>
            <a:off x="8390950" y="2063828"/>
            <a:ext cx="4164473" cy="2980832"/>
            <a:chOff x="0" y="0"/>
            <a:chExt cx="4164471" cy="2980831"/>
          </a:xfrm>
        </p:grpSpPr>
        <p:pic>
          <p:nvPicPr>
            <p:cNvPr id="365" name="image.png" descr="image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27000" y="88900"/>
              <a:ext cx="3910472" cy="2650632"/>
            </a:xfrm>
            <a:prstGeom prst="rect">
              <a:avLst/>
            </a:prstGeom>
            <a:ln>
              <a:noFill/>
            </a:ln>
            <a:effectLst/>
          </p:spPr>
        </p:pic>
        <p:pic>
          <p:nvPicPr>
            <p:cNvPr id="364" name="image.png" descr="image.png"/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0" y="0"/>
              <a:ext cx="4164472" cy="2980832"/>
            </a:xfrm>
            <a:prstGeom prst="rect">
              <a:avLst/>
            </a:prstGeom>
            <a:effectLst/>
          </p:spPr>
        </p:pic>
      </p:grpSp>
    </p:spTree>
  </p:cSld>
  <p:clrMapOvr>
    <a:masterClrMapping/>
  </p:clrMapOvr>
  <p:transition spd="med"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Funções Exponenciai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Funções Exponenciais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69" name="Na realidade, pode ser demonstrado que estes limites existem e, com precisão, até a sexta casa decimal, seus valores são…"/>
              <p:cNvSpPr txBox="1"/>
              <p:nvPr>
                <p:ph type="body" idx="1"/>
              </p:nvPr>
            </p:nvSpPr>
            <p:spPr>
              <a:xfrm>
                <a:off x="952500" y="2578100"/>
                <a:ext cx="11099800" cy="6286500"/>
              </a:xfrm>
              <a:prstGeom prst="rect">
                <a:avLst/>
              </a:prstGeom>
            </p:spPr>
            <p:txBody>
              <a:bodyPr/>
              <a:lstStyle/>
              <a:p>
                <a:pPr marL="355600" indent="-355600" defTabSz="467360">
                  <a:spcBef>
                    <a:spcPts val="3300"/>
                  </a:spcBef>
                  <a:defRPr sz="2560"/>
                </a:pPr>
                <a:r>
                  <a:t>Na realidade, pode ser demonstrado que estes limites existem e, com precisão, até a sexta casa decimal, seus valores são</a:t>
                </a:r>
              </a:p>
              <a:p>
                <a:pPr marL="0" indent="0" algn="ctr" defTabSz="467360">
                  <a:lnSpc>
                    <a:spcPct val="120000"/>
                  </a:lnSpc>
                  <a:spcBef>
                    <a:spcPts val="3300"/>
                  </a:spcBef>
                  <a:buSzTx/>
                  <a:buNone/>
                  <a:defRPr sz="2560"/>
                </a:pPr>
                <a14:m>
                  <m:oMath xmlns:m="http://schemas.openxmlformats.org/officeDocument/2006/math">
                    <m:f>
                      <m:fPr>
                        <m:ctrlPr>
                          <a:rPr sz="3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sz="3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sz="3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sz="3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sz="3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/>
                        </m:ctrlPr>
                      </m:sSupPr>
                      <m:e>
                        <m:r>
                          <a:rPr sz="3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sz="3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a:rPr sz="3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b>
                      <m:sSubPr>
                        <m:ctrlPr>
                          <a:rPr/>
                        </m:ctrlPr>
                      </m:sSubPr>
                      <m:e>
                        <m:r>
                          <a:rPr sz="3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b>
                        <m:r>
                          <a:rPr sz="3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sz="3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sz="3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sz="3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sz="3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sz="3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sz="3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693147</m:t>
                    </m:r>
                  </m:oMath>
                </a14:m>
                <a:r>
                  <a:t>,  </a:t>
                </a:r>
                <a14:m>
                  <m:oMath xmlns:m="http://schemas.openxmlformats.org/officeDocument/2006/math">
                    <m:f>
                      <m:fPr>
                        <m:ctrlPr>
                          <a:rPr sz="3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sz="3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sz="3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sz="3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sz="3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/>
                        </m:ctrlPr>
                      </m:sSupPr>
                      <m:e>
                        <m:r>
                          <a:rPr sz="3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sz="3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a:rPr sz="3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b>
                      <m:sSubPr>
                        <m:ctrlPr>
                          <a:rPr/>
                        </m:ctrlPr>
                      </m:sSubPr>
                      <m:e>
                        <m:r>
                          <a:rPr sz="3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b>
                        <m:r>
                          <a:rPr sz="3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sz="3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sz="3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sz="3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sz="3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sz="3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sz="3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098612</m:t>
                    </m:r>
                  </m:oMath>
                </a14:m>
              </a:p>
              <a:p>
                <a:pPr marL="355600" indent="-355600" defTabSz="467360">
                  <a:lnSpc>
                    <a:spcPct val="120000"/>
                  </a:lnSpc>
                  <a:spcBef>
                    <a:spcPts val="3300"/>
                  </a:spcBef>
                  <a:defRPr sz="2560"/>
                </a:pPr>
                <a:r>
                  <a:t>Assim, temos</a:t>
                </a:r>
              </a:p>
              <a:p>
                <a:pPr marL="0" indent="0" algn="ctr" defTabSz="467360">
                  <a:lnSpc>
                    <a:spcPct val="120000"/>
                  </a:lnSpc>
                  <a:spcBef>
                    <a:spcPts val="3300"/>
                  </a:spcBef>
                  <a:buSzTx/>
                  <a:buNone/>
                  <a:defRPr sz="2560"/>
                </a:pPr>
                <a14:m>
                  <m:oMath xmlns:m="http://schemas.openxmlformats.org/officeDocument/2006/math">
                    <m:f>
                      <m:fPr>
                        <m:ctrlPr>
                          <a:rPr sz="3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sz="3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sz="3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sz="3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sz="3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/>
                        </m:ctrlPr>
                      </m:sSupPr>
                      <m:e>
                        <m:r>
                          <a:rPr sz="3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sz="3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a:rPr sz="3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sz="3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sz="3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sz="3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sz="3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sz="3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69</m:t>
                    </m:r>
                    <m:r>
                      <a:rPr sz="3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sSupPr>
                        <m:ctrlPr>
                          <a:rPr/>
                        </m:ctrlPr>
                      </m:sSupPr>
                      <m:e>
                        <m:r>
                          <a:rPr sz="3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sz="3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t>,   </a:t>
                </a:r>
                <a14:m>
                  <m:oMath xmlns:m="http://schemas.openxmlformats.org/officeDocument/2006/math">
                    <m:f>
                      <m:fPr>
                        <m:ctrlPr>
                          <a:rPr sz="3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sz="3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sz="3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sz="3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sz="3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/>
                        </m:ctrlPr>
                      </m:sSupPr>
                      <m:e>
                        <m:r>
                          <a:rPr sz="3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sz="3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a:rPr sz="3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sz="3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sz="3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sz="3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sz="3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sz="3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a:rPr sz="3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/>
                        </m:ctrlPr>
                      </m:sSupPr>
                      <m:e>
                        <m:r>
                          <a:rPr sz="3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sz="3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a:rPr sz="3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</a:p>
              <a:p>
                <a:pPr marL="355600" indent="-355600" defTabSz="467360">
                  <a:spcBef>
                    <a:spcPts val="3300"/>
                  </a:spcBef>
                  <a:defRPr sz="2560"/>
                </a:pPr>
                <a:r>
                  <a:t>De todas as possíveis escolhas para a base </a:t>
                </a:r>
                <a:r>
                  <a:rPr i="1"/>
                  <a:t>a</a:t>
                </a:r>
                <a:r>
                  <a:t>, a fórmula de derivação mais simples ocorre quando f</a:t>
                </a:r>
                <a:r>
                  <a:rPr sz="880"/>
                  <a:t> </a:t>
                </a:r>
                <a:r>
                  <a:t>′(0) = 1</a:t>
                </a:r>
              </a:p>
            </p:txBody>
          </p:sp>
        </mc:Choice>
        <mc:Fallback>
          <p:sp>
            <p:nvSpPr>
              <p:cNvPr id="369" name="Na realidade, pode ser demonstrado que estes limites existem e, com precisão, até a sexta casa decimal, seus valores são…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952500" y="2578100"/>
                <a:ext cx="11099800" cy="6286500"/>
              </a:xfrm>
              <a:prstGeom prst="rect">
                <a:avLst/>
              </a:prstGeom>
              <a:blipFill rotWithShape="1">
                <a:blip r:embed="rId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Funções Exponenciai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Funções Exponenciais</a:t>
            </a:r>
          </a:p>
        </p:txBody>
      </p:sp>
      <p:sp>
        <p:nvSpPr>
          <p:cNvPr id="372" name="Em vista das estimativas de f ′(0) para a = 2 e a = 3, parece plausível que haja um número a entre 2 e 3 para o qual f ′(0) = 1. É tradição denotar esse valor por uma letra e"/>
          <p:cNvSpPr txBox="1"/>
          <p:nvPr>
            <p:ph type="body" sz="quarter" idx="1"/>
          </p:nvPr>
        </p:nvSpPr>
        <p:spPr>
          <a:xfrm>
            <a:off x="952500" y="2590800"/>
            <a:ext cx="11099800" cy="1237266"/>
          </a:xfrm>
          <a:prstGeom prst="rect">
            <a:avLst/>
          </a:prstGeom>
        </p:spPr>
        <p:txBody>
          <a:bodyPr anchor="t"/>
          <a:lstStyle/>
          <a:p>
            <a:pPr marL="337820" indent="-337820" defTabSz="443865">
              <a:spcBef>
                <a:spcPts val="3100"/>
              </a:spcBef>
              <a:defRPr sz="2430"/>
            </a:pPr>
            <a:r>
              <a:t>Em vista das estimativas de </a:t>
            </a:r>
            <a:r>
              <a:rPr i="1"/>
              <a:t>f</a:t>
            </a:r>
            <a:r>
              <a:rPr sz="835" i="1"/>
              <a:t> </a:t>
            </a:r>
            <a:r>
              <a:t>′(0) para </a:t>
            </a:r>
            <a:r>
              <a:rPr i="1"/>
              <a:t>a</a:t>
            </a:r>
            <a:r>
              <a:t> = 2 e </a:t>
            </a:r>
            <a:r>
              <a:rPr i="1"/>
              <a:t>a</a:t>
            </a:r>
            <a:r>
              <a:t> = 3, parece plausível que haja um número </a:t>
            </a:r>
            <a:r>
              <a:rPr i="1"/>
              <a:t>a</a:t>
            </a:r>
            <a:r>
              <a:t> entre 2 e 3 para o qual f</a:t>
            </a:r>
            <a:r>
              <a:rPr sz="835"/>
              <a:t> </a:t>
            </a:r>
            <a:r>
              <a:t>′(0) = 1. É tradição denotar esse valor por uma letra </a:t>
            </a:r>
            <a:r>
              <a:rPr b="1" i="1"/>
              <a:t>e</a:t>
            </a:r>
            <a:endParaRPr b="1" i="1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73" name="Definição do Número e: e é um número tal que"/>
              <p:cNvSpPr txBox="1"/>
              <p:nvPr/>
            </p:nvSpPr>
            <p:spPr>
              <a:xfrm>
                <a:off x="952500" y="4093360"/>
                <a:ext cx="11099800" cy="1237266"/>
              </a:xfrm>
              <a:prstGeom prst="rect">
                <a:avLst/>
              </a:prstGeom>
              <a:solidFill>
                <a:schemeClr val="accent1"/>
              </a:solidFill>
              <a:ln w="12700">
                <a:miter lim="400000"/>
              </a:ln>
            </p:spPr>
            <p:txBody>
              <a:bodyPr lIns="50800" tIns="50800" rIns="50800" bIns="50800" anchor="ctr">
                <a:spAutoFit/>
              </a:bodyPr>
              <a:lstStyle/>
              <a:p>
                <a:pPr>
                  <a:defRPr sz="2200" b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r>
                  <a:rPr sz="2400" b="1">
                    <a:latin typeface="Helvetica Neue"/>
                    <a:ea typeface="Helvetica Neue"/>
                    <a:cs typeface="Helvetica Neue"/>
                    <a:sym typeface="Helvetica Neue"/>
                  </a:rPr>
                  <a:t>Definição do Número </a:t>
                </a:r>
                <a:r>
                  <a:rPr sz="2400" b="1" i="1">
                    <a:latin typeface="Helvetica Neue"/>
                    <a:ea typeface="Helvetica Neue"/>
                    <a:cs typeface="Helvetica Neue"/>
                    <a:sym typeface="Helvetica Neue"/>
                  </a:rPr>
                  <a:t>e</a:t>
                </a:r>
                <a:r>
                  <a:rPr sz="2400" b="1">
                    <a:latin typeface="Helvetica Neue"/>
                    <a:ea typeface="Helvetica Neue"/>
                    <a:cs typeface="Helvetica Neue"/>
                    <a:sym typeface="Helvetica Neue"/>
                  </a:rPr>
                  <a:t>: </a:t>
                </a:r>
                <a:r>
                  <a:rPr sz="2400" i="1">
                    <a:latin typeface="Helvetica Neue"/>
                    <a:ea typeface="Helvetica Neue"/>
                    <a:cs typeface="Helvetica Neue"/>
                    <a:sym typeface="Helvetica Neue"/>
                  </a:rPr>
                  <a:t>e</a:t>
                </a:r>
                <a:r>
                  <a:rPr sz="2400"/>
                  <a:t> é um número tal que</a:t>
                </a:r>
                <a:endParaRPr sz="2400" b="1">
                  <a:latin typeface="Helvetica Neue"/>
                  <a:ea typeface="Helvetica Neue"/>
                  <a:cs typeface="Helvetica Neue"/>
                  <a:sym typeface="Helvetica Neue"/>
                </a:endParaRPr>
              </a:p>
              <a:p>
                <a:pPr>
                  <a:defRPr sz="2200" b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14:m>
                  <m:oMath xmlns:m="http://schemas.openxmlformats.org/officeDocument/2006/math">
                    <m:r>
                      <a:rPr sz="2650" i="1">
                        <a:solidFill>
                          <a:srgbClr val="FEFEFE"/>
                        </a:solidFill>
                        <a:latin typeface="Cambria Math" panose="02040503050406030204" pitchFamily="18" charset="0"/>
                      </a:rPr>
                      <m:t>𝑙</m:t>
                    </m:r>
                    <m:r>
                      <a:rPr sz="2650" i="1">
                        <a:solidFill>
                          <a:srgbClr val="FEFEFE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sSub>
                      <m:sSubPr>
                        <m:ctrlPr>
                          <a:rPr sz="2400"/>
                        </m:ctrlPr>
                      </m:sSubPr>
                      <m:e>
                        <m:r>
                          <a:rPr sz="2650" i="1">
                            <a:solidFill>
                              <a:srgbClr val="FEFEFE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sz="2650" i="1">
                            <a:solidFill>
                              <a:srgbClr val="FEFEFE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r>
                          <a:rPr sz="2650" i="1">
                            <a:solidFill>
                              <a:srgbClr val="FEFEFE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sz="2650" i="1">
                            <a:solidFill>
                              <a:srgbClr val="FEFEFE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f>
                      <m:fPr>
                        <m:ctrlPr>
                          <a:rPr sz="2650" i="1">
                            <a:solidFill>
                              <a:srgbClr val="FEFEFE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sz="2400"/>
                            </m:ctrlPr>
                          </m:sSupPr>
                          <m:e>
                            <m:r>
                              <a:rPr sz="2650" i="1">
                                <a:solidFill>
                                  <a:srgbClr val="FEFEFE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sz="2650" i="1">
                                <a:solidFill>
                                  <a:srgbClr val="FEFEFE"/>
                                </a:solidFill>
                                <a:latin typeface="Cambria Math" panose="02040503050406030204" pitchFamily="18" charset="0"/>
                              </a:rPr>
                              <m:t>ℎ</m:t>
                            </m:r>
                          </m:sup>
                        </m:sSup>
                        <m:r>
                          <a:rPr sz="2650" i="1">
                            <a:solidFill>
                              <a:srgbClr val="FEFEFE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sz="2650" i="1">
                            <a:solidFill>
                              <a:srgbClr val="FEFEFE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sz="2650" i="1">
                            <a:solidFill>
                              <a:srgbClr val="FEFEFE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den>
                    </m:f>
                    <m:r>
                      <a:rPr sz="2650" i="1">
                        <a:solidFill>
                          <a:srgbClr val="FEFEFE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sz="2650" i="1">
                        <a:solidFill>
                          <a:srgbClr val="FEFEFE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/>
                  <a:t> </a:t>
                </a:r>
                <a:endParaRPr sz="2400"/>
              </a:p>
            </p:txBody>
          </p:sp>
        </mc:Choice>
        <mc:Fallback>
          <p:sp>
            <p:nvSpPr>
              <p:cNvPr id="373" name="Definição do Número e: e é um número tal que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2500" y="4093360"/>
                <a:ext cx="11099800" cy="1237266"/>
              </a:xfrm>
              <a:prstGeom prst="rect">
                <a:avLst/>
              </a:prstGeom>
              <a:blipFill rotWithShape="1">
                <a:blip r:embed="rId1"/>
                <a:stretch>
                  <a:fillRect t="-12" b="35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pt-B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74" name="image.png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7524" y="5595920"/>
            <a:ext cx="10837335" cy="416334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75" name="De todas as possíveis funções exponenciais y = ax, a função f (x) = ex  é aquela cuja reta tangente em (0, 1) tem uma inclinação f′(0)=1"/>
          <p:cNvSpPr txBox="1"/>
          <p:nvPr/>
        </p:nvSpPr>
        <p:spPr>
          <a:xfrm>
            <a:off x="158428" y="6798871"/>
            <a:ext cx="3144743" cy="1757440"/>
          </a:xfrm>
          <a:prstGeom prst="rect">
            <a:avLst/>
          </a:prstGeom>
          <a:solidFill>
            <a:schemeClr val="accent6"/>
          </a:solidFill>
          <a:ln w="12700">
            <a:miter lim="400000"/>
          </a:ln>
        </p:spPr>
        <p:txBody>
          <a:bodyPr lIns="50800" tIns="50800" rIns="50800" bIns="50800">
            <a:normAutofit/>
          </a:bodyPr>
          <a:lstStyle/>
          <a:p>
            <a:pPr defTabSz="478790">
              <a:defRPr sz="1805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r>
              <a:rPr sz="2400"/>
              <a:t>De todas as possíveis funções exponenciais </a:t>
            </a:r>
            <a:r>
              <a:rPr sz="2400" i="1">
                <a:latin typeface="Helvetica Neue"/>
                <a:ea typeface="Helvetica Neue"/>
                <a:cs typeface="Helvetica Neue"/>
                <a:sym typeface="Helvetica Neue"/>
              </a:rPr>
              <a:t>y</a:t>
            </a:r>
            <a:r>
              <a:rPr sz="2400"/>
              <a:t> = </a:t>
            </a:r>
            <a:r>
              <a:rPr sz="2400" i="1">
                <a:latin typeface="Helvetica Neue"/>
                <a:ea typeface="Helvetica Neue"/>
                <a:cs typeface="Helvetica Neue"/>
                <a:sym typeface="Helvetica Neue"/>
              </a:rPr>
              <a:t>a</a:t>
            </a:r>
            <a:r>
              <a:rPr sz="2400" i="1" baseline="29000">
                <a:latin typeface="Helvetica Neue"/>
                <a:ea typeface="Helvetica Neue"/>
                <a:cs typeface="Helvetica Neue"/>
                <a:sym typeface="Helvetica Neue"/>
              </a:rPr>
              <a:t>x</a:t>
            </a:r>
            <a:r>
              <a:rPr sz="2400"/>
              <a:t>, a função </a:t>
            </a:r>
            <a:r>
              <a:rPr sz="2400" i="1">
                <a:latin typeface="Helvetica Neue"/>
                <a:ea typeface="Helvetica Neue"/>
                <a:cs typeface="Helvetica Neue"/>
                <a:sym typeface="Helvetica Neue"/>
              </a:rPr>
              <a:t>f</a:t>
            </a:r>
            <a:r>
              <a:rPr sz="410" i="1"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sz="2400"/>
              <a:t>(</a:t>
            </a:r>
            <a:r>
              <a:rPr sz="2400" i="1">
                <a:latin typeface="Helvetica Neue"/>
                <a:ea typeface="Helvetica Neue"/>
                <a:cs typeface="Helvetica Neue"/>
                <a:sym typeface="Helvetica Neue"/>
              </a:rPr>
              <a:t>x</a:t>
            </a:r>
            <a:r>
              <a:rPr sz="2400"/>
              <a:t>) = </a:t>
            </a:r>
            <a:r>
              <a:rPr sz="2400" i="1">
                <a:latin typeface="Helvetica Neue"/>
                <a:ea typeface="Helvetica Neue"/>
                <a:cs typeface="Helvetica Neue"/>
                <a:sym typeface="Helvetica Neue"/>
              </a:rPr>
              <a:t>e</a:t>
            </a:r>
            <a:r>
              <a:rPr sz="2400" i="1" baseline="29000">
                <a:latin typeface="Helvetica Neue"/>
                <a:ea typeface="Helvetica Neue"/>
                <a:cs typeface="Helvetica Neue"/>
                <a:sym typeface="Helvetica Neue"/>
              </a:rPr>
              <a:t>x  </a:t>
            </a:r>
            <a:r>
              <a:rPr sz="2400"/>
              <a:t>é aquela cuja reta tangente em (0, 1) tem uma inclinação </a:t>
            </a:r>
            <a:r>
              <a:rPr sz="2400" i="1">
                <a:latin typeface="Helvetica Neue"/>
                <a:ea typeface="Helvetica Neue"/>
                <a:cs typeface="Helvetica Neue"/>
                <a:sym typeface="Helvetica Neue"/>
              </a:rPr>
              <a:t>f</a:t>
            </a:r>
            <a:r>
              <a:rPr sz="2400"/>
              <a:t>′(0)=1</a:t>
            </a:r>
            <a:endParaRPr sz="2400"/>
          </a:p>
        </p:txBody>
      </p:sp>
    </p:spTree>
  </p:cSld>
  <p:clrMapOvr>
    <a:masterClrMapping/>
  </p:clrMapOvr>
  <p:transition spd="med"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Funções Exponenciai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Funções Exponenciais</a:t>
            </a:r>
          </a:p>
        </p:txBody>
      </p:sp>
      <p:sp>
        <p:nvSpPr>
          <p:cNvPr id="378" name="Se colocarmos a = e e, consequentemente, f ′(0) = 1 em f ′(x) = f ′(0) ax, teremos a seguinte importante fórmula de derivação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417830" indent="-417830" defTabSz="549275">
              <a:spcBef>
                <a:spcPts val="3900"/>
              </a:spcBef>
              <a:defRPr sz="3010"/>
            </a:pPr>
            <a:r>
              <a:t>Se colocarmos </a:t>
            </a:r>
            <a:r>
              <a:rPr i="1"/>
              <a:t>a</a:t>
            </a:r>
            <a:r>
              <a:t> = </a:t>
            </a:r>
            <a:r>
              <a:rPr i="1"/>
              <a:t>e</a:t>
            </a:r>
            <a:r>
              <a:t> e, consequentemente, </a:t>
            </a:r>
            <a:r>
              <a:rPr i="1"/>
              <a:t>f</a:t>
            </a:r>
            <a:r>
              <a:rPr sz="1035" i="1"/>
              <a:t> </a:t>
            </a:r>
            <a:r>
              <a:t>′(0) = 1 em </a:t>
            </a:r>
            <a:r>
              <a:rPr i="1"/>
              <a:t>f</a:t>
            </a:r>
            <a:r>
              <a:rPr sz="1035" i="1"/>
              <a:t> </a:t>
            </a:r>
            <a:r>
              <a:t>′(</a:t>
            </a:r>
            <a:r>
              <a:rPr i="1"/>
              <a:t>x</a:t>
            </a:r>
            <a:r>
              <a:t>) = </a:t>
            </a:r>
            <a:r>
              <a:rPr i="1"/>
              <a:t>f</a:t>
            </a:r>
            <a:r>
              <a:rPr sz="1035" i="1"/>
              <a:t> </a:t>
            </a:r>
            <a:r>
              <a:t>′(0)</a:t>
            </a:r>
            <a:r>
              <a:rPr sz="1035"/>
              <a:t> </a:t>
            </a:r>
            <a:r>
              <a:rPr i="1"/>
              <a:t>a</a:t>
            </a:r>
            <a:r>
              <a:rPr i="1" baseline="30000"/>
              <a:t>x</a:t>
            </a:r>
            <a:r>
              <a:t>, teremos a seguinte importante fórmula de derivação</a:t>
            </a:r>
          </a:p>
          <a:p>
            <a:pPr marL="417830" indent="-417830" defTabSz="549275">
              <a:lnSpc>
                <a:spcPct val="110000"/>
              </a:lnSpc>
              <a:spcBef>
                <a:spcPts val="3900"/>
              </a:spcBef>
              <a:defRPr sz="3010"/>
            </a:pPr>
          </a:p>
          <a:p>
            <a:pPr marL="417830" indent="-417830" defTabSz="549275">
              <a:lnSpc>
                <a:spcPct val="110000"/>
              </a:lnSpc>
              <a:spcBef>
                <a:spcPts val="3900"/>
              </a:spcBef>
              <a:defRPr sz="3010"/>
            </a:pPr>
          </a:p>
          <a:p>
            <a:pPr marL="417830" indent="-417830" defTabSz="549275">
              <a:spcBef>
                <a:spcPts val="3900"/>
              </a:spcBef>
              <a:defRPr sz="3010"/>
            </a:pPr>
            <a:r>
              <a:t>Assim, a função exponencial </a:t>
            </a:r>
            <a:r>
              <a:rPr i="1"/>
              <a:t>f</a:t>
            </a:r>
            <a:r>
              <a:rPr sz="470" i="1"/>
              <a:t> </a:t>
            </a:r>
            <a:r>
              <a:t>(</a:t>
            </a:r>
            <a:r>
              <a:rPr i="1"/>
              <a:t>x</a:t>
            </a:r>
            <a:r>
              <a:t>) = </a:t>
            </a:r>
            <a:r>
              <a:rPr i="1"/>
              <a:t>e</a:t>
            </a:r>
            <a:r>
              <a:rPr i="1" baseline="30000"/>
              <a:t>x</a:t>
            </a:r>
            <a:r>
              <a:t> tem a propriedade de ser sua </a:t>
            </a:r>
            <a:r>
              <a:rPr b="1">
                <a:solidFill>
                  <a:schemeClr val="accent5">
                    <a:hueOff val="-82419"/>
                    <a:satOff val="-9510"/>
                    <a:lumOff val="-16340"/>
                  </a:schemeClr>
                </a:solidFill>
              </a:rPr>
              <a:t>própria derivada</a:t>
            </a:r>
            <a:endParaRPr b="1">
              <a:solidFill>
                <a:schemeClr val="accent5">
                  <a:hueOff val="-82419"/>
                  <a:satOff val="-9510"/>
                  <a:lumOff val="-16340"/>
                </a:schemeClr>
              </a:solidFill>
            </a:endParaRPr>
          </a:p>
          <a:p>
            <a:pPr marL="417830" indent="-417830" defTabSz="549275">
              <a:spcBef>
                <a:spcPts val="3900"/>
              </a:spcBef>
              <a:defRPr sz="3010"/>
            </a:pPr>
            <a:r>
              <a:t>O significado geométrico desse fato é que a inclinação da reta tangente à curva </a:t>
            </a:r>
            <a:r>
              <a:rPr i="1"/>
              <a:t>y</a:t>
            </a:r>
            <a:r>
              <a:t> = </a:t>
            </a:r>
            <a:r>
              <a:rPr i="1"/>
              <a:t>e</a:t>
            </a:r>
            <a:r>
              <a:rPr i="1" baseline="30000"/>
              <a:t>x</a:t>
            </a:r>
            <a:r>
              <a:rPr i="1"/>
              <a:t> </a:t>
            </a:r>
            <a:r>
              <a:t>é igual à coordenada </a:t>
            </a:r>
            <a:r>
              <a:rPr i="1"/>
              <a:t>y</a:t>
            </a:r>
            <a:r>
              <a:t> do ponto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79" name="Derivada da Função Exponencial Natural:"/>
              <p:cNvSpPr txBox="1"/>
              <p:nvPr/>
            </p:nvSpPr>
            <p:spPr>
              <a:xfrm>
                <a:off x="952500" y="4286505"/>
                <a:ext cx="11099800" cy="1180590"/>
              </a:xfrm>
              <a:prstGeom prst="rect">
                <a:avLst/>
              </a:prstGeom>
              <a:solidFill>
                <a:schemeClr val="accent1"/>
              </a:solidFill>
              <a:ln w="12700">
                <a:miter lim="400000"/>
              </a:ln>
            </p:spPr>
            <p:txBody>
              <a:bodyPr lIns="50800" tIns="50800" rIns="50800" bIns="50800" anchor="ctr">
                <a:spAutoFit/>
              </a:bodyPr>
              <a:lstStyle/>
              <a:p>
                <a:pPr>
                  <a:defRPr sz="2200" b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r>
                  <a:rPr sz="2400" b="1">
                    <a:latin typeface="Helvetica Neue"/>
                    <a:ea typeface="Helvetica Neue"/>
                    <a:cs typeface="Helvetica Neue"/>
                    <a:sym typeface="Helvetica Neue"/>
                  </a:rPr>
                  <a:t>Derivada da Função Exponencial Natural:</a:t>
                </a:r>
                <a:endParaRPr sz="2400" b="1">
                  <a:latin typeface="Helvetica Neue"/>
                  <a:ea typeface="Helvetica Neue"/>
                  <a:cs typeface="Helvetica Neue"/>
                  <a:sym typeface="Helvetica Neue"/>
                </a:endParaRPr>
              </a:p>
              <a:p>
                <a:pPr>
                  <a:defRPr sz="2200" b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14:m>
                  <m:oMath xmlns:m="http://schemas.openxmlformats.org/officeDocument/2006/math">
                    <m:f>
                      <m:fPr>
                        <m:ctrlPr>
                          <a:rPr sz="2650" i="1">
                            <a:solidFill>
                              <a:srgbClr val="FEFEFE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sz="2650" i="1">
                            <a:solidFill>
                              <a:srgbClr val="FEFEFE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sz="2650" i="1">
                            <a:solidFill>
                              <a:srgbClr val="FEFEFE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sz="2650" i="1">
                            <a:solidFill>
                              <a:srgbClr val="FEFEFE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sz="2650" i="1">
                        <a:solidFill>
                          <a:srgbClr val="FEFEFE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sz="2400"/>
                        </m:ctrlPr>
                      </m:sSupPr>
                      <m:e>
                        <m:r>
                          <a:rPr sz="2650" i="1">
                            <a:solidFill>
                              <a:srgbClr val="FEFEFE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sz="2650" i="1">
                            <a:solidFill>
                              <a:srgbClr val="FEFEFE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a:rPr sz="2650" i="1">
                        <a:solidFill>
                          <a:srgbClr val="FEFEFE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sz="2650" i="1">
                        <a:solidFill>
                          <a:srgbClr val="FEFEFE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sz="2400"/>
                        </m:ctrlPr>
                      </m:sSupPr>
                      <m:e>
                        <m:r>
                          <a:rPr sz="2650" i="1">
                            <a:solidFill>
                              <a:srgbClr val="FEFEFE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sz="2650" i="1">
                            <a:solidFill>
                              <a:srgbClr val="FEFEFE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/>
                  <a:t> </a:t>
                </a:r>
                <a:endParaRPr sz="2400"/>
              </a:p>
            </p:txBody>
          </p:sp>
        </mc:Choice>
        <mc:Fallback>
          <p:sp>
            <p:nvSpPr>
              <p:cNvPr id="379" name="Derivada da Função Exponencial Natural: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2500" y="4286505"/>
                <a:ext cx="11099800" cy="1180590"/>
              </a:xfrm>
              <a:prstGeom prst="rect">
                <a:avLst/>
              </a:prstGeom>
              <a:blipFill rotWithShape="1">
                <a:blip r:embed="rId1"/>
                <a:stretch>
                  <a:fillRect t="-22" b="32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pt-BR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Exercício 4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Exercício 4</a:t>
            </a:r>
          </a:p>
        </p:txBody>
      </p:sp>
      <p:sp>
        <p:nvSpPr>
          <p:cNvPr id="382" name="Se f (x) = ex–x, encontre f′ e f′′ e compare os gráficos de f e f′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 anchor="t"/>
          <a:lstStyle/>
          <a:p>
            <a:pPr marL="0" indent="0">
              <a:buSzTx/>
              <a:buNone/>
            </a:pPr>
            <a:r>
              <a:t>Se f (x) = e</a:t>
            </a:r>
            <a:r>
              <a:rPr baseline="32000"/>
              <a:t>x</a:t>
            </a:r>
            <a:r>
              <a:t>–x, encontre f′ e f′′ e compare os gráficos de f e f′</a:t>
            </a:r>
          </a:p>
          <a:p>
            <a:pPr marL="0" indent="0">
              <a:buSzTx/>
              <a:buNone/>
            </a:pPr>
            <a:r>
              <a:rPr b="1">
                <a:solidFill>
                  <a:schemeClr val="accent5">
                    <a:hueOff val="-82419"/>
                    <a:satOff val="-9510"/>
                    <a:lumOff val="-16340"/>
                  </a:schemeClr>
                </a:solidFill>
              </a:rPr>
              <a:t>Solução:</a:t>
            </a:r>
            <a:r>
              <a:t> Usando a Regra da Diferença, temos</a:t>
            </a:r>
          </a:p>
        </p:txBody>
      </p:sp>
      <p:grpSp>
        <p:nvGrpSpPr>
          <p:cNvPr id="386" name="Grupo"/>
          <p:cNvGrpSpPr/>
          <p:nvPr/>
        </p:nvGrpSpPr>
        <p:grpSpPr>
          <a:xfrm>
            <a:off x="1909889" y="5466144"/>
            <a:ext cx="9185022" cy="1022492"/>
            <a:chOff x="0" y="0"/>
            <a:chExt cx="9185021" cy="1022490"/>
          </a:xfrm>
        </p:grpSpPr>
        <p:pic>
          <p:nvPicPr>
            <p:cNvPr id="383" name="image.tif" descr="image.tif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0" y="0"/>
              <a:ext cx="3954662" cy="935512"/>
            </a:xfrm>
            <a:prstGeom prst="rect">
              <a:avLst/>
            </a:prstGeom>
            <a:ln w="12700" cap="flat">
              <a:noFill/>
              <a:miter lim="400000"/>
              <a:headEnd/>
              <a:tailEnd/>
            </a:ln>
            <a:effectLst/>
          </p:spPr>
        </p:pic>
        <p:pic>
          <p:nvPicPr>
            <p:cNvPr id="384" name="image.png" descr="image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082231" y="7731"/>
              <a:ext cx="3260761" cy="1014760"/>
            </a:xfrm>
            <a:prstGeom prst="rect">
              <a:avLst/>
            </a:prstGeom>
            <a:ln w="12700" cap="flat">
              <a:noFill/>
              <a:miter lim="400000"/>
              <a:headEnd/>
              <a:tailEnd/>
            </a:ln>
            <a:effectLst/>
          </p:spPr>
        </p:pic>
        <p:pic>
          <p:nvPicPr>
            <p:cNvPr id="385" name="image.png" descr="image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515017" y="286065"/>
              <a:ext cx="1670005" cy="531541"/>
            </a:xfrm>
            <a:prstGeom prst="rect">
              <a:avLst/>
            </a:prstGeom>
            <a:ln w="12700" cap="flat">
              <a:noFill/>
              <a:miter lim="400000"/>
              <a:headEnd/>
              <a:tailEnd/>
            </a:ln>
            <a:effectLst/>
          </p:spPr>
        </p:pic>
      </p:grp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dur="indefinite" fill="hold"/>
                                        <p:tgtEl>
                                          <p:spTgt spid="3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1000"/>
                                        <p:tgtEl>
                                          <p:spTgt spid="3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9" presetClass="entr" presetSubtype="0" fill="hold" grpId="2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dur="indefinite" fill="hold"/>
                                        <p:tgtEl>
                                          <p:spTgt spid="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1000"/>
                                        <p:tgtEl>
                                          <p:spTgt spid="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6" grpId="2" bldLvl="0" animBg="1" advAuto="0"/>
      <p:bldP spid="382" grpId="1" animBg="1" advAuto="0" build="p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Exercício 4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Exercício 4</a:t>
            </a:r>
          </a:p>
        </p:txBody>
      </p:sp>
      <p:sp>
        <p:nvSpPr>
          <p:cNvPr id="389" name="Definimos a segunda derivada como a derivada de f ′, de modo que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 anchor="t"/>
          <a:lstStyle/>
          <a:p>
            <a:r>
              <a:t>Definimos a segunda derivada como a derivada de </a:t>
            </a:r>
            <a:r>
              <a:rPr i="1"/>
              <a:t>f </a:t>
            </a:r>
            <a:r>
              <a:t>′, de modo que</a:t>
            </a:r>
          </a:p>
        </p:txBody>
      </p:sp>
      <p:grpSp>
        <p:nvGrpSpPr>
          <p:cNvPr id="393" name="Grupo"/>
          <p:cNvGrpSpPr/>
          <p:nvPr/>
        </p:nvGrpSpPr>
        <p:grpSpPr>
          <a:xfrm>
            <a:off x="2248746" y="4078795"/>
            <a:ext cx="8507308" cy="1056641"/>
            <a:chOff x="0" y="0"/>
            <a:chExt cx="8507306" cy="1056640"/>
          </a:xfrm>
        </p:grpSpPr>
        <p:pic>
          <p:nvPicPr>
            <p:cNvPr id="390" name="image.tif" descr="image.tif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0" y="0"/>
              <a:ext cx="3826934" cy="959556"/>
            </a:xfrm>
            <a:prstGeom prst="rect">
              <a:avLst/>
            </a:prstGeom>
            <a:ln w="12700" cap="flat">
              <a:noFill/>
              <a:miter lim="400000"/>
              <a:headEnd/>
              <a:tailEnd/>
            </a:ln>
            <a:effectLst/>
          </p:spPr>
        </p:pic>
        <p:pic>
          <p:nvPicPr>
            <p:cNvPr id="391" name="image.png" descr="image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009813" y="0"/>
              <a:ext cx="3467948" cy="1056641"/>
            </a:xfrm>
            <a:prstGeom prst="rect">
              <a:avLst/>
            </a:prstGeom>
            <a:ln w="12700" cap="flat">
              <a:noFill/>
              <a:miter lim="400000"/>
              <a:headEnd/>
              <a:tailEnd/>
            </a:ln>
            <a:effectLst/>
          </p:spPr>
        </p:pic>
        <p:pic>
          <p:nvPicPr>
            <p:cNvPr id="392" name="image.png" descr="image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586133" y="216746"/>
              <a:ext cx="921174" cy="494455"/>
            </a:xfrm>
            <a:prstGeom prst="rect">
              <a:avLst/>
            </a:prstGeom>
            <a:ln w="12700" cap="flat">
              <a:noFill/>
              <a:miter lim="400000"/>
              <a:headEnd/>
              <a:tailEnd/>
            </a:ln>
            <a:effectLst/>
          </p:spPr>
        </p:pic>
      </p:grpSp>
      <p:pic>
        <p:nvPicPr>
          <p:cNvPr id="394" name="image.tif" descr="image.t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23739" y="5572690"/>
            <a:ext cx="5357322" cy="4051323"/>
          </a:xfrm>
          <a:prstGeom prst="rect">
            <a:avLst/>
          </a:prstGeom>
          <a:ln w="12700">
            <a:miter lim="400000"/>
            <a:headEnd/>
            <a:tailEnd/>
          </a:ln>
        </p:spPr>
      </p:pic>
    </p:spTree>
  </p:cSld>
  <p:clrMapOvr>
    <a:masterClrMapping/>
  </p:clrMapOvr>
  <p:transition spd="med"/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Funções Exponenciai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Funções Exponenciais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97" name="Dada a função exponencial  , com   e 0&lt;a≠1, calculemos a sua derivada. Temos:…"/>
              <p:cNvSpPr txBox="1"/>
              <p:nvPr>
                <p:ph type="body" idx="1"/>
              </p:nvPr>
            </p:nvSpPr>
            <p:spPr>
              <a:prstGeom prst="rect">
                <a:avLst/>
              </a:prstGeom>
            </p:spPr>
            <p:txBody>
              <a:bodyPr anchor="t"/>
              <a:lstStyle/>
              <a:p>
                <a:pPr marL="333375" indent="-333375" defTabSz="438150">
                  <a:spcBef>
                    <a:spcPts val="3100"/>
                  </a:spcBef>
                  <a:defRPr sz="2400"/>
                </a:pPr>
                <a:r>
                  <a:t>Dada a </a:t>
                </a:r>
                <a:r>
                  <a:rPr b="1">
                    <a:solidFill>
                      <a:schemeClr val="accent5">
                        <a:hueOff val="-82419"/>
                        <a:satOff val="-9510"/>
                        <a:lumOff val="-16340"/>
                      </a:schemeClr>
                    </a:solidFill>
                  </a:rPr>
                  <a:t>função exponencial</a:t>
                </a:r>
                <a:r>
                  <a:t> </a:t>
                </a:r>
                <a14:m>
                  <m:oMath xmlns:m="http://schemas.openxmlformats.org/officeDocument/2006/math">
                    <m:r>
                      <a:rPr sz="2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sz="2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sz="2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sz="2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sz="2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/>
                        </m:ctrlPr>
                      </m:sSupPr>
                      <m:e>
                        <m:r>
                          <a:rPr sz="2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sz="2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t>, com </a:t>
                </a:r>
                <a14:m>
                  <m:oMath xmlns:m="http://schemas.openxmlformats.org/officeDocument/2006/math">
                    <m:r>
                      <a:rPr sz="2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sz="2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sz="2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ℝ</m:t>
                    </m:r>
                  </m:oMath>
                </a14:m>
                <a:r>
                  <a:t> e 0&lt;a≠1, calculemos a sua </a:t>
                </a:r>
                <a:r>
                  <a:rPr b="1">
                    <a:solidFill>
                      <a:schemeClr val="accent5">
                        <a:hueOff val="-82419"/>
                        <a:satOff val="-9510"/>
                        <a:lumOff val="-16340"/>
                      </a:schemeClr>
                    </a:solidFill>
                  </a:rPr>
                  <a:t>derivada</a:t>
                </a:r>
                <a:r>
                  <a:t>. Temos:</a:t>
                </a:r>
              </a:p>
              <a:p>
                <a:pPr marL="0" lvl="1" indent="0" defTabSz="438150">
                  <a:spcBef>
                    <a:spcPts val="3100"/>
                  </a:spcBef>
                  <a:buSzTx/>
                  <a:buNone/>
                  <a:defRPr sz="2400"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sz="2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sz="2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sz="2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sz="2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sz="2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sz="2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ℎ</m:t>
                          </m:r>
                          <m:r>
                            <a:rPr sz="2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sz="2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sz="2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sz="2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sz="2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sz="2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sz="2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ℎ</m:t>
                          </m:r>
                        </m:den>
                      </m:f>
                      <m:r>
                        <a:rPr sz="29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sz="2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/>
                              </m:ctrlPr>
                            </m:sSupPr>
                            <m:e>
                              <m:r>
                                <a:rPr sz="2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sz="2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sz="2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sz="2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ℎ</m:t>
                              </m:r>
                            </m:sup>
                          </m:sSup>
                          <m:r>
                            <a:rPr sz="2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/>
                              </m:ctrlPr>
                            </m:sSupPr>
                            <m:e>
                              <m:r>
                                <a:rPr sz="2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sz="2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</m:num>
                        <m:den>
                          <m:r>
                            <a:rPr sz="2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ℎ</m:t>
                          </m:r>
                        </m:den>
                      </m:f>
                      <m:r>
                        <a:rPr sz="29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/>
                          </m:ctrlPr>
                        </m:sSupPr>
                        <m:e>
                          <m:r>
                            <a:rPr sz="2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sz="2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  <m:f>
                        <m:fPr>
                          <m:ctrlPr>
                            <a:rPr sz="2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/>
                              </m:ctrlPr>
                            </m:sSupPr>
                            <m:e>
                              <m:r>
                                <a:rPr sz="2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sz="2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ℎ</m:t>
                              </m:r>
                            </m:sup>
                          </m:sSup>
                          <m:r>
                            <a:rPr sz="2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sz="2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sz="2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ℎ</m:t>
                          </m:r>
                        </m:den>
                      </m:f>
                    </m:oMath>
                  </m:oMathPara>
                </a14:m>
              </a:p>
              <a:p>
                <a:pPr marL="0" indent="0" defTabSz="438150">
                  <a:spcBef>
                    <a:spcPts val="3100"/>
                  </a:spcBef>
                  <a:buSzTx/>
                  <a:buNone/>
                  <a:defRPr sz="2400"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/>
                          </m:ctrlPr>
                        </m:sSupPr>
                        <m:e>
                          <m:r>
                            <a:rPr sz="28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sz="28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sz="28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sz="28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sz="28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sz="28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sz="28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sz="28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sz="28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sz="28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ℎ</m:t>
                          </m:r>
                          <m:r>
                            <a:rPr sz="28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→</m:t>
                          </m:r>
                          <m:r>
                            <a:rPr sz="28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p>
                        <m:sSupPr>
                          <m:ctrlPr>
                            <a:rPr/>
                          </m:ctrlPr>
                        </m:sSupPr>
                        <m:e>
                          <m:r>
                            <a:rPr sz="28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sz="28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  <m:f>
                        <m:fPr>
                          <m:ctrlPr>
                            <a:rPr sz="28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/>
                              </m:ctrlPr>
                            </m:sSupPr>
                            <m:e>
                              <m:r>
                                <a:rPr sz="28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sz="28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ℎ</m:t>
                              </m:r>
                            </m:sup>
                          </m:sSup>
                          <m:r>
                            <a:rPr sz="28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sz="28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sz="28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ℎ</m:t>
                          </m:r>
                        </m:den>
                      </m:f>
                      <m:r>
                        <a:rPr sz="28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/>
                          </m:ctrlPr>
                        </m:sSupPr>
                        <m:e>
                          <m:r>
                            <a:rPr sz="28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sz="28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  <m:r>
                        <a:rPr sz="28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sz="28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sz="28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sz="28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ℎ</m:t>
                          </m:r>
                          <m:r>
                            <a:rPr sz="28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→</m:t>
                          </m:r>
                          <m:r>
                            <a:rPr sz="28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f>
                        <m:fPr>
                          <m:ctrlPr>
                            <a:rPr sz="28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/>
                              </m:ctrlPr>
                            </m:sSupPr>
                            <m:e>
                              <m:r>
                                <a:rPr sz="28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sz="28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ℎ</m:t>
                              </m:r>
                            </m:sup>
                          </m:sSup>
                          <m:r>
                            <a:rPr sz="28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sz="28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sz="28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ℎ</m:t>
                          </m:r>
                        </m:den>
                      </m:f>
                      <m:r>
                        <a:rPr sz="28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/>
                          </m:ctrlPr>
                        </m:sSupPr>
                        <m:e>
                          <m:r>
                            <a:rPr sz="28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sz="28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  <m:r>
                        <a:rPr sz="28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sz="28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sz="28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sz="28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</a:p>
              <a:p>
                <a:pPr marL="333375" indent="-333375" defTabSz="438150">
                  <a:spcBef>
                    <a:spcPts val="3100"/>
                  </a:spcBef>
                  <a:defRPr sz="2400"/>
                </a:pPr>
              </a:p>
              <a:p>
                <a:pPr marL="333375" indent="-333375" defTabSz="438150">
                  <a:spcBef>
                    <a:spcPts val="3100"/>
                  </a:spcBef>
                  <a:defRPr sz="2400"/>
                </a:pPr>
                <a:r>
                  <a:t>No caso </a:t>
                </a:r>
                <a:r>
                  <a:rPr u="sng"/>
                  <a:t>particular</a:t>
                </a:r>
                <a:r>
                  <a:t> da função </a:t>
                </a:r>
                <a:r>
                  <a:rPr b="1"/>
                  <a:t>exponencial de base e</a:t>
                </a:r>
                <a:r>
                  <a:t>, </a:t>
                </a:r>
                <a14:m>
                  <m:oMath xmlns:m="http://schemas.openxmlformats.org/officeDocument/2006/math">
                    <m:r>
                      <a:rPr sz="2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sz="2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sz="2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sz="2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sz="2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/>
                        </m:ctrlPr>
                      </m:sSupPr>
                      <m:e>
                        <m:r>
                          <a:rPr sz="2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sz="2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t>, temos o resultado notável</a:t>
                </a:r>
              </a:p>
              <a:p>
                <a:pPr marL="0" lvl="1" indent="0" algn="ctr" defTabSz="438150">
                  <a:spcBef>
                    <a:spcPts val="3100"/>
                  </a:spcBef>
                  <a:buSzTx/>
                  <a:buNone/>
                  <a:defRPr sz="2400"/>
                </a:pPr>
                <a14:m>
                  <m:oMath xmlns:m="http://schemas.openxmlformats.org/officeDocument/2006/math">
                    <m:sSup>
                      <m:sSupPr>
                        <m:ctrlPr>
                          <a:rPr/>
                        </m:ctrlPr>
                      </m:sSupPr>
                      <m:e>
                        <m:r>
                          <a:rPr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/>
                        </m:ctrlPr>
                      </m:sSupPr>
                      <m:e>
                        <m:r>
                          <a:rPr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a:rPr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𝑙</m:t>
                    </m:r>
                    <m:r>
                      <a:rPr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a:rPr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/>
                        </m:ctrlPr>
                      </m:sSupPr>
                      <m:e>
                        <m:r>
                          <a:rPr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t>, logo </a:t>
                </a:r>
                <a14:m>
                  <m:oMath xmlns:m="http://schemas.openxmlformats.org/officeDocument/2006/math">
                    <m:r>
                      <a:rPr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/>
                        </m:ctrlPr>
                      </m:sSupPr>
                      <m:e>
                        <m:r>
                          <a:rPr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/>
                        </m:ctrlPr>
                      </m:sSupPr>
                      <m:e>
                        <m:r>
                          <a:rPr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endParaRPr sz="3200"/>
              </a:p>
            </p:txBody>
          </p:sp>
        </mc:Choice>
        <mc:Fallback>
          <p:sp>
            <p:nvSpPr>
              <p:cNvPr id="397" name="Dada a função exponencial  , com   e 0&lt;a≠1, calculemos a sua derivada. Temos:…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prstGeom prst="rect">
                <a:avLst/>
              </a:prstGeom>
              <a:blipFill rotWithShape="1">
                <a:blip r:embed="rId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8" name="IEZZI p. 132"/>
          <p:cNvSpPr txBox="1"/>
          <p:nvPr/>
        </p:nvSpPr>
        <p:spPr>
          <a:xfrm>
            <a:off x="11098202" y="9275859"/>
            <a:ext cx="1835507" cy="46106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/>
          <a:p>
            <a:r>
              <a:t>IEZZI p. 132</a:t>
            </a:r>
          </a:p>
        </p:txBody>
      </p:sp>
    </p:spTree>
  </p:cSld>
  <p:clrMapOvr>
    <a:masterClrMapping/>
  </p:clrMapOvr>
  <p:transition spd="med"/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8" name="Imagem" descr="Imagem"/>
          <p:cNvPicPr>
            <a:picLocks noChangeAspect="1"/>
          </p:cNvPicPr>
          <p:nvPr>
            <p:ph type="pic" idx="13"/>
          </p:nvPr>
        </p:nvPicPr>
        <p:blipFill>
          <a:blip r:embed="rId1"/>
          <a:srcRect l="2929" r="2929"/>
          <a:stretch>
            <a:fillRect/>
          </a:stretch>
        </p:blipFill>
        <p:spPr>
          <a:xfrm>
            <a:off x="0" y="0"/>
            <a:ext cx="13004800" cy="9753600"/>
          </a:xfrm>
          <a:prstGeom prst="rect">
            <a:avLst/>
          </a:prstGeom>
        </p:spPr>
      </p:pic>
      <p:sp>
        <p:nvSpPr>
          <p:cNvPr id="519" name="FUNÇÕES TRIGONOMÉTRICAS"/>
          <p:cNvSpPr txBox="1"/>
          <p:nvPr/>
        </p:nvSpPr>
        <p:spPr>
          <a:xfrm>
            <a:off x="1647507" y="4447859"/>
            <a:ext cx="9709786" cy="857882"/>
          </a:xfrm>
          <a:prstGeom prst="rect">
            <a:avLst/>
          </a:prstGeom>
          <a:solidFill>
            <a:srgbClr val="929292"/>
          </a:solidFill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>
            <a:lvl1pPr>
              <a:defRPr sz="5000">
                <a:solidFill>
                  <a:srgbClr val="FFFFFF"/>
                </a:solidFill>
              </a:defRPr>
            </a:lvl1pPr>
          </a:lstStyle>
          <a:p>
            <a:r>
              <a:t>FUNÇÕES TRIGONOMÉTRICAS</a:t>
            </a:r>
          </a:p>
        </p:txBody>
      </p:sp>
    </p:spTree>
  </p:cSld>
  <p:clrMapOvr>
    <a:masterClrMapping/>
  </p:clrMapOvr>
  <p:transition spd="med"/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Rectangle 2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5000"/>
            </a:lvl1pPr>
          </a:lstStyle>
          <a:p>
            <a:r>
              <a:t>Derivadas de Funções Trigonométricas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22" name="Rectangle 3"/>
              <p:cNvSpPr txBox="1"/>
              <p:nvPr>
                <p:ph type="body" idx="1"/>
              </p:nvPr>
            </p:nvSpPr>
            <p:spPr>
              <a:prstGeom prst="rect">
                <a:avLst/>
              </a:prstGeom>
            </p:spPr>
            <p:txBody>
              <a:bodyPr/>
              <a:lstStyle/>
              <a:p>
                <a:pPr marL="422275" indent="-422275" defTabSz="554990">
                  <a:lnSpc>
                    <a:spcPct val="110000"/>
                  </a:lnSpc>
                  <a:spcBef>
                    <a:spcPts val="3900"/>
                  </a:spcBef>
                  <a:defRPr sz="3040"/>
                </a:pPr>
                <a:r>
                  <a:t>Em particular, é importante lembrar-se de que quando falamos sobre a função </a:t>
                </a:r>
                <a:r>
                  <a:rPr i="1"/>
                  <a:t>f</a:t>
                </a:r>
                <a:r>
                  <a:t> definida para todo o número real </a:t>
                </a:r>
                <a:r>
                  <a:rPr i="1"/>
                  <a:t>x</a:t>
                </a:r>
                <a:r>
                  <a:t> por</a:t>
                </a:r>
              </a:p>
              <a:p>
                <a:pPr marL="0" indent="0" algn="ctr" defTabSz="554990">
                  <a:lnSpc>
                    <a:spcPct val="110000"/>
                  </a:lnSpc>
                  <a:spcBef>
                    <a:spcPts val="3900"/>
                  </a:spcBef>
                  <a:buSzTx/>
                  <a:buNone/>
                  <a:defRPr sz="3040"/>
                </a:pPr>
                <a14:m>
                  <m:oMath xmlns:m="http://schemas.openxmlformats.org/officeDocument/2006/math">
                    <m:r>
                      <a:rPr sz="35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sz="35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sz="35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sz="35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sz="35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sz="35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sz="35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a:rPr sz="35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sz="35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t> </a:t>
                </a:r>
              </a:p>
              <a:p>
                <a:pPr marL="0" indent="0" defTabSz="554990">
                  <a:lnSpc>
                    <a:spcPct val="110000"/>
                  </a:lnSpc>
                  <a:spcBef>
                    <a:spcPts val="3900"/>
                  </a:spcBef>
                  <a:buSzTx/>
                  <a:buNone/>
                  <a:defRPr sz="3040"/>
                </a:pPr>
                <a:r>
                  <a:t>entende-se que sen </a:t>
                </a:r>
                <a:r>
                  <a:rPr i="1"/>
                  <a:t>x</a:t>
                </a:r>
                <a:r>
                  <a:t> significa que o seno do ângulo cuja </a:t>
                </a:r>
                <a:r>
                  <a:rPr i="1"/>
                  <a:t>medida em </a:t>
                </a:r>
                <a:r>
                  <a:rPr b="1"/>
                  <a:t>radianos</a:t>
                </a:r>
                <a:r>
                  <a:t> é </a:t>
                </a:r>
                <a:r>
                  <a:rPr i="1"/>
                  <a:t>x</a:t>
                </a:r>
                <a:r>
                  <a:t> (de igual forma para cos, tg, cossec, sec e cotg)</a:t>
                </a:r>
              </a:p>
              <a:p>
                <a:pPr marL="422275" indent="-422275" defTabSz="554990">
                  <a:lnSpc>
                    <a:spcPct val="110000"/>
                  </a:lnSpc>
                  <a:spcBef>
                    <a:spcPts val="3900"/>
                  </a:spcBef>
                  <a:defRPr sz="3040"/>
                </a:pPr>
                <a:r>
                  <a:t>Todas as funções trigonométricas são </a:t>
                </a:r>
                <a:r>
                  <a:rPr b="1">
                    <a:solidFill>
                      <a:schemeClr val="accent5">
                        <a:hueOff val="-82419"/>
                        <a:satOff val="-9511"/>
                        <a:lumOff val="-16341"/>
                      </a:schemeClr>
                    </a:solidFill>
                  </a:rPr>
                  <a:t>contínuas</a:t>
                </a:r>
                <a:r>
                  <a:t> em todo número dos seus domínios</a:t>
                </a:r>
              </a:p>
            </p:txBody>
          </p:sp>
        </mc:Choice>
        <mc:Fallback>
          <p:sp>
            <p:nvSpPr>
              <p:cNvPr id="522" name="Rectangle 3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prstGeom prst="rect">
                <a:avLst/>
              </a:prstGeom>
              <a:blipFill rotWithShape="1">
                <a:blip r:embed="rId1"/>
                <a:stretch>
                  <a:fillRect t="-788"/>
                </a:stretch>
              </a:blipFill>
            </p:spPr>
            <p:txBody>
              <a:bodyPr/>
              <a:lstStyle/>
              <a:p>
                <a:r>
                  <a:rPr lang="pt-BR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/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Rectangle 2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5000"/>
            </a:lvl1pPr>
          </a:lstStyle>
          <a:p>
            <a:r>
              <a:t>Derivadas de Funções Trigonométricas</a:t>
            </a:r>
          </a:p>
        </p:txBody>
      </p:sp>
      <p:sp>
        <p:nvSpPr>
          <p:cNvPr id="525" name="Rectangle 3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 anchor="t"/>
          <a:lstStyle/>
          <a:p>
            <a:r>
              <a:t>Se esboçarmos o gráfico da função </a:t>
            </a:r>
            <a:r>
              <a:rPr i="1"/>
              <a:t>f</a:t>
            </a:r>
            <a:r>
              <a:rPr sz="500"/>
              <a:t> </a:t>
            </a:r>
            <a:r>
              <a:t>(</a:t>
            </a:r>
            <a:r>
              <a:rPr i="1"/>
              <a:t>x</a:t>
            </a:r>
            <a:r>
              <a:t>) = sen </a:t>
            </a:r>
            <a:r>
              <a:rPr i="1"/>
              <a:t>x </a:t>
            </a:r>
            <a:r>
              <a:t>e usarmos a interpretação de </a:t>
            </a:r>
            <a:r>
              <a:rPr i="1"/>
              <a:t>f</a:t>
            </a:r>
            <a:r>
              <a:rPr sz="1100"/>
              <a:t> </a:t>
            </a:r>
            <a:r>
              <a:t>′(</a:t>
            </a:r>
            <a:r>
              <a:rPr i="1"/>
              <a:t>x</a:t>
            </a:r>
            <a:r>
              <a:t>) como a inclinação da tangente à curva</a:t>
            </a:r>
          </a:p>
        </p:txBody>
      </p:sp>
      <p:pic>
        <p:nvPicPr>
          <p:cNvPr id="526" name="Picture 4" descr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96542" y="5659385"/>
            <a:ext cx="6811716" cy="4161086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527" name="Sen —&gt; Cos"/>
          <p:cNvSpPr txBox="1"/>
          <p:nvPr/>
        </p:nvSpPr>
        <p:spPr>
          <a:xfrm>
            <a:off x="5552033" y="4646270"/>
            <a:ext cx="1900734" cy="46106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/>
          <a:p>
            <a:r>
              <a:t>Sen —&gt; Cos</a:t>
            </a:r>
          </a:p>
        </p:txBody>
      </p:sp>
    </p:spTree>
  </p:cSld>
  <p:clrMapOvr>
    <a:masterClrMapping/>
  </p:clrMapOvr>
  <p:transition spd="med"/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Rectangle 2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5000"/>
            </a:lvl1pPr>
          </a:lstStyle>
          <a:p>
            <a:r>
              <a:t>Derivadas de Funções Trigonométricas</a:t>
            </a:r>
          </a:p>
        </p:txBody>
      </p:sp>
      <p:sp>
        <p:nvSpPr>
          <p:cNvPr id="530" name="Rectangle 3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 anchor="t"/>
          <a:lstStyle/>
          <a:p>
            <a:pPr marL="0" indent="0">
              <a:buSzTx/>
              <a:buNone/>
            </a:pPr>
            <a:r>
              <a:t>Vamos tentar confirmar nossa conjectura de que, se f</a:t>
            </a:r>
            <a:r>
              <a:rPr sz="500"/>
              <a:t> </a:t>
            </a:r>
            <a:r>
              <a:t>(</a:t>
            </a:r>
            <a:r>
              <a:t>x</a:t>
            </a:r>
            <a:r>
              <a:t>) = sen </a:t>
            </a:r>
            <a:r>
              <a:t>x</a:t>
            </a:r>
            <a:r>
              <a:t>, então </a:t>
            </a:r>
            <a:r>
              <a:t>f</a:t>
            </a:r>
            <a:r>
              <a:rPr sz="1100"/>
              <a:t> </a:t>
            </a:r>
            <a:r>
              <a:t>′(</a:t>
            </a:r>
            <a:r>
              <a:t>x</a:t>
            </a:r>
            <a:r>
              <a:t>) = cos </a:t>
            </a:r>
            <a:r>
              <a:t>x</a:t>
            </a:r>
            <a:r>
              <a:t>. Da definição da derivada, temos</a:t>
            </a:r>
          </a:p>
        </p:txBody>
      </p:sp>
      <p:pic>
        <p:nvPicPr>
          <p:cNvPr id="531" name="Picture 9" descr="Picture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16098" y="5096028"/>
            <a:ext cx="9972604" cy="3880195"/>
          </a:xfrm>
          <a:prstGeom prst="rect">
            <a:avLst/>
          </a:prstGeom>
          <a:ln w="12700">
            <a:miter lim="400000"/>
            <a:headEnd/>
            <a:tailEnd/>
          </a:ln>
        </p:spPr>
      </p:pic>
    </p:spTree>
  </p:cSld>
  <p:clrMapOvr>
    <a:masterClrMapping/>
  </p:clrMapOvr>
  <p:transition spd="med"/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Rectangle 2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5000"/>
            </a:lvl1pPr>
          </a:lstStyle>
          <a:p>
            <a:r>
              <a:t>Derivadas de Funções Trigonométricas</a:t>
            </a:r>
          </a:p>
        </p:txBody>
      </p:sp>
      <p:sp>
        <p:nvSpPr>
          <p:cNvPr id="534" name="Rectangle 3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305435" indent="-305435">
              <a:defRPr sz="2200"/>
            </a:pPr>
          </a:p>
          <a:p>
            <a:r>
              <a:t>Dois desses quatro limites são fáceis de calcular. Quando calculamos um limite quando </a:t>
            </a:r>
            <a:r>
              <a:rPr i="1"/>
              <a:t>h </a:t>
            </a:r>
            <a:r>
              <a:t>→ 0, temos</a:t>
            </a:r>
          </a:p>
        </p:txBody>
      </p:sp>
      <p:pic>
        <p:nvPicPr>
          <p:cNvPr id="535" name="Picture 7" descr="Picture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31999" y="2243615"/>
            <a:ext cx="9295273" cy="262477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536" name="Imagem 8" descr="Imagem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7896" y="7364892"/>
            <a:ext cx="8089008" cy="916629"/>
          </a:xfrm>
          <a:prstGeom prst="rect">
            <a:avLst/>
          </a:prstGeom>
          <a:ln w="12700">
            <a:miter lim="400000"/>
            <a:headEnd/>
            <a:tailEnd/>
          </a:ln>
        </p:spPr>
      </p:pic>
    </p:spTree>
  </p:cSld>
  <p:clrMapOvr>
    <a:masterClrMapping/>
  </p:clrMapOvr>
  <p:transition spd="med"/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Rectangle 2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5000"/>
            </a:lvl1pPr>
          </a:lstStyle>
          <a:p>
            <a:r>
              <a:t>Derivadas de Funções Trigonométricas</a:t>
            </a:r>
          </a:p>
        </p:txBody>
      </p:sp>
      <p:sp>
        <p:nvSpPr>
          <p:cNvPr id="539" name="Rectangle 3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 anchor="t"/>
          <a:lstStyle/>
          <a:p>
            <a:pPr marL="0" indent="0">
              <a:lnSpc>
                <a:spcPct val="120000"/>
              </a:lnSpc>
              <a:buSzTx/>
              <a:buNone/>
            </a:pPr>
            <a:r>
              <a:t>O limite de (sen </a:t>
            </a:r>
            <a:r>
              <a:rPr i="1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h</a:t>
            </a:r>
            <a:r>
              <a:t>)/</a:t>
            </a:r>
            <a:r>
              <a:rPr i="1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h </a:t>
            </a:r>
            <a:r>
              <a:t>não é tão óbvio. Fizemos a conjectura, com base nas evidências numéricas e gráficas, de que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40" name="Equação"/>
              <p:cNvSpPr txBox="1"/>
              <p:nvPr/>
            </p:nvSpPr>
            <p:spPr>
              <a:xfrm>
                <a:off x="4532044" y="5175599"/>
                <a:ext cx="3459918" cy="1116902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algn="l" defTabSz="914400" latinLnBrk="1">
                  <a:defRPr sz="1800" b="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4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sz="4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sz="4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sz="4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  <m:r>
                            <a:rPr sz="4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→</m:t>
                          </m:r>
                          <m:r>
                            <a:rPr sz="4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f>
                        <m:fPr>
                          <m:ctrlPr>
                            <a:rPr sz="4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sz="4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sz="4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  <m:r>
                            <a:rPr sz="4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sz="4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num>
                        <m:den>
                          <m:r>
                            <a:rPr sz="4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den>
                      </m:f>
                      <m:r>
                        <a:rPr sz="4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sz="4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sz="4100"/>
              </a:p>
            </p:txBody>
          </p:sp>
        </mc:Choice>
        <mc:Fallback>
          <p:sp>
            <p:nvSpPr>
              <p:cNvPr id="540" name="Equaçã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32044" y="5175599"/>
                <a:ext cx="3459918" cy="1116902"/>
              </a:xfrm>
              <a:prstGeom prst="rect">
                <a:avLst/>
              </a:prstGeom>
              <a:blipFill rotWithShape="1">
                <a:blip r:embed="rId1"/>
                <a:stretch>
                  <a:fillRect l="-1" t="-31" r="-14448" b="-4693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pt-BR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/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Rectangle 2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5000"/>
            </a:lvl1pPr>
          </a:lstStyle>
          <a:p>
            <a:r>
              <a:t>Derivadas de Funções Trigonométricas</a:t>
            </a:r>
          </a:p>
        </p:txBody>
      </p:sp>
      <p:sp>
        <p:nvSpPr>
          <p:cNvPr id="543" name="Rectangle 3"/>
          <p:cNvSpPr txBox="1"/>
          <p:nvPr>
            <p:ph type="body" sz="half" idx="1"/>
          </p:nvPr>
        </p:nvSpPr>
        <p:spPr>
          <a:xfrm>
            <a:off x="952500" y="2590800"/>
            <a:ext cx="11099800" cy="3861620"/>
          </a:xfrm>
          <a:prstGeom prst="rect">
            <a:avLst/>
          </a:prstGeom>
        </p:spPr>
        <p:txBody>
          <a:bodyPr/>
          <a:lstStyle/>
          <a:p>
            <a:pPr marL="0" indent="0" defTabSz="391160">
              <a:lnSpc>
                <a:spcPct val="115000"/>
              </a:lnSpc>
              <a:spcBef>
                <a:spcPts val="2800"/>
              </a:spcBef>
              <a:buSzTx/>
              <a:buNone/>
              <a:defRPr sz="2145"/>
            </a:pPr>
            <a:r>
              <a:t>Usamos agora um argumento geométrico para demonstrar</a:t>
            </a:r>
          </a:p>
          <a:p>
            <a:pPr marL="0" indent="0" defTabSz="391160">
              <a:lnSpc>
                <a:spcPct val="115000"/>
              </a:lnSpc>
              <a:spcBef>
                <a:spcPts val="2800"/>
              </a:spcBef>
              <a:buSzTx/>
              <a:buNone/>
              <a:defRPr sz="2145"/>
            </a:pPr>
            <a:r>
              <a:t>Suponha primeiro que θ se encontre entre 0 e π</a:t>
            </a:r>
            <a:r>
              <a:rPr sz="735" i="1"/>
              <a:t> </a:t>
            </a:r>
            <a:r>
              <a:t>/2</a:t>
            </a:r>
          </a:p>
          <a:p>
            <a:pPr marL="0" indent="0" defTabSz="391160">
              <a:lnSpc>
                <a:spcPct val="115000"/>
              </a:lnSpc>
              <a:spcBef>
                <a:spcPts val="2800"/>
              </a:spcBef>
              <a:buSzTx/>
              <a:buNone/>
              <a:defRPr sz="2145"/>
            </a:pPr>
            <a:r>
              <a:t>Um setor do círculo com o centro </a:t>
            </a:r>
            <a:r>
              <a:rPr i="1"/>
              <a:t>O</a:t>
            </a:r>
            <a:r>
              <a:t>, ângulo central θ e raio 1. </a:t>
            </a:r>
            <a:r>
              <a:rPr i="1"/>
              <a:t>BC é traçado </a:t>
            </a:r>
            <a:r>
              <a:t>perpendicular a </a:t>
            </a:r>
            <a:r>
              <a:rPr i="1"/>
              <a:t>OA</a:t>
            </a:r>
            <a:br>
              <a:rPr i="1"/>
            </a:br>
            <a:r>
              <a:t>Pela definição de medida  em radianos, temos  arc </a:t>
            </a:r>
            <a:r>
              <a:rPr i="1"/>
              <a:t>AB </a:t>
            </a:r>
            <a:r>
              <a:t>= θ. </a:t>
            </a:r>
            <a:br/>
            <a:r>
              <a:t>Além disso, </a:t>
            </a:r>
          </a:p>
          <a:p>
            <a:pPr marL="0" indent="0" defTabSz="391160">
              <a:lnSpc>
                <a:spcPct val="115000"/>
              </a:lnSpc>
              <a:spcBef>
                <a:spcPts val="2800"/>
              </a:spcBef>
              <a:buSzTx/>
              <a:buNone/>
              <a:defRPr sz="2145"/>
            </a:pPr>
            <a:r>
              <a:t>|</a:t>
            </a:r>
            <a:r>
              <a:rPr sz="735"/>
              <a:t> </a:t>
            </a:r>
            <a:r>
              <a:rPr i="1"/>
              <a:t>BC</a:t>
            </a:r>
            <a:r>
              <a:rPr sz="735" i="1"/>
              <a:t> </a:t>
            </a:r>
            <a:r>
              <a:t>| = |</a:t>
            </a:r>
            <a:r>
              <a:rPr sz="735"/>
              <a:t> </a:t>
            </a:r>
            <a:r>
              <a:rPr i="1"/>
              <a:t>OB</a:t>
            </a:r>
            <a:r>
              <a:rPr sz="735" i="1"/>
              <a:t> </a:t>
            </a:r>
            <a:r>
              <a:t>| sen θ = sen θ</a:t>
            </a:r>
          </a:p>
        </p:txBody>
      </p:sp>
      <p:pic>
        <p:nvPicPr>
          <p:cNvPr id="544" name="Picture 8" descr="Picture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20326" y="5854553"/>
            <a:ext cx="3808874" cy="3707272"/>
          </a:xfrm>
          <a:prstGeom prst="rect">
            <a:avLst/>
          </a:prstGeom>
          <a:ln w="12700">
            <a:miter lim="400000"/>
            <a:headEnd/>
            <a:tailEnd/>
          </a:ln>
        </p:spPr>
      </p:pic>
    </p:spTree>
  </p:cSld>
  <p:clrMapOvr>
    <a:masterClrMapping/>
  </p:clrMapOvr>
  <p:transition spd="med"/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Rectangle 2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5000"/>
            </a:lvl1pPr>
          </a:lstStyle>
          <a:p>
            <a:r>
              <a:t>Derivadas de Funções Trigonométricas</a:t>
            </a:r>
          </a:p>
        </p:txBody>
      </p:sp>
      <p:sp>
        <p:nvSpPr>
          <p:cNvPr id="547" name="Rectangle 3"/>
          <p:cNvSpPr txBox="1"/>
          <p:nvPr>
            <p:ph type="body" sz="half" idx="1"/>
          </p:nvPr>
        </p:nvSpPr>
        <p:spPr>
          <a:xfrm>
            <a:off x="952500" y="2590800"/>
            <a:ext cx="11099800" cy="4353994"/>
          </a:xfrm>
          <a:prstGeom prst="rect">
            <a:avLst/>
          </a:prstGeom>
        </p:spPr>
        <p:txBody>
          <a:bodyPr/>
          <a:lstStyle/>
          <a:p>
            <a:pPr marL="0" indent="0" defTabSz="455930">
              <a:spcBef>
                <a:spcPts val="3200"/>
              </a:spcBef>
              <a:buSzTx/>
              <a:buNone/>
              <a:defRPr sz="2495"/>
            </a:pPr>
            <a:r>
              <a:t>Do diagrama, vemos que</a:t>
            </a:r>
          </a:p>
          <a:p>
            <a:pPr marL="0" indent="0" defTabSz="455930">
              <a:spcBef>
                <a:spcPts val="3200"/>
              </a:spcBef>
              <a:buSzTx/>
              <a:buNone/>
              <a:defRPr sz="2495" i="1"/>
            </a:pPr>
            <a:r>
              <a:t>                          </a:t>
            </a:r>
            <a:r>
              <a:rPr i="0"/>
              <a:t>|</a:t>
            </a:r>
            <a:r>
              <a:rPr sz="860"/>
              <a:t> </a:t>
            </a:r>
            <a:r>
              <a:t>BC</a:t>
            </a:r>
            <a:r>
              <a:rPr sz="860"/>
              <a:t> </a:t>
            </a:r>
            <a:r>
              <a:rPr i="0"/>
              <a:t>| &lt; |</a:t>
            </a:r>
            <a:r>
              <a:rPr sz="860"/>
              <a:t> </a:t>
            </a:r>
            <a:r>
              <a:t>AB</a:t>
            </a:r>
            <a:r>
              <a:rPr sz="860"/>
              <a:t> </a:t>
            </a:r>
            <a:r>
              <a:rPr i="0"/>
              <a:t>| &lt; arco </a:t>
            </a:r>
            <a:r>
              <a:t>AB</a:t>
            </a:r>
          </a:p>
          <a:p>
            <a:pPr marL="0" indent="0" defTabSz="455930">
              <a:spcBef>
                <a:spcPts val="3200"/>
              </a:spcBef>
              <a:buSzTx/>
              <a:buNone/>
              <a:defRPr sz="2495"/>
            </a:pPr>
            <a:r>
              <a:t>Portanto, sen θ &lt; θ   de modo que              </a:t>
            </a:r>
          </a:p>
          <a:p>
            <a:pPr marL="0" indent="0" defTabSz="455930">
              <a:spcBef>
                <a:spcPts val="3200"/>
              </a:spcBef>
              <a:buSzTx/>
              <a:buNone/>
              <a:defRPr sz="2495"/>
            </a:pPr>
            <a:r>
              <a:t>Assuma que as retas tangentes em  A</a:t>
            </a:r>
            <a:r>
              <a:t> e </a:t>
            </a:r>
            <a:r>
              <a:t>B se </a:t>
            </a:r>
            <a:r>
              <a:t>interceptam em </a:t>
            </a:r>
            <a:r>
              <a:t>E</a:t>
            </a:r>
            <a:r>
              <a:t>. Você pode </a:t>
            </a:r>
          </a:p>
          <a:p>
            <a:pPr marL="0" indent="0" defTabSz="455930">
              <a:spcBef>
                <a:spcPts val="3200"/>
              </a:spcBef>
              <a:buSzTx/>
              <a:buNone/>
              <a:defRPr sz="2495"/>
            </a:pPr>
            <a:r>
              <a:t>O</a:t>
            </a:r>
            <a:r>
              <a:t> comprimento de um círculo é menor que o comprimento de um polígono  circunscrito; de modo que arc </a:t>
            </a:r>
            <a:r>
              <a:rPr i="1"/>
              <a:t>AB </a:t>
            </a:r>
            <a:r>
              <a:t>&lt; |</a:t>
            </a:r>
            <a:r>
              <a:rPr sz="860"/>
              <a:t> </a:t>
            </a:r>
            <a:r>
              <a:rPr i="1"/>
              <a:t>AE</a:t>
            </a:r>
            <a:r>
              <a:rPr sz="860"/>
              <a:t> </a:t>
            </a:r>
            <a:r>
              <a:t>| + |</a:t>
            </a:r>
            <a:r>
              <a:rPr sz="860"/>
              <a:t> </a:t>
            </a:r>
            <a:r>
              <a:rPr i="1"/>
              <a:t>EB</a:t>
            </a:r>
            <a:r>
              <a:rPr sz="860"/>
              <a:t> </a:t>
            </a:r>
            <a:r>
              <a:t>|</a:t>
            </a:r>
          </a:p>
        </p:txBody>
      </p:sp>
      <p:pic>
        <p:nvPicPr>
          <p:cNvPr id="548" name="Picture 8" descr="Picture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29455" y="6707160"/>
            <a:ext cx="3133796" cy="295994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549" name="Picture 9" descr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4049" y="4118186"/>
            <a:ext cx="1908855" cy="100640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550" name="Picture 8" descr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83032" y="1929885"/>
            <a:ext cx="2312633" cy="2250944"/>
          </a:xfrm>
          <a:prstGeom prst="rect">
            <a:avLst/>
          </a:prstGeom>
          <a:ln w="12700">
            <a:miter lim="400000"/>
            <a:headEnd/>
            <a:tailEnd/>
          </a:ln>
        </p:spPr>
      </p:pic>
    </p:spTree>
  </p:cSld>
  <p:clrMapOvr>
    <a:masterClrMapping/>
  </p:clrMapOvr>
  <p:transition spd="med"/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Rectangle 2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5000"/>
            </a:lvl1pPr>
          </a:lstStyle>
          <a:p>
            <a:r>
              <a:t>Derivadas de Funções Trigonométricas</a:t>
            </a:r>
          </a:p>
        </p:txBody>
      </p:sp>
      <p:sp>
        <p:nvSpPr>
          <p:cNvPr id="553" name="Rectangle 3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0" indent="0" defTabSz="385445">
              <a:spcBef>
                <a:spcPts val="2700"/>
              </a:spcBef>
              <a:buSzTx/>
              <a:buNone/>
              <a:defRPr sz="2110"/>
            </a:pPr>
            <a:r>
              <a:t>Assim,</a:t>
            </a:r>
          </a:p>
          <a:p>
            <a:pPr marL="0" indent="0" defTabSz="385445">
              <a:spcBef>
                <a:spcPts val="2700"/>
              </a:spcBef>
              <a:buSzTx/>
              <a:buNone/>
              <a:defRPr sz="2110" i="1"/>
            </a:pPr>
            <a:r>
              <a:rPr i="0"/>
              <a:t>                      θ = arc </a:t>
            </a:r>
            <a:r>
              <a:t>AB </a:t>
            </a:r>
            <a:r>
              <a:rPr i="0"/>
              <a:t>&lt; |</a:t>
            </a:r>
            <a:r>
              <a:rPr sz="725" i="0"/>
              <a:t> </a:t>
            </a:r>
            <a:r>
              <a:t>AE</a:t>
            </a:r>
            <a:r>
              <a:rPr sz="725" i="0"/>
              <a:t> </a:t>
            </a:r>
            <a:r>
              <a:rPr i="0"/>
              <a:t>| + |</a:t>
            </a:r>
            <a:r>
              <a:rPr sz="725" i="0"/>
              <a:t> </a:t>
            </a:r>
            <a:r>
              <a:t>EB</a:t>
            </a:r>
            <a:r>
              <a:rPr sz="725" i="0"/>
              <a:t> </a:t>
            </a:r>
            <a:r>
              <a:rPr i="0"/>
              <a:t>|</a:t>
            </a:r>
            <a:endParaRPr i="0"/>
          </a:p>
          <a:p>
            <a:pPr marL="0" indent="0" defTabSz="385445">
              <a:spcBef>
                <a:spcPts val="2700"/>
              </a:spcBef>
              <a:buSzTx/>
              <a:buNone/>
              <a:defRPr sz="2110"/>
            </a:pPr>
            <a:r>
              <a:t>                                        &lt; |</a:t>
            </a:r>
            <a:r>
              <a:rPr sz="725"/>
              <a:t> </a:t>
            </a:r>
            <a:r>
              <a:rPr i="1"/>
              <a:t>AE</a:t>
            </a:r>
            <a:r>
              <a:rPr sz="725"/>
              <a:t> </a:t>
            </a:r>
            <a:r>
              <a:t>| + |</a:t>
            </a:r>
            <a:r>
              <a:rPr sz="725"/>
              <a:t> </a:t>
            </a:r>
            <a:r>
              <a:rPr i="1"/>
              <a:t>ED</a:t>
            </a:r>
            <a:r>
              <a:rPr sz="725"/>
              <a:t> </a:t>
            </a:r>
            <a:r>
              <a:t>|</a:t>
            </a:r>
          </a:p>
          <a:p>
            <a:pPr marL="0" indent="0" defTabSz="385445">
              <a:spcBef>
                <a:spcPts val="2700"/>
              </a:spcBef>
              <a:buSzTx/>
              <a:buNone/>
              <a:defRPr sz="2110"/>
            </a:pPr>
            <a:r>
              <a:t>                                        = |</a:t>
            </a:r>
            <a:r>
              <a:rPr sz="725"/>
              <a:t> </a:t>
            </a:r>
            <a:r>
              <a:rPr i="1"/>
              <a:t>AD</a:t>
            </a:r>
            <a:r>
              <a:rPr sz="725"/>
              <a:t> </a:t>
            </a:r>
            <a:r>
              <a:t>| = |</a:t>
            </a:r>
            <a:r>
              <a:rPr sz="725"/>
              <a:t> </a:t>
            </a:r>
            <a:r>
              <a:rPr i="1"/>
              <a:t>OA</a:t>
            </a:r>
            <a:r>
              <a:rPr sz="725"/>
              <a:t> </a:t>
            </a:r>
            <a:r>
              <a:t>| tg θ</a:t>
            </a:r>
          </a:p>
          <a:p>
            <a:pPr marL="0" indent="0" defTabSz="385445">
              <a:spcBef>
                <a:spcPts val="2700"/>
              </a:spcBef>
              <a:buSzTx/>
              <a:buNone/>
              <a:defRPr sz="2110" i="1"/>
            </a:pPr>
            <a:r>
              <a:t>                                        </a:t>
            </a:r>
            <a:r>
              <a:rPr i="0"/>
              <a:t>=</a:t>
            </a:r>
            <a:r>
              <a:t> </a:t>
            </a:r>
            <a:r>
              <a:rPr i="0"/>
              <a:t>tg θ</a:t>
            </a:r>
            <a:endParaRPr i="0"/>
          </a:p>
          <a:p>
            <a:pPr marL="0" indent="0" defTabSz="385445">
              <a:spcBef>
                <a:spcPts val="2700"/>
              </a:spcBef>
              <a:buSzTx/>
              <a:buNone/>
              <a:defRPr sz="2110"/>
            </a:pPr>
          </a:p>
          <a:p>
            <a:pPr marL="0" indent="0" defTabSz="385445">
              <a:spcBef>
                <a:spcPts val="2700"/>
              </a:spcBef>
              <a:buSzTx/>
              <a:buNone/>
              <a:defRPr sz="2110"/>
            </a:pPr>
            <a:r>
              <a:t>Portanto, temos</a:t>
            </a:r>
          </a:p>
          <a:p>
            <a:pPr marL="0" indent="0" defTabSz="385445">
              <a:spcBef>
                <a:spcPts val="2700"/>
              </a:spcBef>
              <a:buSzTx/>
              <a:buNone/>
              <a:defRPr sz="2110"/>
            </a:pPr>
          </a:p>
          <a:p>
            <a:pPr marL="0" indent="0" defTabSz="385445">
              <a:spcBef>
                <a:spcPts val="2700"/>
              </a:spcBef>
              <a:buSzTx/>
              <a:buNone/>
              <a:defRPr sz="265"/>
            </a:pPr>
          </a:p>
          <a:p>
            <a:pPr marL="0" indent="0" defTabSz="385445">
              <a:spcBef>
                <a:spcPts val="2700"/>
              </a:spcBef>
              <a:buSzTx/>
              <a:buNone/>
              <a:defRPr sz="2110"/>
            </a:pPr>
            <a:r>
              <a:t>de modo que</a:t>
            </a:r>
          </a:p>
        </p:txBody>
      </p:sp>
      <p:pic>
        <p:nvPicPr>
          <p:cNvPr id="554" name="Picture 7" descr="Picture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30490" y="6415335"/>
            <a:ext cx="1923627" cy="1018102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555" name="Picture 9" descr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1374" y="8105121"/>
            <a:ext cx="3366349" cy="997073"/>
          </a:xfrm>
          <a:prstGeom prst="rect">
            <a:avLst/>
          </a:prstGeom>
          <a:ln w="12700">
            <a:miter lim="400000"/>
            <a:headEnd/>
            <a:tailEnd/>
          </a:ln>
        </p:spPr>
      </p:pic>
    </p:spTree>
  </p:cSld>
  <p:clrMapOvr>
    <a:masterClrMapping/>
  </p:clrMapOvr>
  <p:transition spd="med"/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Rectangle 2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5000"/>
            </a:lvl1pPr>
          </a:lstStyle>
          <a:p>
            <a:r>
              <a:t>Derivadas de Funções Trigonométricas</a:t>
            </a:r>
          </a:p>
        </p:txBody>
      </p:sp>
      <p:sp>
        <p:nvSpPr>
          <p:cNvPr id="558" name="Rectangle 3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355600" indent="-355600" defTabSz="467360">
              <a:lnSpc>
                <a:spcPct val="110000"/>
              </a:lnSpc>
              <a:spcBef>
                <a:spcPts val="3300"/>
              </a:spcBef>
              <a:defRPr sz="2560"/>
            </a:pPr>
            <a:r>
              <a:t>Sabemos que lim</a:t>
            </a:r>
            <a:r>
              <a:rPr baseline="-24000">
                <a:latin typeface="Symbol" panose="05050102010706020507"/>
                <a:ea typeface="Symbol" panose="05050102010706020507"/>
                <a:cs typeface="Symbol" panose="05050102010706020507"/>
                <a:sym typeface="Symbol" panose="05050102010706020507"/>
              </a:rPr>
              <a:t>q</a:t>
            </a:r>
            <a:r>
              <a:rPr baseline="-24000"/>
              <a:t> </a:t>
            </a:r>
            <a:r>
              <a:rPr baseline="-24000">
                <a:latin typeface="Symbol" panose="05050102010706020507"/>
                <a:ea typeface="Symbol" panose="05050102010706020507"/>
                <a:cs typeface="Symbol" panose="05050102010706020507"/>
                <a:sym typeface="Symbol" panose="05050102010706020507"/>
              </a:rPr>
              <a:t>®</a:t>
            </a:r>
            <a:r>
              <a:rPr baseline="-24000"/>
              <a:t>0</a:t>
            </a:r>
            <a:r>
              <a:t> 1 = 1 e lim</a:t>
            </a:r>
            <a:r>
              <a:rPr baseline="-24000">
                <a:latin typeface="Symbol" panose="05050102010706020507"/>
                <a:ea typeface="Symbol" panose="05050102010706020507"/>
                <a:cs typeface="Symbol" panose="05050102010706020507"/>
                <a:sym typeface="Symbol" panose="05050102010706020507"/>
              </a:rPr>
              <a:t>q</a:t>
            </a:r>
            <a:r>
              <a:rPr baseline="-24000"/>
              <a:t> </a:t>
            </a:r>
            <a:r>
              <a:rPr baseline="-24000">
                <a:latin typeface="Symbol" panose="05050102010706020507"/>
                <a:ea typeface="Symbol" panose="05050102010706020507"/>
                <a:cs typeface="Symbol" panose="05050102010706020507"/>
                <a:sym typeface="Symbol" panose="05050102010706020507"/>
              </a:rPr>
              <a:t>®</a:t>
            </a:r>
            <a:r>
              <a:rPr baseline="-24000"/>
              <a:t>0</a:t>
            </a:r>
            <a:r>
              <a:t> cos </a:t>
            </a:r>
            <a:r>
              <a:rPr>
                <a:latin typeface="Symbol" panose="05050102010706020507"/>
                <a:ea typeface="Symbol" panose="05050102010706020507"/>
                <a:cs typeface="Symbol" panose="05050102010706020507"/>
                <a:sym typeface="Symbol" panose="05050102010706020507"/>
              </a:rPr>
              <a:t>q </a:t>
            </a:r>
            <a:r>
              <a:t>=</a:t>
            </a:r>
            <a:r>
              <a:rPr i="1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t>1. Portanto, pelo </a:t>
            </a:r>
            <a:r>
              <a:rPr b="1"/>
              <a:t>Teorema do Confronto</a:t>
            </a:r>
            <a:r>
              <a:t>, temos</a:t>
            </a:r>
          </a:p>
          <a:p>
            <a:pPr marL="355600" indent="-355600" defTabSz="467360">
              <a:lnSpc>
                <a:spcPct val="110000"/>
              </a:lnSpc>
              <a:spcBef>
                <a:spcPts val="3300"/>
              </a:spcBef>
              <a:defRPr sz="2560"/>
            </a:pPr>
          </a:p>
          <a:p>
            <a:pPr marL="355600" indent="-355600" defTabSz="467360">
              <a:lnSpc>
                <a:spcPct val="110000"/>
              </a:lnSpc>
              <a:spcBef>
                <a:spcPts val="3300"/>
              </a:spcBef>
              <a:defRPr sz="2560"/>
            </a:pPr>
          </a:p>
          <a:p>
            <a:pPr marL="355600" indent="-355600" defTabSz="467360">
              <a:lnSpc>
                <a:spcPct val="110000"/>
              </a:lnSpc>
              <a:spcBef>
                <a:spcPts val="3300"/>
              </a:spcBef>
              <a:defRPr sz="2560"/>
            </a:pPr>
            <a:r>
              <a:t>Mas a função (sen </a:t>
            </a:r>
            <a:r>
              <a:rPr>
                <a:latin typeface="Symbol" panose="05050102010706020507"/>
                <a:ea typeface="Symbol" panose="05050102010706020507"/>
                <a:cs typeface="Symbol" panose="05050102010706020507"/>
                <a:sym typeface="Symbol" panose="05050102010706020507"/>
              </a:rPr>
              <a:t>q</a:t>
            </a:r>
            <a:r>
              <a:t>)/</a:t>
            </a:r>
            <a:r>
              <a:rPr>
                <a:latin typeface="Symbol" panose="05050102010706020507"/>
                <a:ea typeface="Symbol" panose="05050102010706020507"/>
                <a:cs typeface="Symbol" panose="05050102010706020507"/>
                <a:sym typeface="Symbol" panose="05050102010706020507"/>
              </a:rPr>
              <a:t>q </a:t>
            </a:r>
            <a:r>
              <a:t>é uma função par; assim, seus limites à direita e à esquerda devem ser iguais. Logo, temos</a:t>
            </a:r>
            <a:br/>
            <a:br/>
            <a:br/>
            <a:br/>
            <a:br/>
          </a:p>
        </p:txBody>
      </p:sp>
      <p:pic>
        <p:nvPicPr>
          <p:cNvPr id="559" name="Picture 6" descr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81315" y="3674262"/>
            <a:ext cx="3029939" cy="119490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560" name="Picture 7" descr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5813" y="7097534"/>
            <a:ext cx="2885441" cy="1067509"/>
          </a:xfrm>
          <a:prstGeom prst="rect">
            <a:avLst/>
          </a:prstGeom>
          <a:ln w="12700">
            <a:miter lim="400000"/>
            <a:headEnd/>
            <a:tailEnd/>
          </a:ln>
        </p:spPr>
      </p:pic>
    </p:spTree>
  </p:cSld>
  <p:clrMapOvr>
    <a:masterClrMapping/>
  </p:clrMapOvr>
  <p:transition spd="med"/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Rectangle 2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5000"/>
            </a:lvl1pPr>
          </a:lstStyle>
          <a:p>
            <a:r>
              <a:t>Derivadas de Funções Trigonométricas</a:t>
            </a:r>
          </a:p>
        </p:txBody>
      </p:sp>
      <p:sp>
        <p:nvSpPr>
          <p:cNvPr id="563" name="Rectangle 3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 anchor="t"/>
          <a:lstStyle>
            <a:lvl1pPr marL="0" indent="0">
              <a:buSzTx/>
              <a:buNone/>
            </a:lvl1pPr>
          </a:lstStyle>
          <a:p>
            <a:r>
              <a:t>Podemos deduzir o valor do limite que restou em      como segue</a:t>
            </a:r>
          </a:p>
        </p:txBody>
      </p:sp>
      <p:pic>
        <p:nvPicPr>
          <p:cNvPr id="564" name="Picture 6" descr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70322" y="4371802"/>
            <a:ext cx="9264156" cy="441654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565" name="Retângulo"/>
          <p:cNvSpPr/>
          <p:nvPr/>
        </p:nvSpPr>
        <p:spPr>
          <a:xfrm>
            <a:off x="7432719" y="8084456"/>
            <a:ext cx="2176207" cy="482367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2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</a:p>
        </p:txBody>
      </p:sp>
    </p:spTree>
  </p:cSld>
  <p:clrMapOvr>
    <a:masterClrMapping/>
  </p:clrMapOvr>
  <p:transition spd="med"/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Rectangle 2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5000"/>
            </a:lvl1pPr>
          </a:lstStyle>
          <a:p>
            <a:r>
              <a:t>Derivadas de Funções Trigonométricas</a:t>
            </a:r>
          </a:p>
        </p:txBody>
      </p:sp>
      <p:sp>
        <p:nvSpPr>
          <p:cNvPr id="568" name="Rectangle 3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1pPr marL="0" indent="0">
              <a:buSzTx/>
              <a:buNone/>
            </a:lvl1pPr>
          </a:lstStyle>
          <a:p>
            <a:r>
              <a:t>Se agora colocarmos os limites, obtemos</a:t>
            </a:r>
          </a:p>
        </p:txBody>
      </p:sp>
      <p:pic>
        <p:nvPicPr>
          <p:cNvPr id="569" name="Picture 7" descr="Picture 7"/>
          <p:cNvPicPr>
            <a:picLocks noChangeAspect="1"/>
          </p:cNvPicPr>
          <p:nvPr/>
        </p:nvPicPr>
        <p:blipFill>
          <a:blip r:embed="rId1"/>
          <a:srcRect l="18964" t="13722" r="15277" b="19047"/>
          <a:stretch>
            <a:fillRect/>
          </a:stretch>
        </p:blipFill>
        <p:spPr>
          <a:xfrm>
            <a:off x="4503737" y="3184825"/>
            <a:ext cx="3997473" cy="123405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570" name="Picture 9" descr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666" y="6445842"/>
            <a:ext cx="11311468" cy="1994914"/>
          </a:xfrm>
          <a:prstGeom prst="rect">
            <a:avLst/>
          </a:prstGeom>
          <a:ln w="12700">
            <a:miter lim="400000"/>
            <a:headEnd/>
            <a:tailEnd/>
          </a:ln>
        </p:spPr>
      </p:pic>
    </p:spTree>
  </p:cSld>
  <p:clrMapOvr>
    <a:masterClrMapping/>
  </p:clrMapOvr>
  <p:transition spd="med"/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Rectangle 2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5000"/>
            </a:lvl1pPr>
          </a:lstStyle>
          <a:p>
            <a:r>
              <a:t>Derivadas de Funções Trigonométricas</a:t>
            </a:r>
          </a:p>
        </p:txBody>
      </p:sp>
      <p:sp>
        <p:nvSpPr>
          <p:cNvPr id="573" name="Rectangle 3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 anchor="t"/>
          <a:lstStyle>
            <a:lvl1pPr marL="0" indent="0">
              <a:lnSpc>
                <a:spcPct val="120000"/>
              </a:lnSpc>
              <a:buSzTx/>
              <a:buNone/>
            </a:lvl1pPr>
          </a:lstStyle>
          <a:p>
            <a:r>
              <a:t>Logo, demonstramos a fórmula para a derivada da função seno:</a:t>
            </a:r>
          </a:p>
        </p:txBody>
      </p:sp>
      <p:pic>
        <p:nvPicPr>
          <p:cNvPr id="574" name="Picture 7" descr="Picture 7"/>
          <p:cNvPicPr>
            <a:picLocks noChangeAspect="1"/>
          </p:cNvPicPr>
          <p:nvPr/>
        </p:nvPicPr>
        <p:blipFill>
          <a:blip r:embed="rId1"/>
          <a:srcRect l="17965" t="13591" r="17965" b="13591"/>
          <a:stretch>
            <a:fillRect/>
          </a:stretch>
        </p:blipFill>
        <p:spPr>
          <a:xfrm>
            <a:off x="4694420" y="5063833"/>
            <a:ext cx="4047416" cy="1340434"/>
          </a:xfrm>
          <a:prstGeom prst="rect">
            <a:avLst/>
          </a:prstGeom>
          <a:ln w="12700">
            <a:miter lim="400000"/>
            <a:headEnd/>
            <a:tailEnd/>
          </a:ln>
        </p:spPr>
      </p:pic>
    </p:spTree>
  </p:cSld>
  <p:clrMapOvr>
    <a:masterClrMapping/>
  </p:clrMapOvr>
  <p:transition spd="med"/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Rectangle 2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Exercício 8</a:t>
            </a:r>
          </a:p>
        </p:txBody>
      </p:sp>
      <p:sp>
        <p:nvSpPr>
          <p:cNvPr id="577" name="Rectangle 3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 anchor="t"/>
          <a:lstStyle/>
          <a:p>
            <a:pPr marL="0" indent="0">
              <a:spcBef>
                <a:spcPts val="0"/>
              </a:spcBef>
              <a:buSzTx/>
              <a:buNone/>
            </a:pPr>
            <a:r>
              <a:rPr b="1">
                <a:solidFill>
                  <a:schemeClr val="accent5">
                    <a:hueOff val="-82419"/>
                    <a:satOff val="-9511"/>
                    <a:lumOff val="-16341"/>
                  </a:schemeClr>
                </a:solidFill>
              </a:rPr>
              <a:t>Exercício: </a:t>
            </a:r>
            <a:r>
              <a:t>Derive </a:t>
            </a:r>
            <a:r>
              <a:rPr i="1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y </a:t>
            </a:r>
            <a:r>
              <a:t>= </a:t>
            </a:r>
            <a:r>
              <a:rPr i="1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x</a:t>
            </a:r>
            <a:r>
              <a:rPr baseline="31000"/>
              <a:t>2</a:t>
            </a:r>
            <a:r>
              <a:t> sen </a:t>
            </a:r>
            <a:r>
              <a:rPr i="1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x</a:t>
            </a:r>
            <a:br>
              <a:rPr i="1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br>
            <a:endParaRPr i="1"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indent="0">
              <a:spcBef>
                <a:spcPts val="0"/>
              </a:spcBef>
              <a:buSzTx/>
              <a:buNone/>
            </a:pPr>
          </a:p>
          <a:p>
            <a:pPr marL="0" indent="0">
              <a:spcBef>
                <a:spcPts val="0"/>
              </a:spcBef>
              <a:buSzTx/>
              <a:buNone/>
              <a:defRPr cap="all">
                <a:solidFill>
                  <a:srgbClr val="00ADEF"/>
                </a:solidFill>
              </a:defRPr>
            </a:pPr>
            <a:r>
              <a:rPr b="1" cap="none">
                <a:solidFill>
                  <a:schemeClr val="accent5">
                    <a:hueOff val="-82419"/>
                    <a:satOff val="-9511"/>
                    <a:lumOff val="-16341"/>
                  </a:schemeClr>
                </a:solidFill>
              </a:rPr>
              <a:t>Solução: </a:t>
            </a:r>
            <a:r>
              <a:rPr cap="none">
                <a:solidFill>
                  <a:srgbClr val="000000"/>
                </a:solidFill>
              </a:rPr>
              <a:t>Usando a Regra do Produto e a derivada do sen x, temos</a:t>
            </a:r>
            <a:endParaRPr cap="none">
              <a:solidFill>
                <a:srgbClr val="000000"/>
              </a:solidFill>
            </a:endParaRPr>
          </a:p>
        </p:txBody>
      </p:sp>
      <p:pic>
        <p:nvPicPr>
          <p:cNvPr id="578" name="Picture 5" descr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80835" y="5547516"/>
            <a:ext cx="6043130" cy="1932479"/>
          </a:xfrm>
          <a:prstGeom prst="rect">
            <a:avLst/>
          </a:prstGeom>
          <a:ln w="12700">
            <a:miter lim="400000"/>
            <a:headEnd/>
            <a:tailEnd/>
          </a:ln>
        </p:spPr>
      </p:pic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dur="indefinite" fill="hold"/>
                                        <p:tgtEl>
                                          <p:spTgt spid="57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1000"/>
                                        <p:tgtEl>
                                          <p:spTgt spid="57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9" presetClass="entr" presetSubtype="0" fill="hold" grpId="2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dur="indefinite" fill="hold"/>
                                        <p:tgtEl>
                                          <p:spTgt spid="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1000"/>
                                        <p:tgtEl>
                                          <p:spTgt spid="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8" grpId="2" animBg="1" advAuto="0"/>
      <p:bldP spid="577" grpId="1" animBg="1" advAuto="0" build="p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Rectangle 2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5000"/>
            </a:lvl1pPr>
          </a:lstStyle>
          <a:p>
            <a:r>
              <a:t>Derivadas de Funções Trigonométricas</a:t>
            </a:r>
          </a:p>
        </p:txBody>
      </p:sp>
      <p:sp>
        <p:nvSpPr>
          <p:cNvPr id="581" name="Rectangle 3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 anchor="t"/>
          <a:lstStyle/>
          <a:p>
            <a:pPr>
              <a:lnSpc>
                <a:spcPct val="110000"/>
              </a:lnSpc>
            </a:pPr>
            <a:r>
              <a:t>Utilizando o mesmo método demonstra-se que</a:t>
            </a:r>
          </a:p>
          <a:p>
            <a:pPr marL="194310" indent="-194310">
              <a:lnSpc>
                <a:spcPct val="110000"/>
              </a:lnSpc>
              <a:defRPr sz="1400"/>
            </a:pPr>
          </a:p>
          <a:p>
            <a:pPr marL="194310" indent="-194310">
              <a:lnSpc>
                <a:spcPct val="110000"/>
              </a:lnSpc>
              <a:defRPr sz="1400"/>
            </a:pPr>
          </a:p>
          <a:p>
            <a:pPr>
              <a:lnSpc>
                <a:spcPct val="110000"/>
              </a:lnSpc>
            </a:pPr>
            <a:r>
              <a:t>A função tangente também pode ser derivada empregando a definição de derivada, mas é mais fácil usar a </a:t>
            </a:r>
            <a:r>
              <a:rPr b="1"/>
              <a:t>Regra do Quociente</a:t>
            </a:r>
            <a:r>
              <a:t>:</a:t>
            </a:r>
          </a:p>
        </p:txBody>
      </p:sp>
      <p:pic>
        <p:nvPicPr>
          <p:cNvPr id="582" name="Picture 6" descr="Picture 6"/>
          <p:cNvPicPr>
            <a:picLocks noChangeAspect="1"/>
          </p:cNvPicPr>
          <p:nvPr/>
        </p:nvPicPr>
        <p:blipFill>
          <a:blip r:embed="rId1"/>
          <a:srcRect l="17993" t="16165" r="10686" b="16165"/>
          <a:stretch>
            <a:fillRect/>
          </a:stretch>
        </p:blipFill>
        <p:spPr>
          <a:xfrm>
            <a:off x="4253706" y="3641439"/>
            <a:ext cx="4497399" cy="123943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583" name="Picture 8" descr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2249" y="7203216"/>
            <a:ext cx="5240302" cy="1553335"/>
          </a:xfrm>
          <a:prstGeom prst="rect">
            <a:avLst/>
          </a:prstGeom>
          <a:ln w="12700">
            <a:miter lim="400000"/>
            <a:headEnd/>
            <a:tailEnd/>
          </a:ln>
        </p:spPr>
      </p:pic>
    </p:spTree>
  </p:cSld>
  <p:clrMapOvr>
    <a:masterClrMapping/>
  </p:clrMapOvr>
  <p:transition spd="med"/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Rectangle 2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5000"/>
            </a:lvl1pPr>
          </a:lstStyle>
          <a:p>
            <a:r>
              <a:t>Derivadas de Funções Trigonométricas</a:t>
            </a:r>
          </a:p>
        </p:txBody>
      </p:sp>
      <p:pic>
        <p:nvPicPr>
          <p:cNvPr id="586" name="Picture 8" descr="Picture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53270" y="3097906"/>
            <a:ext cx="6098260" cy="5028787"/>
          </a:xfrm>
          <a:prstGeom prst="rect">
            <a:avLst/>
          </a:prstGeom>
          <a:ln w="12700">
            <a:miter lim="400000"/>
            <a:headEnd/>
            <a:tailEnd/>
          </a:ln>
        </p:spPr>
      </p:pic>
    </p:spTree>
  </p:cSld>
  <p:clrMapOvr>
    <a:masterClrMapping/>
  </p:clrMapOvr>
  <p:transition spd="med"/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Rectangle 2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5000"/>
            </a:lvl1pPr>
          </a:lstStyle>
          <a:p>
            <a:r>
              <a:t>Derivadas de Funções Trigonométricas</a:t>
            </a:r>
          </a:p>
        </p:txBody>
      </p:sp>
      <p:sp>
        <p:nvSpPr>
          <p:cNvPr id="589" name="Rectangle 3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1pPr>
              <a:lnSpc>
                <a:spcPct val="120000"/>
              </a:lnSpc>
            </a:lvl1pPr>
          </a:lstStyle>
          <a:p>
            <a:r>
              <a:t>As derivadas das funções trigonométricas que restaram, cossec, sec e cotg, também podem ser encontradas facilmente usando a Regra do Quociente</a:t>
            </a:r>
          </a:p>
        </p:txBody>
      </p:sp>
      <p:pic>
        <p:nvPicPr>
          <p:cNvPr id="590" name="Picture 7" descr="Picture 7"/>
          <p:cNvPicPr>
            <a:picLocks noChangeAspect="1"/>
          </p:cNvPicPr>
          <p:nvPr/>
        </p:nvPicPr>
        <p:blipFill>
          <a:blip r:embed="rId1"/>
          <a:srcRect l="18671" t="16276" r="16904" b="16276"/>
          <a:stretch>
            <a:fillRect/>
          </a:stretch>
        </p:blipFill>
        <p:spPr>
          <a:xfrm>
            <a:off x="4487862" y="3155933"/>
            <a:ext cx="4029146" cy="1225168"/>
          </a:xfrm>
          <a:prstGeom prst="rect">
            <a:avLst/>
          </a:prstGeom>
          <a:ln w="12700">
            <a:miter lim="400000"/>
            <a:headEnd/>
            <a:tailEnd/>
          </a:ln>
        </p:spPr>
      </p:pic>
    </p:spTree>
  </p:cSld>
  <p:clrMapOvr>
    <a:masterClrMapping/>
  </p:clrMapOvr>
  <p:transition spd="med"/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Rectangle 2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5000"/>
            </a:lvl1pPr>
          </a:lstStyle>
          <a:p>
            <a:r>
              <a:t>Derivadas de Funções Trigonométricas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93" name="Rectangle 3"/>
              <p:cNvSpPr txBox="1"/>
              <p:nvPr>
                <p:ph type="body" idx="1"/>
              </p:nvPr>
            </p:nvSpPr>
            <p:spPr>
              <a:prstGeom prst="rect">
                <a:avLst/>
              </a:prstGeom>
            </p:spPr>
            <p:txBody>
              <a:bodyPr anchor="t"/>
              <a:lstStyle/>
              <a:p>
                <a:pPr marL="248920" indent="-248920" defTabSz="327025">
                  <a:lnSpc>
                    <a:spcPct val="115000"/>
                  </a:lnSpc>
                  <a:spcBef>
                    <a:spcPts val="2300"/>
                  </a:spcBef>
                  <a:defRPr sz="1790" b="1"/>
                </a:pPr>
                <a:r>
                  <a:t>Derivadas de Funções Trigonométricas - </a:t>
                </a:r>
                <a:r>
                  <a:rPr i="1"/>
                  <a:t>x</a:t>
                </a:r>
                <a:r>
                  <a:t> estiver medido em raios (radianos)</a:t>
                </a:r>
              </a:p>
              <a:p>
                <a:pPr marL="248920" indent="-248920" defTabSz="327025">
                  <a:lnSpc>
                    <a:spcPct val="115000"/>
                  </a:lnSpc>
                  <a:spcBef>
                    <a:spcPts val="2300"/>
                  </a:spcBef>
                  <a:defRPr sz="1790" b="1"/>
                </a:pPr>
                <a14:m>
                  <m:oMath xmlns:m="http://schemas.openxmlformats.org/officeDocument/2006/math">
                    <m:f>
                      <m:fPr>
                        <m:ctrlPr>
                          <a:rPr sz="21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sz="21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sz="21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sz="21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sz="2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sz="2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sz="2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a:rPr sz="2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sz="2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sz="2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sz="2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sz="2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sz="2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𝑜</m:t>
                    </m:r>
                    <m:r>
                      <a:rPr sz="2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sz="2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</a:p>
              <a:p>
                <a:pPr marL="248920" indent="-248920" defTabSz="327025">
                  <a:lnSpc>
                    <a:spcPct val="115000"/>
                  </a:lnSpc>
                  <a:spcBef>
                    <a:spcPts val="2300"/>
                  </a:spcBef>
                  <a:defRPr sz="1790" b="1"/>
                </a:pPr>
                <a14:m>
                  <m:oMath xmlns:m="http://schemas.openxmlformats.org/officeDocument/2006/math">
                    <m:f>
                      <m:fPr>
                        <m:ctrlPr>
                          <a:rPr sz="21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sz="21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sz="21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sz="21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sz="2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sz="2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sz="2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𝑜</m:t>
                    </m:r>
                    <m:r>
                      <a:rPr sz="2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sz="2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sz="2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sz="2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sz="2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sz="2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sz="2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a:rPr sz="2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sz="2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</a:p>
              <a:p>
                <a:pPr marL="248920" indent="-248920" defTabSz="327025">
                  <a:lnSpc>
                    <a:spcPct val="115000"/>
                  </a:lnSpc>
                  <a:spcBef>
                    <a:spcPts val="2300"/>
                  </a:spcBef>
                  <a:defRPr sz="1790" b="1"/>
                </a:pPr>
                <a14:m>
                  <m:oMath xmlns:m="http://schemas.openxmlformats.org/officeDocument/2006/math">
                    <m:f>
                      <m:fPr>
                        <m:ctrlPr>
                          <a:rPr sz="21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sz="21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sz="21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sz="21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sz="2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sz="2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sz="2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a:rPr sz="2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sz="2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sz="2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sz="2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sz="2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sSup>
                      <m:sSupPr>
                        <m:ctrlPr>
                          <a:rPr/>
                        </m:ctrlPr>
                      </m:sSupPr>
                      <m:e>
                        <m:r>
                          <a:rPr sz="21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sz="21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sz="2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</a:p>
              <a:p>
                <a:pPr marL="248920" indent="-248920" defTabSz="327025">
                  <a:lnSpc>
                    <a:spcPct val="115000"/>
                  </a:lnSpc>
                  <a:spcBef>
                    <a:spcPts val="2300"/>
                  </a:spcBef>
                  <a:defRPr sz="1790" b="1"/>
                </a:pPr>
                <a14:m>
                  <m:oMath xmlns:m="http://schemas.openxmlformats.org/officeDocument/2006/math">
                    <m:f>
                      <m:fPr>
                        <m:ctrlPr>
                          <a:rPr sz="21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sz="21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sz="21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sz="21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sz="2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sz="2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sz="2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𝑜</m:t>
                    </m:r>
                    <m:r>
                      <a:rPr sz="2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sz="2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sz="2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a:rPr sz="2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sz="2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sz="2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sz="2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sz="2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sz="2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sz="2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𝑜</m:t>
                    </m:r>
                    <m:r>
                      <a:rPr sz="2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sz="2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sz="2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a:rPr sz="2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sz="2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sz="2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sz="2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𝑜</m:t>
                    </m:r>
                    <m:r>
                      <a:rPr sz="2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sz="2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a:rPr sz="2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</a:p>
              <a:p>
                <a:pPr marL="248920" indent="-248920" defTabSz="327025">
                  <a:lnSpc>
                    <a:spcPct val="115000"/>
                  </a:lnSpc>
                  <a:spcBef>
                    <a:spcPts val="2300"/>
                  </a:spcBef>
                  <a:defRPr sz="1790" b="1"/>
                </a:pPr>
                <a14:m>
                  <m:oMath xmlns:m="http://schemas.openxmlformats.org/officeDocument/2006/math">
                    <m:f>
                      <m:fPr>
                        <m:ctrlPr>
                          <a:rPr sz="21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sz="21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sz="21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sz="21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sz="2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sz="2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sz="2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a:rPr sz="2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sz="2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sz="2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sz="2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sz="2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sz="2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a:rPr sz="2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sz="2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sz="2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sz="2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a:rPr sz="2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</a:p>
              <a:p>
                <a:pPr marL="248920" indent="-248920" defTabSz="327025">
                  <a:lnSpc>
                    <a:spcPct val="115000"/>
                  </a:lnSpc>
                  <a:spcBef>
                    <a:spcPts val="2300"/>
                  </a:spcBef>
                  <a:defRPr sz="1790" b="1"/>
                </a:pPr>
                <a14:m>
                  <m:oMath xmlns:m="http://schemas.openxmlformats.org/officeDocument/2006/math">
                    <m:f>
                      <m:fPr>
                        <m:ctrlPr>
                          <a:rPr sz="21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sz="21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sz="21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sz="21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sz="2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sz="2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sz="2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𝑜</m:t>
                    </m:r>
                    <m:r>
                      <a:rPr sz="2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sz="2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a:rPr sz="2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sz="2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sz="2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sz="2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sz="2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sz="2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𝑜</m:t>
                    </m:r>
                    <m:r>
                      <a:rPr sz="2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sz="2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sz="2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sSup>
                      <m:sSupPr>
                        <m:ctrlPr>
                          <a:rPr/>
                        </m:ctrlPr>
                      </m:sSupPr>
                      <m:e>
                        <m:r>
                          <a:rPr sz="21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sz="21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sz="2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sz="3200"/>
              </a:p>
            </p:txBody>
          </p:sp>
        </mc:Choice>
        <mc:Fallback>
          <p:sp>
            <p:nvSpPr>
              <p:cNvPr id="593" name="Rectangle 3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prstGeom prst="rect">
                <a:avLst/>
              </a:prstGeom>
              <a:blipFill rotWithShape="1">
                <a:blip r:embed="rId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/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Rectangle 2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5000"/>
            </a:lvl1pPr>
          </a:lstStyle>
          <a:p>
            <a:r>
              <a:t>Derivadas de Funções Trigonométricas</a:t>
            </a:r>
          </a:p>
        </p:txBody>
      </p:sp>
      <p:sp>
        <p:nvSpPr>
          <p:cNvPr id="596" name="Rectangle 3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lnSpc>
                <a:spcPct val="125000"/>
              </a:lnSpc>
            </a:pPr>
            <a:r>
              <a:t>As funções trigonométricas muitas vezes são usadas em modelos de fenômenos do mundo real</a:t>
            </a:r>
          </a:p>
          <a:p>
            <a:pPr lvl="1">
              <a:lnSpc>
                <a:spcPct val="125000"/>
              </a:lnSpc>
            </a:pPr>
            <a:r>
              <a:t>Vibrações, ondas, movimentos elásticos e outras grandezas que variem de maneira periódica podem ser descritos utilizando-se as funções trigonométricas</a:t>
            </a:r>
          </a:p>
          <a:p>
            <a:pPr>
              <a:lnSpc>
                <a:spcPct val="125000"/>
              </a:lnSpc>
            </a:pPr>
            <a:r>
              <a:t>A seguir, analisaremos um exemplo de </a:t>
            </a:r>
            <a:r>
              <a:rPr b="1"/>
              <a:t>movimento harmônico simples</a:t>
            </a:r>
            <a:endParaRPr b="1"/>
          </a:p>
        </p:txBody>
      </p:sp>
    </p:spTree>
  </p:cSld>
  <p:clrMapOvr>
    <a:masterClrMapping/>
  </p:clrMapOvr>
  <p:transition spd="med"/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Rectangle 2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Exercício 9</a:t>
            </a:r>
          </a:p>
        </p:txBody>
      </p:sp>
      <p:sp>
        <p:nvSpPr>
          <p:cNvPr id="599" name="Rectangle 3"/>
          <p:cNvSpPr txBox="1"/>
          <p:nvPr>
            <p:ph type="body" sz="half" idx="1"/>
          </p:nvPr>
        </p:nvSpPr>
        <p:spPr>
          <a:xfrm>
            <a:off x="952500" y="2590800"/>
            <a:ext cx="7104099" cy="6286500"/>
          </a:xfrm>
          <a:prstGeom prst="rect">
            <a:avLst/>
          </a:prstGeom>
        </p:spPr>
        <p:txBody>
          <a:bodyPr/>
          <a:lstStyle/>
          <a:p>
            <a:pPr marL="325755" indent="-325755" defTabSz="554990">
              <a:lnSpc>
                <a:spcPct val="115000"/>
              </a:lnSpc>
              <a:spcBef>
                <a:spcPts val="3000"/>
              </a:spcBef>
              <a:defRPr sz="2660"/>
            </a:pPr>
            <a:r>
              <a:t>Um objeto na extremidade de uma mola vertical é esticado 4 cm além de sua posição no repouso e solto no tempo </a:t>
            </a:r>
          </a:p>
          <a:p>
            <a:pPr marL="748030" lvl="1" indent="-325755" defTabSz="554990">
              <a:lnSpc>
                <a:spcPct val="115000"/>
              </a:lnSpc>
              <a:spcBef>
                <a:spcPts val="3000"/>
              </a:spcBef>
              <a:defRPr sz="2660"/>
            </a:pPr>
            <a:r>
              <a:t>t</a:t>
            </a:r>
            <a:r>
              <a:t> = 0. (observe que o sentido positivo é para baixo)</a:t>
            </a:r>
          </a:p>
          <a:p>
            <a:pPr marL="748030" lvl="1" indent="-325755" defTabSz="554990">
              <a:lnSpc>
                <a:spcPct val="115000"/>
              </a:lnSpc>
              <a:spcBef>
                <a:spcPts val="3000"/>
              </a:spcBef>
              <a:defRPr sz="2660"/>
            </a:pPr>
            <a:r>
              <a:t>Sua posição no tempo </a:t>
            </a:r>
            <a:r>
              <a:t>t </a:t>
            </a:r>
            <a:r>
              <a:t>é</a:t>
            </a:r>
          </a:p>
          <a:p>
            <a:pPr marL="1170305" lvl="2" indent="-325755" defTabSz="554990">
              <a:lnSpc>
                <a:spcPct val="115000"/>
              </a:lnSpc>
              <a:spcBef>
                <a:spcPts val="3000"/>
              </a:spcBef>
              <a:defRPr sz="2660"/>
            </a:pPr>
            <a:r>
              <a:t>s </a:t>
            </a:r>
            <a:r>
              <a:t>= </a:t>
            </a:r>
            <a:r>
              <a:t>f</a:t>
            </a:r>
            <a:r>
              <a:rPr sz="475"/>
              <a:t> </a:t>
            </a:r>
            <a:r>
              <a:t>(</a:t>
            </a:r>
            <a:r>
              <a:t>t</a:t>
            </a:r>
            <a:r>
              <a:t>) = 4 cos </a:t>
            </a:r>
            <a:r>
              <a:t>t</a:t>
            </a:r>
          </a:p>
          <a:p>
            <a:pPr marL="325755" indent="-325755" defTabSz="554990">
              <a:lnSpc>
                <a:spcPct val="115000"/>
              </a:lnSpc>
              <a:spcBef>
                <a:spcPts val="3000"/>
              </a:spcBef>
              <a:defRPr sz="2660"/>
            </a:pPr>
            <a:r>
              <a:t>Encontre a velocidade e a aceleração no tempo </a:t>
            </a:r>
            <a:r>
              <a:rPr i="1"/>
              <a:t>t </a:t>
            </a:r>
            <a:r>
              <a:t>e use-as para analisar o movimento do objeto</a:t>
            </a:r>
          </a:p>
        </p:txBody>
      </p:sp>
      <p:pic>
        <p:nvPicPr>
          <p:cNvPr id="600" name="Picture 6" descr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05333" y="3169779"/>
            <a:ext cx="3002845" cy="3668889"/>
          </a:xfrm>
          <a:prstGeom prst="rect">
            <a:avLst/>
          </a:prstGeom>
          <a:ln w="12700">
            <a:miter lim="400000"/>
            <a:headEnd/>
            <a:tailEnd/>
          </a:ln>
        </p:spPr>
      </p:pic>
    </p:spTree>
  </p:cSld>
  <p:clrMapOvr>
    <a:masterClrMapping/>
  </p:clrMapOvr>
  <p:transition spd="med"/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Rectangle 2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Exercício 9</a:t>
            </a:r>
          </a:p>
        </p:txBody>
      </p:sp>
      <p:sp>
        <p:nvSpPr>
          <p:cNvPr id="603" name="Rectangle 3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tabLst>
                <a:tab pos="3556000" algn="l"/>
              </a:tabLst>
            </a:pPr>
            <a:r>
              <a:t> A velocidade e a aceleração são</a:t>
            </a:r>
          </a:p>
          <a:p>
            <a:pPr>
              <a:tabLst>
                <a:tab pos="3556000" algn="l"/>
              </a:tabLst>
            </a:pPr>
          </a:p>
          <a:p>
            <a:pPr>
              <a:tabLst>
                <a:tab pos="3556000" algn="l"/>
              </a:tabLst>
            </a:pPr>
          </a:p>
          <a:p>
            <a:pPr>
              <a:tabLst>
                <a:tab pos="3556000" algn="l"/>
              </a:tabLst>
            </a:pPr>
          </a:p>
          <a:p>
            <a:pPr>
              <a:tabLst>
                <a:tab pos="3556000" algn="l"/>
              </a:tabLst>
            </a:pPr>
            <a:r>
              <a:t>O objeto oscila desde o ponto mais baixo (</a:t>
            </a:r>
            <a:r>
              <a:rPr i="1"/>
              <a:t>s </a:t>
            </a:r>
            <a:r>
              <a:t>= 4 cm) até o ponto mais alto (</a:t>
            </a:r>
            <a:r>
              <a:rPr i="1"/>
              <a:t>s </a:t>
            </a:r>
            <a:r>
              <a:t>= – 4 cm). O período de oscilação é 2π, o período de cos </a:t>
            </a:r>
            <a:r>
              <a:rPr i="1"/>
              <a:t>t</a:t>
            </a:r>
            <a:endParaRPr i="1"/>
          </a:p>
        </p:txBody>
      </p:sp>
      <p:pic>
        <p:nvPicPr>
          <p:cNvPr id="604" name="Imagem 12" descr="Imagem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82416" y="3648003"/>
            <a:ext cx="9212233" cy="2457594"/>
          </a:xfrm>
          <a:prstGeom prst="rect">
            <a:avLst/>
          </a:prstGeom>
          <a:ln w="12700">
            <a:miter lim="400000"/>
            <a:headEnd/>
            <a:tailEnd/>
          </a:ln>
        </p:spPr>
      </p:pic>
    </p:spTree>
  </p:cSld>
  <p:clrMapOvr>
    <a:masterClrMapping/>
  </p:clrMapOvr>
  <p:transition spd="med"/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Rectangle 2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Exercício 9</a:t>
            </a:r>
          </a:p>
        </p:txBody>
      </p:sp>
      <p:sp>
        <p:nvSpPr>
          <p:cNvPr id="607" name="Rectangle 3"/>
          <p:cNvSpPr txBox="1"/>
          <p:nvPr>
            <p:ph type="body" sz="half" idx="1"/>
          </p:nvPr>
        </p:nvSpPr>
        <p:spPr>
          <a:prstGeom prst="rect">
            <a:avLst/>
          </a:prstGeom>
        </p:spPr>
        <p:txBody>
          <a:bodyPr/>
          <a:lstStyle/>
          <a:p>
            <a:pPr marL="353695" indent="-353695" defTabSz="531495">
              <a:lnSpc>
                <a:spcPct val="110000"/>
              </a:lnSpc>
              <a:spcBef>
                <a:spcPts val="2900"/>
              </a:spcBef>
              <a:tabLst>
                <a:tab pos="3225800" algn="l"/>
              </a:tabLst>
              <a:defRPr sz="2550"/>
            </a:pPr>
            <a:r>
              <a:t>A velocidade é |</a:t>
            </a:r>
            <a:r>
              <a:rPr sz="1000"/>
              <a:t> </a:t>
            </a:r>
            <a:r>
              <a:rPr i="1"/>
              <a:t>v</a:t>
            </a:r>
            <a:r>
              <a:rPr sz="1000" i="1"/>
              <a:t> </a:t>
            </a:r>
            <a:r>
              <a:t>| = 4 |</a:t>
            </a:r>
            <a:r>
              <a:rPr sz="1000"/>
              <a:t> </a:t>
            </a:r>
            <a:r>
              <a:t>sen </a:t>
            </a:r>
            <a:r>
              <a:rPr i="1"/>
              <a:t>t</a:t>
            </a:r>
            <a:r>
              <a:rPr sz="1000" i="1"/>
              <a:t> </a:t>
            </a:r>
            <a:r>
              <a:t>|, que é a máxima quando </a:t>
            </a:r>
          </a:p>
          <a:p>
            <a:pPr marL="353695" indent="-353695" defTabSz="531495">
              <a:lnSpc>
                <a:spcPct val="110000"/>
              </a:lnSpc>
              <a:spcBef>
                <a:spcPts val="2900"/>
              </a:spcBef>
              <a:tabLst>
                <a:tab pos="3225800" algn="l"/>
              </a:tabLst>
              <a:defRPr sz="2550"/>
            </a:pPr>
            <a:r>
              <a:t>|</a:t>
            </a:r>
            <a:r>
              <a:rPr sz="1000"/>
              <a:t> </a:t>
            </a:r>
            <a:r>
              <a:t>sen </a:t>
            </a:r>
            <a:r>
              <a:rPr i="1"/>
              <a:t>t</a:t>
            </a:r>
            <a:r>
              <a:rPr sz="1000" i="1"/>
              <a:t> </a:t>
            </a:r>
            <a:r>
              <a:t>| = 1, ou seja, quando cos </a:t>
            </a:r>
            <a:r>
              <a:rPr i="1"/>
              <a:t>t </a:t>
            </a:r>
            <a:r>
              <a:t>=</a:t>
            </a:r>
            <a:r>
              <a:rPr i="1"/>
              <a:t> </a:t>
            </a:r>
            <a:r>
              <a:t>0. Assim, o objeto move-se mais rapidamente quando passa por sua posição de equilíbrio (</a:t>
            </a:r>
            <a:r>
              <a:rPr i="1"/>
              <a:t>s </a:t>
            </a:r>
            <a:r>
              <a:t>= 0). Sua velocidade escalar é 0 quando sen </a:t>
            </a:r>
            <a:r>
              <a:rPr i="1"/>
              <a:t>t </a:t>
            </a:r>
            <a:r>
              <a:t>=</a:t>
            </a:r>
            <a:r>
              <a:rPr i="1"/>
              <a:t> </a:t>
            </a:r>
            <a:r>
              <a:t>0, ou seja, no ponto mais alto e no mais baixo</a:t>
            </a:r>
          </a:p>
          <a:p>
            <a:pPr marL="353695" indent="-353695" defTabSz="531495">
              <a:lnSpc>
                <a:spcPct val="110000"/>
              </a:lnSpc>
              <a:spcBef>
                <a:spcPts val="2900"/>
              </a:spcBef>
              <a:tabLst>
                <a:tab pos="3225800" algn="l"/>
              </a:tabLst>
              <a:defRPr sz="2550"/>
            </a:pPr>
            <a:r>
              <a:t>A aceleração </a:t>
            </a:r>
            <a:r>
              <a:rPr i="1"/>
              <a:t>a </a:t>
            </a:r>
            <a:r>
              <a:t>= – 4 cos </a:t>
            </a:r>
            <a:r>
              <a:rPr i="1"/>
              <a:t>t </a:t>
            </a:r>
            <a:r>
              <a:t>=</a:t>
            </a:r>
            <a:r>
              <a:rPr i="1"/>
              <a:t> </a:t>
            </a:r>
            <a:r>
              <a:t>0 quando </a:t>
            </a:r>
            <a:r>
              <a:rPr i="1"/>
              <a:t>s </a:t>
            </a:r>
            <a:r>
              <a:t>= 0. Ela tem seu maior módulo nos pontos mais altos e mais baixos</a:t>
            </a:r>
          </a:p>
        </p:txBody>
      </p:sp>
      <p:pic>
        <p:nvPicPr>
          <p:cNvPr id="608" name="Picture 8" descr="Picture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77574" y="3281539"/>
            <a:ext cx="4576517" cy="3881120"/>
          </a:xfrm>
          <a:prstGeom prst="rect">
            <a:avLst/>
          </a:prstGeom>
          <a:ln w="12700">
            <a:miter lim="400000"/>
            <a:headEnd/>
            <a:tailEnd/>
          </a:ln>
        </p:spPr>
      </p:pic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1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dur="indefinite" fill="hold"/>
                                        <p:tgtEl>
                                          <p:spTgt spid="60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607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07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1" nodeType="with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dur="indefinite" fill="hold"/>
                                        <p:tgtEl>
                                          <p:spTgt spid="6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6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6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" presetClass="entr" presetSubtype="4" fill="hold" grpId="1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dur="indefinite" fill="hold"/>
                                        <p:tgtEl>
                                          <p:spTgt spid="6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6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2" presetClass="entr" presetSubtype="4" fill="hold" grpId="1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dur="indefinite" fill="hold"/>
                                        <p:tgtEl>
                                          <p:spTgt spid="6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3000"/>
                            </p:stCondLst>
                            <p:childTnLst>
                              <p:par>
                                <p:cTn id="24" presetID="2" presetClass="entr" presetSubtype="4" fill="hold" grpId="2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5" dur="indefinite" fill="hold"/>
                                        <p:tgtEl>
                                          <p:spTgt spid="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6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7" grpId="1" bldLvl="5" animBg="1" advAuto="0" build="p"/>
      <p:bldP spid="608" grpId="2" animBg="1" advAuto="0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Rectangle 2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A Regra da Cadeia</a:t>
            </a:r>
          </a:p>
        </p:txBody>
      </p:sp>
      <p:sp>
        <p:nvSpPr>
          <p:cNvPr id="611" name="Rectangle 3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297815" indent="-297815" defTabSz="391160">
              <a:spcBef>
                <a:spcPts val="2800"/>
              </a:spcBef>
              <a:defRPr sz="2145"/>
            </a:pPr>
            <a:r>
              <a:t>Em geral, se </a:t>
            </a:r>
            <a:r>
              <a:rPr i="1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y</a:t>
            </a:r>
            <a:r>
              <a:t> = sen </a:t>
            </a:r>
            <a:r>
              <a:rPr i="1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u</a:t>
            </a:r>
            <a:r>
              <a:t>, onde </a:t>
            </a:r>
            <a:r>
              <a:rPr i="1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u</a:t>
            </a:r>
            <a:r>
              <a:t> é uma função derivável de </a:t>
            </a:r>
            <a:r>
              <a:rPr i="1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x</a:t>
            </a:r>
            <a:r>
              <a:t>, então, pela Regra da Cadeia,</a:t>
            </a:r>
          </a:p>
          <a:p>
            <a:pPr marL="297815" indent="-297815" defTabSz="391160">
              <a:spcBef>
                <a:spcPts val="2800"/>
              </a:spcBef>
              <a:defRPr sz="2145"/>
            </a:pPr>
          </a:p>
          <a:p>
            <a:pPr marL="297815" indent="-297815" defTabSz="391160">
              <a:spcBef>
                <a:spcPts val="2800"/>
              </a:spcBef>
              <a:defRPr sz="2145"/>
            </a:pPr>
          </a:p>
          <a:p>
            <a:pPr marL="297815" indent="-297815" defTabSz="391160">
              <a:spcBef>
                <a:spcPts val="2800"/>
              </a:spcBef>
              <a:defRPr sz="2145"/>
            </a:pPr>
            <a:r>
              <a:t>Assim</a:t>
            </a:r>
          </a:p>
          <a:p>
            <a:pPr marL="297815" indent="-297815" defTabSz="391160">
              <a:spcBef>
                <a:spcPts val="2800"/>
              </a:spcBef>
              <a:defRPr sz="2145"/>
            </a:pPr>
          </a:p>
          <a:p>
            <a:pPr marL="297815" indent="-297815" defTabSz="391160">
              <a:spcBef>
                <a:spcPts val="2800"/>
              </a:spcBef>
              <a:defRPr sz="2145"/>
            </a:pPr>
          </a:p>
          <a:p>
            <a:pPr marL="297815" indent="-297815" defTabSz="391160">
              <a:spcBef>
                <a:spcPts val="2800"/>
              </a:spcBef>
              <a:defRPr sz="2145"/>
            </a:pPr>
            <a:r>
              <a:t>De modo análogo, todas as fórmulas para derivar funções trigonométricas podem ser combinadas com a Regra da Cadeia.</a:t>
            </a:r>
          </a:p>
          <a:p>
            <a:pPr marL="297815" indent="-297815" defTabSz="391160">
              <a:spcBef>
                <a:spcPts val="2800"/>
              </a:spcBef>
              <a:defRPr sz="2145"/>
            </a:pPr>
            <a:r>
              <a:t>Vamos explicitar o caso especial da Regra da Cadeia, onde a função de fora </a:t>
            </a:r>
            <a:r>
              <a:rPr i="1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</a:t>
            </a:r>
            <a:r>
              <a:t> é uma função potência.</a:t>
            </a:r>
          </a:p>
        </p:txBody>
      </p:sp>
      <p:pic>
        <p:nvPicPr>
          <p:cNvPr id="612" name="Imagem 4" descr="Imagem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26559" y="3359573"/>
            <a:ext cx="4377242" cy="102517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613" name="Imagem 5" descr="Imagem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1679" y="4985173"/>
            <a:ext cx="3800285" cy="1025171"/>
          </a:xfrm>
          <a:prstGeom prst="rect">
            <a:avLst/>
          </a:prstGeom>
          <a:ln w="12700">
            <a:miter lim="400000"/>
            <a:headEnd/>
            <a:tailEnd/>
          </a:ln>
        </p:spPr>
      </p:pic>
    </p:spTree>
  </p:cSld>
  <p:clrMapOvr>
    <a:masterClrMapping/>
  </p:clrMapOvr>
  <p:transition spd="med"/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5" name="Imagem" descr="Imagem"/>
          <p:cNvPicPr>
            <a:picLocks noChangeAspect="1"/>
          </p:cNvPicPr>
          <p:nvPr>
            <p:ph type="pic" idx="13"/>
          </p:nvPr>
        </p:nvPicPr>
        <p:blipFill>
          <a:blip r:embed="rId1"/>
          <a:srcRect l="2929" r="2929"/>
          <a:stretch>
            <a:fillRect/>
          </a:stretch>
        </p:blipFill>
        <p:spPr>
          <a:xfrm>
            <a:off x="0" y="0"/>
            <a:ext cx="13004800" cy="9753600"/>
          </a:xfrm>
          <a:prstGeom prst="rect">
            <a:avLst/>
          </a:prstGeom>
        </p:spPr>
      </p:pic>
      <p:sp>
        <p:nvSpPr>
          <p:cNvPr id="616" name="DERIVAÇÃO IMPLÍCITA"/>
          <p:cNvSpPr txBox="1"/>
          <p:nvPr/>
        </p:nvSpPr>
        <p:spPr>
          <a:xfrm>
            <a:off x="2903855" y="4447859"/>
            <a:ext cx="7197091" cy="857882"/>
          </a:xfrm>
          <a:prstGeom prst="rect">
            <a:avLst/>
          </a:prstGeom>
          <a:solidFill>
            <a:srgbClr val="929292"/>
          </a:solidFill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>
            <a:lvl1pPr>
              <a:defRPr sz="5000">
                <a:solidFill>
                  <a:srgbClr val="FFFFFF"/>
                </a:solidFill>
              </a:defRPr>
            </a:lvl1pPr>
          </a:lstStyle>
          <a:p>
            <a:r>
              <a:t>DERIVAÇÃO IMPLÍCITA</a:t>
            </a:r>
          </a:p>
        </p:txBody>
      </p:sp>
    </p:spTree>
  </p:cSld>
  <p:clrMapOvr>
    <a:masterClrMapping/>
  </p:clrMapOvr>
  <p:transition spd="med"/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Derivação Implícita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Derivação Implícita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19" name="As funções encontradas até agora podem ser descritas expressando-se uma variável explicitamente em termos de outra – por exemplo,…"/>
              <p:cNvSpPr txBox="1"/>
              <p:nvPr>
                <p:ph type="body" idx="1"/>
              </p:nvPr>
            </p:nvSpPr>
            <p:spPr>
              <a:prstGeom prst="rect">
                <a:avLst/>
              </a:prstGeom>
            </p:spPr>
            <p:txBody>
              <a:bodyPr/>
              <a:lstStyle/>
              <a:p>
                <a:pPr marL="355600" indent="-355600" defTabSz="467360">
                  <a:spcBef>
                    <a:spcPts val="3300"/>
                  </a:spcBef>
                  <a:defRPr sz="2560"/>
                </a:pPr>
                <a:r>
                  <a:t>As funções encontradas até agora podem ser descritas expressando-se uma variável explicitamente em termos de outra – por exemplo,</a:t>
                </a:r>
              </a:p>
              <a:p>
                <a:pPr marL="0" indent="0" defTabSz="467360">
                  <a:spcBef>
                    <a:spcPts val="3300"/>
                  </a:spcBef>
                  <a:buSzTx/>
                  <a:buNone/>
                  <a:defRPr sz="2560"/>
                </a:pPr>
                <a14:m>
                  <m:oMath xmlns:m="http://schemas.openxmlformats.org/officeDocument/2006/math">
                    <m:r>
                      <a:rPr sz="30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sz="30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sz="30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/>
                            </m:ctrlPr>
                          </m:sSupPr>
                          <m:e>
                            <m:r>
                              <a:rPr sz="30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sz="30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a:rPr sz="30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sz="30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rad>
                  </m:oMath>
                </a14:m>
                <a:r>
                  <a:t>    ou   </a:t>
                </a:r>
                <a14:m>
                  <m:oMath xmlns:m="http://schemas.openxmlformats.org/officeDocument/2006/math">
                    <m:r>
                      <a:rPr sz="30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sz="30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sz="30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sz="30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sz="30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a:rPr sz="30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sz="30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sz="880"/>
              </a:p>
              <a:p>
                <a:pPr marL="0" indent="0" defTabSz="467360">
                  <a:spcBef>
                    <a:spcPts val="3300"/>
                  </a:spcBef>
                  <a:buSzTx/>
                  <a:buNone/>
                  <a:defRPr sz="2560"/>
                </a:pPr>
                <a:r>
                  <a:t>ou, em geral, </a:t>
                </a:r>
                <a:r>
                  <a:rPr i="1"/>
                  <a:t>y</a:t>
                </a:r>
                <a:r>
                  <a:t> = </a:t>
                </a:r>
                <a:r>
                  <a:rPr i="1"/>
                  <a:t>f</a:t>
                </a:r>
                <a:r>
                  <a:rPr sz="400"/>
                  <a:t> </a:t>
                </a:r>
                <a:r>
                  <a:t>(</a:t>
                </a:r>
                <a:r>
                  <a:rPr i="1"/>
                  <a:t>x</a:t>
                </a:r>
                <a:r>
                  <a:t>). Algumas funções, entretanto, são definidas implicitamente por uma relação entre </a:t>
                </a:r>
                <a:r>
                  <a:rPr i="1"/>
                  <a:t>x</a:t>
                </a:r>
                <a:r>
                  <a:t> e </a:t>
                </a:r>
                <a:r>
                  <a:rPr i="1"/>
                  <a:t>y,</a:t>
                </a:r>
                <a:r>
                  <a:t> </a:t>
                </a:r>
              </a:p>
              <a:p>
                <a:pPr marL="0" indent="0" defTabSz="467360">
                  <a:spcBef>
                    <a:spcPts val="3300"/>
                  </a:spcBef>
                  <a:buSzTx/>
                  <a:buNone/>
                  <a:defRPr sz="2560"/>
                </a:pPr>
                <a:r>
                  <a:t>tais como</a:t>
                </a:r>
                <a:endParaRPr sz="880"/>
              </a:p>
              <a:p>
                <a:pPr marL="0" indent="0" defTabSz="467360">
                  <a:spcBef>
                    <a:spcPts val="3300"/>
                  </a:spcBef>
                  <a:buSzTx/>
                  <a:buNone/>
                  <a:defRPr sz="2560"/>
                </a:pPr>
                <a:r>
                  <a:t>                                        </a:t>
                </a:r>
                <a:r>
                  <a:rPr i="1"/>
                  <a:t>x</a:t>
                </a:r>
                <a:r>
                  <a:rPr baseline="30000"/>
                  <a:t>2</a:t>
                </a:r>
                <a:r>
                  <a:t> + </a:t>
                </a:r>
                <a:r>
                  <a:rPr i="1"/>
                  <a:t>y</a:t>
                </a:r>
                <a:r>
                  <a:rPr baseline="30000"/>
                  <a:t>2</a:t>
                </a:r>
                <a:r>
                  <a:t> = 25</a:t>
                </a:r>
              </a:p>
              <a:p>
                <a:pPr marL="0" indent="0" defTabSz="467360">
                  <a:spcBef>
                    <a:spcPts val="3300"/>
                  </a:spcBef>
                  <a:buSzTx/>
                  <a:buNone/>
                  <a:defRPr sz="2560"/>
                </a:pPr>
                <a:r>
                  <a:t> ou</a:t>
                </a:r>
                <a:endParaRPr sz="880"/>
              </a:p>
              <a:p>
                <a:pPr marL="0" indent="0" defTabSz="467360">
                  <a:spcBef>
                    <a:spcPts val="3300"/>
                  </a:spcBef>
                  <a:buSzTx/>
                  <a:buNone/>
                  <a:defRPr sz="2560"/>
                </a:pPr>
                <a:r>
                  <a:t>                                        </a:t>
                </a:r>
                <a:r>
                  <a:rPr i="1"/>
                  <a:t>x</a:t>
                </a:r>
                <a:r>
                  <a:rPr baseline="30000"/>
                  <a:t>3</a:t>
                </a:r>
                <a:r>
                  <a:t> + </a:t>
                </a:r>
                <a:r>
                  <a:rPr i="1"/>
                  <a:t>y</a:t>
                </a:r>
                <a:r>
                  <a:rPr baseline="30000"/>
                  <a:t>3</a:t>
                </a:r>
                <a:r>
                  <a:t> = 6</a:t>
                </a:r>
                <a:r>
                  <a:rPr i="1"/>
                  <a:t>xy</a:t>
                </a:r>
                <a:endParaRPr i="1"/>
              </a:p>
            </p:txBody>
          </p:sp>
        </mc:Choice>
        <mc:Fallback>
          <p:sp>
            <p:nvSpPr>
              <p:cNvPr id="619" name="As funções encontradas até agora podem ser descritas expressando-se uma variável explicitamente em termos de outra – por exemplo,…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prstGeom prst="rect">
                <a:avLst/>
              </a:prstGeom>
              <a:blipFill rotWithShape="1">
                <a:blip r:embed="rId1"/>
                <a:stretch>
                  <a:fillRect t="-1576"/>
                </a:stretch>
              </a:blipFill>
            </p:spPr>
            <p:txBody>
              <a:bodyPr/>
              <a:lstStyle/>
              <a:p>
                <a:r>
                  <a:rPr lang="pt-BR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/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Derivação Implícita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Derivação Implícita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22" name="Em alguns casos é possível resolver tal equação isolando y como uma função explícita (ou diversas funções) de x…"/>
              <p:cNvSpPr txBox="1"/>
              <p:nvPr>
                <p:ph type="body" idx="1"/>
              </p:nvPr>
            </p:nvSpPr>
            <p:spPr>
              <a:prstGeom prst="rect">
                <a:avLst/>
              </a:prstGeom>
            </p:spPr>
            <p:txBody>
              <a:bodyPr anchor="t"/>
              <a:lstStyle/>
              <a:p>
                <a:pPr>
                  <a:lnSpc>
                    <a:spcPct val="125000"/>
                  </a:lnSpc>
                </a:pPr>
                <a:r>
                  <a:t>Em alguns casos é possível resolver tal equação isolando </a:t>
                </a:r>
                <a:r>
                  <a:rPr i="1"/>
                  <a:t>y</a:t>
                </a:r>
                <a:r>
                  <a:t> como uma função explícita (ou diversas funções) de </a:t>
                </a:r>
                <a:r>
                  <a:rPr i="1"/>
                  <a:t>x</a:t>
                </a:r>
                <a:r>
                  <a:t> </a:t>
                </a:r>
              </a:p>
              <a:p>
                <a:pPr>
                  <a:lnSpc>
                    <a:spcPct val="125000"/>
                  </a:lnSpc>
                </a:pPr>
                <a:r>
                  <a:t>Por exemplo, se resolvermos para </a:t>
                </a:r>
                <a:r>
                  <a:rPr i="1"/>
                  <a:t>x</a:t>
                </a:r>
                <a:r>
                  <a:rPr baseline="31000"/>
                  <a:t>2</a:t>
                </a:r>
                <a:r>
                  <a:t> + </a:t>
                </a:r>
                <a:r>
                  <a:rPr i="1"/>
                  <a:t>y</a:t>
                </a:r>
                <a:r>
                  <a:rPr baseline="31000"/>
                  <a:t>2</a:t>
                </a:r>
                <a:r>
                  <a:t> = 25 para y, obtemos </a:t>
                </a:r>
                <a14:m>
                  <m:oMath xmlns:m="http://schemas.openxmlformats.org/officeDocument/2006/math">
                    <m:r>
                      <a:rPr sz="38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sz="38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sz="38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±</m:t>
                    </m:r>
                    <m:rad>
                      <m:radPr>
                        <m:degHide m:val="on"/>
                        <m:ctrlPr>
                          <a:rPr sz="38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sz="38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  <m:r>
                          <a:rPr sz="38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/>
                            </m:ctrlPr>
                          </m:sSupPr>
                          <m:e>
                            <m:r>
                              <a:rPr sz="38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sz="38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</a:p>
              <a:p>
                <a:pPr lvl="2">
                  <a:lnSpc>
                    <a:spcPct val="125000"/>
                  </a:lnSpc>
                </a:pPr>
                <a14:m>
                  <m:oMath xmlns:m="http://schemas.openxmlformats.org/officeDocument/2006/math">
                    <m:r>
                      <a:rPr sz="3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sz="3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sz="3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sz="3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sz="3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sz="3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sz="3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  <m:r>
                          <a:rPr sz="3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/>
                            </m:ctrlPr>
                          </m:sSupPr>
                          <m:e>
                            <m:r>
                              <a:rPr sz="37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sz="37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t> e </a:t>
                </a:r>
                <a14:m>
                  <m:oMath xmlns:m="http://schemas.openxmlformats.org/officeDocument/2006/math">
                    <m:r>
                      <a:rPr sz="38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a:rPr sz="38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sz="38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sz="38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sz="38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sz="38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sz="38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sz="38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  <m:r>
                          <a:rPr sz="38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/>
                            </m:ctrlPr>
                          </m:sSupPr>
                          <m:e>
                            <m:r>
                              <a:rPr sz="38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sz="38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</a:p>
            </p:txBody>
          </p:sp>
        </mc:Choice>
        <mc:Fallback>
          <p:sp>
            <p:nvSpPr>
              <p:cNvPr id="622" name="Em alguns casos é possível resolver tal equação isolando y como uma função explícita (ou diversas funções) de x…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prstGeom prst="rect">
                <a:avLst/>
              </a:prstGeom>
              <a:blipFill rotWithShape="1">
                <a:blip r:embed="rId1"/>
                <a:stretch>
                  <a:fillRect r="-206"/>
                </a:stretch>
              </a:blipFill>
            </p:spPr>
            <p:txBody>
              <a:bodyPr/>
              <a:lstStyle/>
              <a:p>
                <a:r>
                  <a:rPr lang="pt-BR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/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Derivação Implícita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Derivação Implícita</a:t>
            </a:r>
          </a:p>
        </p:txBody>
      </p:sp>
      <p:sp>
        <p:nvSpPr>
          <p:cNvPr id="625" name="Os gráficos de f e g são os semicírculos superior e inferior do círculo x2 + y2 = 25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 anchor="t"/>
          <a:lstStyle/>
          <a:p>
            <a:r>
              <a:t>Os gráficos de </a:t>
            </a:r>
            <a:r>
              <a:rPr i="1"/>
              <a:t>f</a:t>
            </a:r>
            <a:r>
              <a:t> e </a:t>
            </a:r>
            <a:r>
              <a:rPr i="1"/>
              <a:t>g</a:t>
            </a:r>
            <a:r>
              <a:t> são os semicírculos superior e inferior do círculo </a:t>
            </a:r>
            <a:r>
              <a:rPr i="1"/>
              <a:t>x</a:t>
            </a:r>
            <a:r>
              <a:rPr baseline="31000"/>
              <a:t>2</a:t>
            </a:r>
            <a:r>
              <a:t> + </a:t>
            </a:r>
            <a:r>
              <a:rPr i="1"/>
              <a:t>y</a:t>
            </a:r>
            <a:r>
              <a:rPr baseline="31000"/>
              <a:t>2</a:t>
            </a:r>
            <a:r>
              <a:t> = 25</a:t>
            </a:r>
          </a:p>
        </p:txBody>
      </p:sp>
      <p:pic>
        <p:nvPicPr>
          <p:cNvPr id="626" name="image.png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2239" y="4811875"/>
            <a:ext cx="10180322" cy="3276037"/>
          </a:xfrm>
          <a:prstGeom prst="rect">
            <a:avLst/>
          </a:prstGeom>
          <a:ln w="12700">
            <a:miter lim="400000"/>
            <a:headEnd/>
            <a:tailEnd/>
          </a:ln>
        </p:spPr>
      </p:pic>
    </p:spTree>
  </p:cSld>
  <p:clrMapOvr>
    <a:masterClrMapping/>
  </p:clrMapOvr>
  <p:transition spd="med"/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Diferenciação Implícita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Diferenciação Implícita</a:t>
            </a:r>
          </a:p>
        </p:txBody>
      </p:sp>
      <p:sp>
        <p:nvSpPr>
          <p:cNvPr id="629" name="Não é fácil resolver a x3 + y3 = 6xy e escrever y explicitamente como uma função de x à mão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 anchor="t"/>
          <a:lstStyle/>
          <a:p>
            <a:r>
              <a:t>Não é fácil resolver a </a:t>
            </a:r>
            <a:r>
              <a:rPr i="1"/>
              <a:t>x</a:t>
            </a:r>
            <a:r>
              <a:rPr baseline="31000"/>
              <a:t>3</a:t>
            </a:r>
            <a:r>
              <a:t> + </a:t>
            </a:r>
            <a:r>
              <a:rPr i="1"/>
              <a:t>y</a:t>
            </a:r>
            <a:r>
              <a:rPr baseline="31000"/>
              <a:t>3</a:t>
            </a:r>
            <a:r>
              <a:t> = 6</a:t>
            </a:r>
            <a:r>
              <a:rPr i="1"/>
              <a:t>xy </a:t>
            </a:r>
            <a:r>
              <a:t>e escrever </a:t>
            </a:r>
            <a:r>
              <a:rPr i="1"/>
              <a:t>y</a:t>
            </a:r>
            <a:r>
              <a:t> explicitamente como uma função de </a:t>
            </a:r>
            <a:r>
              <a:rPr i="1"/>
              <a:t>x</a:t>
            </a:r>
            <a:r>
              <a:t> à mão</a:t>
            </a:r>
            <a:br/>
          </a:p>
          <a:p>
            <a:r>
              <a:t>Curva chamada </a:t>
            </a:r>
            <a:r>
              <a:rPr b="1"/>
              <a:t>fólio de Descartes</a:t>
            </a:r>
            <a:r>
              <a:t>, e implicitamente define </a:t>
            </a:r>
            <a:r>
              <a:rPr i="1"/>
              <a:t>y</a:t>
            </a:r>
            <a:r>
              <a:t> como diversas funções de </a:t>
            </a:r>
            <a:r>
              <a:rPr i="1"/>
              <a:t>x</a:t>
            </a:r>
            <a:endParaRPr i="1"/>
          </a:p>
        </p:txBody>
      </p:sp>
      <p:pic>
        <p:nvPicPr>
          <p:cNvPr id="630" name="image.tif" descr="image.tif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01511" y="6013471"/>
            <a:ext cx="2926081" cy="2849316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631" name="O folium of Descartes"/>
          <p:cNvSpPr txBox="1"/>
          <p:nvPr/>
        </p:nvSpPr>
        <p:spPr>
          <a:xfrm>
            <a:off x="9530205" y="9007285"/>
            <a:ext cx="2340568" cy="389270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algn="l" defTabSz="1300480">
              <a:defRPr sz="1800" b="0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</a:lstStyle>
          <a:p>
            <a:r>
              <a:t>O folium of Descartes</a:t>
            </a:r>
          </a:p>
        </p:txBody>
      </p:sp>
    </p:spTree>
  </p:cSld>
  <p:clrMapOvr>
    <a:masterClrMapping/>
  </p:clrMapOvr>
  <p:transition spd="med"/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Derivação Implícita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Derivação Implícita</a:t>
            </a:r>
          </a:p>
        </p:txBody>
      </p:sp>
      <p:sp>
        <p:nvSpPr>
          <p:cNvPr id="634" name="Os gráficos dessas três funções são mostrados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0" indent="0" defTabSz="350520">
              <a:spcBef>
                <a:spcPts val="2500"/>
              </a:spcBef>
              <a:buSzTx/>
              <a:buNone/>
              <a:defRPr sz="1920"/>
            </a:pPr>
            <a:r>
              <a:t>Os gráficos dessas três funções são mostrados</a:t>
            </a:r>
          </a:p>
          <a:p>
            <a:pPr marL="0" indent="0" defTabSz="350520">
              <a:spcBef>
                <a:spcPts val="2500"/>
              </a:spcBef>
              <a:buSzTx/>
              <a:buNone/>
              <a:defRPr sz="1920"/>
            </a:pPr>
          </a:p>
          <a:p>
            <a:pPr marL="0" indent="0" defTabSz="350520">
              <a:spcBef>
                <a:spcPts val="2500"/>
              </a:spcBef>
              <a:buSzTx/>
              <a:buNone/>
              <a:defRPr sz="1920"/>
            </a:pPr>
          </a:p>
          <a:p>
            <a:pPr marL="0" indent="0" defTabSz="350520">
              <a:spcBef>
                <a:spcPts val="2500"/>
              </a:spcBef>
              <a:buSzTx/>
              <a:buNone/>
              <a:defRPr sz="1920"/>
            </a:pPr>
          </a:p>
          <a:p>
            <a:pPr marL="0" indent="0" defTabSz="350520">
              <a:spcBef>
                <a:spcPts val="2500"/>
              </a:spcBef>
              <a:buSzTx/>
              <a:buNone/>
              <a:defRPr sz="1920"/>
            </a:pPr>
          </a:p>
          <a:p>
            <a:pPr marL="0" indent="0" defTabSz="350520">
              <a:spcBef>
                <a:spcPts val="2500"/>
              </a:spcBef>
              <a:buSzTx/>
              <a:buNone/>
              <a:defRPr sz="1920"/>
            </a:pPr>
          </a:p>
          <a:p>
            <a:pPr marL="0" indent="0" defTabSz="350520">
              <a:spcBef>
                <a:spcPts val="2500"/>
              </a:spcBef>
              <a:buSzTx/>
              <a:buNone/>
              <a:defRPr sz="1920"/>
            </a:pPr>
          </a:p>
          <a:p>
            <a:pPr marL="0" indent="0" defTabSz="350520">
              <a:spcBef>
                <a:spcPts val="2500"/>
              </a:spcBef>
              <a:buSzTx/>
              <a:buNone/>
              <a:defRPr sz="1920"/>
            </a:pPr>
            <a:r>
              <a:t>Quando dizemos que </a:t>
            </a:r>
            <a:r>
              <a:rPr i="1"/>
              <a:t>f</a:t>
            </a:r>
            <a:r>
              <a:t> é uma função implicitamente definida pela Equação 2, queremos dizer que a equação</a:t>
            </a:r>
          </a:p>
          <a:p>
            <a:pPr marL="0" indent="0" defTabSz="350520">
              <a:spcBef>
                <a:spcPts val="2500"/>
              </a:spcBef>
              <a:buSzTx/>
              <a:buNone/>
              <a:defRPr sz="1920" i="1"/>
            </a:pPr>
            <a:r>
              <a:t>                                  x</a:t>
            </a:r>
            <a:r>
              <a:rPr i="0" baseline="30000"/>
              <a:t>3</a:t>
            </a:r>
            <a:r>
              <a:rPr i="0"/>
              <a:t> + [</a:t>
            </a:r>
            <a:r>
              <a:t>f</a:t>
            </a:r>
            <a:r>
              <a:rPr sz="300"/>
              <a:t> </a:t>
            </a:r>
            <a:r>
              <a:rPr i="0"/>
              <a:t>(</a:t>
            </a:r>
            <a:r>
              <a:t>x</a:t>
            </a:r>
            <a:r>
              <a:rPr i="0"/>
              <a:t>)</a:t>
            </a:r>
            <a:r>
              <a:rPr i="0" baseline="30000"/>
              <a:t>3</a:t>
            </a:r>
            <a:r>
              <a:rPr i="0"/>
              <a:t>] = 6</a:t>
            </a:r>
            <a:r>
              <a:t>xf</a:t>
            </a:r>
            <a:r>
              <a:rPr sz="300"/>
              <a:t> </a:t>
            </a:r>
            <a:r>
              <a:rPr i="0"/>
              <a:t>(</a:t>
            </a:r>
            <a:r>
              <a:t>x</a:t>
            </a:r>
            <a:r>
              <a:rPr i="0"/>
              <a:t>)</a:t>
            </a:r>
            <a:endParaRPr i="0"/>
          </a:p>
          <a:p>
            <a:pPr marL="0" indent="0" defTabSz="350520">
              <a:spcBef>
                <a:spcPts val="2500"/>
              </a:spcBef>
              <a:buSzTx/>
              <a:buNone/>
              <a:defRPr sz="1920"/>
            </a:pPr>
            <a:r>
              <a:t>é verdadeira para todos os valores de </a:t>
            </a:r>
            <a:r>
              <a:rPr i="1"/>
              <a:t>x</a:t>
            </a:r>
            <a:r>
              <a:t> no domínio de </a:t>
            </a:r>
            <a:r>
              <a:rPr i="1"/>
              <a:t>f</a:t>
            </a:r>
            <a:r>
              <a:t>.</a:t>
            </a:r>
          </a:p>
        </p:txBody>
      </p:sp>
      <p:pic>
        <p:nvPicPr>
          <p:cNvPr id="635" name="image.tif" descr="image.tif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01991" y="3590995"/>
            <a:ext cx="8800818" cy="257161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636" name="Gráficos de três funções definidas pelo folium de Descartes"/>
          <p:cNvSpPr txBox="1"/>
          <p:nvPr/>
        </p:nvSpPr>
        <p:spPr>
          <a:xfrm>
            <a:off x="3059288" y="6399759"/>
            <a:ext cx="6178325" cy="389271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algn="l" defTabSz="1300480">
              <a:defRPr sz="1800" b="0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</a:lstStyle>
          <a:p>
            <a:r>
              <a:t>Gráficos de três funções definidas pelo folium de Descartes</a:t>
            </a:r>
          </a:p>
        </p:txBody>
      </p:sp>
    </p:spTree>
  </p:cSld>
  <p:clrMapOvr>
    <a:masterClrMapping/>
  </p:clrMapOvr>
  <p:transition spd="med"/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Derivação Implícita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Derivação Implícita</a:t>
            </a:r>
          </a:p>
        </p:txBody>
      </p:sp>
      <p:sp>
        <p:nvSpPr>
          <p:cNvPr id="639" name="Felizmente, não precisamos resolver uma equação para y em termos de x para encontrar a derivada de y Em vez disso, podemos usar o método de derivação implícita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440055" indent="-440055" defTabSz="578485">
              <a:spcBef>
                <a:spcPts val="4100"/>
              </a:spcBef>
              <a:defRPr sz="3170"/>
            </a:pPr>
            <a:r>
              <a:t>Felizmente, não precisamos resolver uma equação para </a:t>
            </a:r>
            <a:r>
              <a:rPr i="1"/>
              <a:t>y</a:t>
            </a:r>
            <a:r>
              <a:t> em termos de </a:t>
            </a:r>
            <a:r>
              <a:rPr i="1"/>
              <a:t>x</a:t>
            </a:r>
            <a:r>
              <a:t> para encontrar a derivada de </a:t>
            </a:r>
            <a:r>
              <a:rPr i="1"/>
              <a:t>y</a:t>
            </a:r>
            <a:br>
              <a:rPr i="1"/>
            </a:br>
            <a:r>
              <a:t>Em vez disso, podemos usar o método de </a:t>
            </a:r>
            <a:r>
              <a:rPr b="1"/>
              <a:t>derivação implícita</a:t>
            </a:r>
            <a:endParaRPr b="1"/>
          </a:p>
          <a:p>
            <a:pPr marL="440055" indent="-440055" defTabSz="578485">
              <a:spcBef>
                <a:spcPts val="4100"/>
              </a:spcBef>
              <a:defRPr sz="3170"/>
            </a:pPr>
            <a:r>
              <a:t>Isso consiste na derivação de ambos os lados da equação em relação a </a:t>
            </a:r>
            <a:r>
              <a:rPr i="1"/>
              <a:t>x</a:t>
            </a:r>
            <a:r>
              <a:t> e, então, na resolução da equação para </a:t>
            </a:r>
            <a:r>
              <a:rPr i="1"/>
              <a:t>y</a:t>
            </a:r>
            <a:r>
              <a:rPr sz="1090" i="1"/>
              <a:t> </a:t>
            </a:r>
            <a:r>
              <a:t>′</a:t>
            </a:r>
          </a:p>
          <a:p>
            <a:pPr marL="440055" indent="-440055" defTabSz="578485">
              <a:spcBef>
                <a:spcPts val="4100"/>
              </a:spcBef>
              <a:defRPr sz="3170"/>
            </a:pPr>
            <a:r>
              <a:t>Nos exemplos e exercícios desta seção, suponha sempre que a equação dada determine </a:t>
            </a:r>
            <a:r>
              <a:rPr i="1"/>
              <a:t>y</a:t>
            </a:r>
            <a:r>
              <a:t> implicitamente como uma função derivável de </a:t>
            </a:r>
            <a:r>
              <a:rPr i="1"/>
              <a:t>x</a:t>
            </a:r>
            <a:r>
              <a:t> de forma que o método da derivação implícita possa ser aplicado</a:t>
            </a:r>
          </a:p>
        </p:txBody>
      </p:sp>
    </p:spTree>
  </p:cSld>
  <p:clrMapOvr>
    <a:masterClrMapping/>
  </p:clrMapOvr>
  <p:transition spd="med"/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Exercício 10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Exercício 10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42" name="Exercício:…"/>
              <p:cNvSpPr txBox="1"/>
              <p:nvPr>
                <p:ph type="body" idx="1"/>
              </p:nvPr>
            </p:nvSpPr>
            <p:spPr>
              <a:prstGeom prst="rect">
                <a:avLst/>
              </a:prstGeom>
            </p:spPr>
            <p:txBody>
              <a:bodyPr anchor="t"/>
              <a:lstStyle/>
              <a:p>
                <a:pPr marL="0" indent="0" defTabSz="467360">
                  <a:spcBef>
                    <a:spcPts val="3300"/>
                  </a:spcBef>
                  <a:buSzTx/>
                  <a:buNone/>
                  <a:defRPr sz="2560" b="1">
                    <a:solidFill>
                      <a:schemeClr val="accent5">
                        <a:hueOff val="-82419"/>
                        <a:satOff val="-9511"/>
                        <a:lumOff val="-16341"/>
                      </a:schemeClr>
                    </a:solidFill>
                  </a:defRPr>
                </a:pPr>
                <a:r>
                  <a:t>Exercício:</a:t>
                </a:r>
              </a:p>
              <a:p>
                <a:pPr marL="0" indent="0" defTabSz="467360">
                  <a:spcBef>
                    <a:spcPts val="3300"/>
                  </a:spcBef>
                  <a:buSzTx/>
                  <a:buNone/>
                  <a:defRPr sz="2560"/>
                </a:pPr>
                <a:r>
                  <a:t>(a) Se </a:t>
                </a:r>
                <a:r>
                  <a:rPr i="1"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rPr>
                  <a:t>x</a:t>
                </a:r>
                <a:r>
                  <a:rPr baseline="30000"/>
                  <a:t>2</a:t>
                </a:r>
                <a:r>
                  <a:t> + </a:t>
                </a:r>
                <a:r>
                  <a:rPr i="1"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rPr>
                  <a:t>y</a:t>
                </a:r>
                <a:r>
                  <a:rPr baseline="30000"/>
                  <a:t>2 </a:t>
                </a:r>
                <a:r>
                  <a:t>= 25, encontre </a:t>
                </a:r>
                <a14:m>
                  <m:oMath xmlns:m="http://schemas.openxmlformats.org/officeDocument/2006/math">
                    <m:f>
                      <m:fPr>
                        <m:ctrlPr>
                          <a:rPr sz="30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sz="30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sz="30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sz="30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sz="30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</a:p>
              <a:p>
                <a:pPr marL="0" indent="0" defTabSz="467360">
                  <a:spcBef>
                    <a:spcPts val="3300"/>
                  </a:spcBef>
                  <a:buSzTx/>
                  <a:buNone/>
                  <a:defRPr sz="2560"/>
                </a:pPr>
                <a:r>
                  <a:t>(b) Encontre uma equação da tangente ao círculo</a:t>
                </a:r>
                <a:br/>
                <a:r>
                  <a:t>x</a:t>
                </a:r>
                <a:r>
                  <a:rPr baseline="30000"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rPr>
                  <a:t>2</a:t>
                </a:r>
                <a:r>
                  <a:rPr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rPr>
                  <a:t> + </a:t>
                </a:r>
                <a:r>
                  <a:t>y</a:t>
                </a:r>
                <a:r>
                  <a:rPr baseline="30000"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rPr>
                  <a:t>2</a:t>
                </a:r>
                <a:r>
                  <a:rPr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rPr>
                  <a:t> = 25 no ponto (3, 4).</a:t>
                </a:r>
                <a:endParaRPr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  <a:p>
                <a:pPr marL="0" indent="0" defTabSz="467360">
                  <a:spcBef>
                    <a:spcPts val="3300"/>
                  </a:spcBef>
                  <a:buSzTx/>
                  <a:buNone/>
                  <a:defRPr sz="2560"/>
                </a:pPr>
                <a:r>
                  <a:rPr b="1">
                    <a:solidFill>
                      <a:schemeClr val="accent5">
                        <a:hueOff val="-82419"/>
                        <a:satOff val="-9511"/>
                        <a:lumOff val="-16341"/>
                      </a:scheme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rPr>
                  <a:t>Solução 1: </a:t>
                </a:r>
                <a:r>
                  <a:t>(a) Derive ambos os lados da equação </a:t>
                </a:r>
                <a:r>
                  <a:rPr i="1"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rPr>
                  <a:t>x</a:t>
                </a:r>
                <a:r>
                  <a:rPr baseline="30000"/>
                  <a:t>2</a:t>
                </a:r>
                <a:r>
                  <a:t> + </a:t>
                </a:r>
                <a:r>
                  <a:rPr i="1"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rPr>
                  <a:t>y</a:t>
                </a:r>
                <a:r>
                  <a:rPr baseline="30000"/>
                  <a:t>2</a:t>
                </a:r>
                <a:r>
                  <a:t> = 25:</a:t>
                </a:r>
                <a:br/>
                <a:br/>
                <a:br/>
                <a:br/>
                <a:br/>
                <a:br/>
              </a:p>
            </p:txBody>
          </p:sp>
        </mc:Choice>
        <mc:Fallback>
          <p:sp>
            <p:nvSpPr>
              <p:cNvPr id="642" name="Exercício:…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prstGeom prst="rect">
                <a:avLst/>
              </a:prstGeom>
              <a:blipFill rotWithShape="1">
                <a:blip r:embed="rId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43" name="image.tif" descr="image.t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8506" y="6724889"/>
            <a:ext cx="4095610" cy="921174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644" name="image.tif" descr="image.t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3662" y="8012853"/>
            <a:ext cx="4005298" cy="988908"/>
          </a:xfrm>
          <a:prstGeom prst="rect">
            <a:avLst/>
          </a:prstGeom>
          <a:ln w="12700">
            <a:miter lim="400000"/>
            <a:headEnd/>
            <a:tailEnd/>
          </a:ln>
        </p:spPr>
      </p:pic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dur="indefinite" fill="hold"/>
                                        <p:tgtEl>
                                          <p:spTgt spid="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6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2" presetClass="entr" presetSubtype="4" fill="hold" grpId="2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dur="indefinite" fill="hold"/>
                                        <p:tgtEl>
                                          <p:spTgt spid="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6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3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7" dur="indefinite" fill="hold"/>
                                        <p:tgtEl>
                                          <p:spTgt spid="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4" grpId="3" animBg="1" advAuto="0"/>
      <p:bldP spid="642" grpId="1" animBg="1" advAuto="0"/>
      <p:bldP spid="643" grpId="2" animBg="1" advAuto="0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Exercício 10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Exercício 10</a:t>
            </a:r>
          </a:p>
        </p:txBody>
      </p:sp>
      <p:sp>
        <p:nvSpPr>
          <p:cNvPr id="647" name="Lembrando que y é uma função de x e usando a Regra da Cadeia, temos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Lembrando que </a:t>
            </a:r>
            <a:r>
              <a:rPr i="1"/>
              <a:t>y</a:t>
            </a:r>
            <a:r>
              <a:t> é uma função de </a:t>
            </a:r>
            <a:r>
              <a:rPr i="1"/>
              <a:t>x</a:t>
            </a:r>
            <a:r>
              <a:t> e usando a Regra da Cadeia, temos </a:t>
            </a:r>
          </a:p>
          <a:p/>
          <a:p>
            <a:r>
              <a:t>Logo,</a:t>
            </a:r>
          </a:p>
          <a:p/>
          <a:p/>
          <a:p>
            <a:r>
              <a:t>Agora isole </a:t>
            </a:r>
            <a:r>
              <a:rPr i="1"/>
              <a:t>dy</a:t>
            </a:r>
            <a:r>
              <a:t>/</a:t>
            </a:r>
            <a:r>
              <a:rPr i="1"/>
              <a:t>dx nessa equação</a:t>
            </a:r>
            <a:r>
              <a:t>:</a:t>
            </a:r>
          </a:p>
        </p:txBody>
      </p:sp>
      <p:pic>
        <p:nvPicPr>
          <p:cNvPr id="648" name="image.tif" descr="image.tif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12258" y="4004448"/>
            <a:ext cx="3806614" cy="9144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649" name="image.tif" descr="image.t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3697" y="3936715"/>
            <a:ext cx="1478845" cy="979877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650" name="image.png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4346" y="6092733"/>
            <a:ext cx="2716108" cy="898596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651" name="image.tif" descr="image.t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9220" y="8129051"/>
            <a:ext cx="1923628" cy="1018258"/>
          </a:xfrm>
          <a:prstGeom prst="rect">
            <a:avLst/>
          </a:prstGeom>
          <a:ln w="12700">
            <a:miter lim="400000"/>
            <a:headEnd/>
            <a:tailEnd/>
          </a:ln>
        </p:spPr>
      </p:pic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dur="indefinite" fill="hold"/>
                                        <p:tgtEl>
                                          <p:spTgt spid="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6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2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dur="indefinite" fill="hold"/>
                                        <p:tgtEl>
                                          <p:spTgt spid="6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" presetClass="entr" presetSubtype="4" fill="hold" grpId="3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7" dur="indefinite" fill="hold"/>
                                        <p:tgtEl>
                                          <p:spTgt spid="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" presetClass="entr" presetSubtype="4" fill="hold" grpId="4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dur="indefinite" fill="hold"/>
                                        <p:tgtEl>
                                          <p:spTgt spid="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9" grpId="1" animBg="1" advAuto="0"/>
      <p:bldP spid="651" grpId="4" animBg="1" advAuto="0"/>
      <p:bldP spid="650" grpId="3" animBg="1" advAuto="0"/>
      <p:bldP spid="647" grpId="2" bldLvl="5" animBg="1" advAuto="0" build="p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Exercício 10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Exercício 10</a:t>
            </a:r>
          </a:p>
        </p:txBody>
      </p:sp>
      <p:sp>
        <p:nvSpPr>
          <p:cNvPr id="654" name="(b) No ponto (3, 4), temos x = 3 e y = 4, logo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0" indent="0" defTabSz="385445">
              <a:lnSpc>
                <a:spcPct val="110000"/>
              </a:lnSpc>
              <a:spcBef>
                <a:spcPts val="2700"/>
              </a:spcBef>
              <a:buSzTx/>
              <a:buNone/>
              <a:defRPr sz="2110"/>
            </a:pPr>
            <a:r>
              <a:t>(b) No ponto (3, 4), temos </a:t>
            </a:r>
            <a:r>
              <a:rPr i="1"/>
              <a:t>x</a:t>
            </a:r>
            <a:r>
              <a:t> = 3 e </a:t>
            </a:r>
            <a:r>
              <a:rPr i="1"/>
              <a:t>y</a:t>
            </a:r>
            <a:r>
              <a:t> = 4, logo</a:t>
            </a:r>
          </a:p>
          <a:p>
            <a:pPr marL="0" indent="0" defTabSz="385445">
              <a:lnSpc>
                <a:spcPct val="110000"/>
              </a:lnSpc>
              <a:spcBef>
                <a:spcPts val="2700"/>
              </a:spcBef>
              <a:buSzTx/>
              <a:buNone/>
              <a:defRPr sz="2110"/>
            </a:pPr>
          </a:p>
          <a:p>
            <a:pPr marL="0" indent="0" defTabSz="385445">
              <a:lnSpc>
                <a:spcPct val="110000"/>
              </a:lnSpc>
              <a:spcBef>
                <a:spcPts val="2700"/>
              </a:spcBef>
              <a:buSzTx/>
              <a:buNone/>
              <a:defRPr sz="2110"/>
            </a:pPr>
          </a:p>
          <a:p>
            <a:pPr marL="0" indent="0" defTabSz="385445">
              <a:lnSpc>
                <a:spcPct val="110000"/>
              </a:lnSpc>
              <a:spcBef>
                <a:spcPts val="2700"/>
              </a:spcBef>
              <a:buSzTx/>
              <a:buNone/>
              <a:defRPr sz="2110"/>
            </a:pPr>
            <a:r>
              <a:t>Uma equação da reta tangente ao círculo em (3, 4) é, portanto,    </a:t>
            </a:r>
          </a:p>
          <a:p>
            <a:pPr marL="0" indent="0" defTabSz="385445">
              <a:lnSpc>
                <a:spcPct val="110000"/>
              </a:lnSpc>
              <a:spcBef>
                <a:spcPts val="2700"/>
              </a:spcBef>
              <a:buSzTx/>
              <a:buNone/>
              <a:defRPr sz="2110" i="1"/>
            </a:pPr>
            <a:r>
              <a:t>                    y – </a:t>
            </a:r>
            <a:r>
              <a:rPr i="0"/>
              <a:t>4 =       (</a:t>
            </a:r>
            <a:r>
              <a:t>x</a:t>
            </a:r>
            <a:r>
              <a:rPr i="0"/>
              <a:t> – 3)   ou   3</a:t>
            </a:r>
            <a:r>
              <a:t>x</a:t>
            </a:r>
            <a:r>
              <a:rPr i="0"/>
              <a:t> + 4</a:t>
            </a:r>
            <a:r>
              <a:t>y</a:t>
            </a:r>
            <a:r>
              <a:rPr i="0"/>
              <a:t> = 25</a:t>
            </a:r>
            <a:endParaRPr i="0"/>
          </a:p>
          <a:p>
            <a:pPr marL="0" indent="0" defTabSz="385445">
              <a:lnSpc>
                <a:spcPct val="110000"/>
              </a:lnSpc>
              <a:spcBef>
                <a:spcPts val="2700"/>
              </a:spcBef>
              <a:buSzTx/>
              <a:buNone/>
              <a:defRPr sz="1055"/>
            </a:pPr>
          </a:p>
          <a:p>
            <a:pPr marL="0" indent="0" defTabSz="385445">
              <a:lnSpc>
                <a:spcPct val="110000"/>
              </a:lnSpc>
              <a:spcBef>
                <a:spcPts val="2700"/>
              </a:spcBef>
              <a:buSzTx/>
              <a:buNone/>
              <a:defRPr sz="2110">
                <a:solidFill>
                  <a:srgbClr val="00ADEF"/>
                </a:solidFill>
              </a:defRPr>
            </a:pPr>
            <a:r>
              <a:rPr b="1">
                <a:solidFill>
                  <a:schemeClr val="accent5">
                    <a:hueOff val="-82419"/>
                    <a:satOff val="-9511"/>
                    <a:lumOff val="-16341"/>
                  </a:schemeClr>
                </a:solidFill>
              </a:rPr>
              <a:t>Solução 2:</a:t>
            </a:r>
            <a:r>
              <a:t> </a:t>
            </a:r>
            <a:r>
              <a:rPr>
                <a:solidFill>
                  <a:srgbClr val="000000"/>
                </a:solidFill>
              </a:rPr>
              <a:t>(b) Resolva a equação </a:t>
            </a:r>
            <a:r>
              <a:rPr i="1">
                <a:solidFill>
                  <a:srgbClr val="000000"/>
                </a:solidFill>
              </a:rPr>
              <a:t>x</a:t>
            </a:r>
            <a:r>
              <a:rPr baseline="30000">
                <a:solidFill>
                  <a:srgbClr val="000000"/>
                </a:solidFill>
              </a:rPr>
              <a:t>2</a:t>
            </a:r>
            <a:r>
              <a:rPr>
                <a:solidFill>
                  <a:srgbClr val="000000"/>
                </a:solidFill>
              </a:rPr>
              <a:t> + </a:t>
            </a:r>
            <a:r>
              <a:rPr i="1">
                <a:solidFill>
                  <a:srgbClr val="000000"/>
                </a:solidFill>
              </a:rPr>
              <a:t>y</a:t>
            </a:r>
            <a:r>
              <a:rPr baseline="30000">
                <a:solidFill>
                  <a:srgbClr val="000000"/>
                </a:solidFill>
              </a:rPr>
              <a:t>2</a:t>
            </a:r>
            <a:r>
              <a:rPr>
                <a:solidFill>
                  <a:srgbClr val="000000"/>
                </a:solidFill>
              </a:rPr>
              <a:t> = 25, obtemos </a:t>
            </a:r>
            <a:endParaRPr>
              <a:solidFill>
                <a:srgbClr val="000000"/>
              </a:solidFill>
            </a:endParaRPr>
          </a:p>
          <a:p>
            <a:pPr marL="0" indent="0" defTabSz="385445">
              <a:lnSpc>
                <a:spcPct val="110000"/>
              </a:lnSpc>
              <a:spcBef>
                <a:spcPts val="2700"/>
              </a:spcBef>
              <a:buSzTx/>
              <a:buNone/>
              <a:defRPr sz="2110" i="1"/>
            </a:pPr>
            <a:r>
              <a:t>y </a:t>
            </a:r>
            <a:r>
              <a:rPr i="0"/>
              <a:t>=                              . O ponto (3, 4) está sobre o semicírculo superior </a:t>
            </a:r>
            <a:r>
              <a:t>y </a:t>
            </a:r>
            <a:r>
              <a:rPr i="0"/>
              <a:t>=               </a:t>
            </a:r>
            <a:br>
              <a:rPr i="0"/>
            </a:br>
            <a:r>
              <a:rPr i="0"/>
              <a:t>, e assim vamos considerar a função </a:t>
            </a:r>
            <a:endParaRPr i="0"/>
          </a:p>
          <a:p>
            <a:pPr marL="0" indent="0" defTabSz="385445">
              <a:lnSpc>
                <a:spcPct val="110000"/>
              </a:lnSpc>
              <a:spcBef>
                <a:spcPts val="2700"/>
              </a:spcBef>
              <a:buSzTx/>
              <a:buNone/>
              <a:defRPr sz="2110" i="1"/>
            </a:pPr>
            <a:r>
              <a:t>f</a:t>
            </a:r>
            <a:r>
              <a:rPr sz="330"/>
              <a:t> </a:t>
            </a:r>
            <a:r>
              <a:rPr i="0"/>
              <a:t>(</a:t>
            </a:r>
            <a:r>
              <a:t>x</a:t>
            </a:r>
            <a:r>
              <a:rPr i="0"/>
              <a:t>) =               .</a:t>
            </a:r>
            <a:endParaRPr i="0"/>
          </a:p>
        </p:txBody>
      </p:sp>
      <p:pic>
        <p:nvPicPr>
          <p:cNvPr id="655" name="image.tif" descr="image.tif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92515" y="3285659"/>
            <a:ext cx="1819770" cy="964072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656" name="image.pdf" descr="image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6397" y="7264861"/>
            <a:ext cx="1767841" cy="52154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657" name="image.png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7504" y="8335757"/>
            <a:ext cx="1729458" cy="480907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658" name="image.png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8979" y="7251879"/>
            <a:ext cx="2106508" cy="598312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659" name="image.pdf" descr="image.pd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81708" y="5205415"/>
            <a:ext cx="611858" cy="727006"/>
          </a:xfrm>
          <a:prstGeom prst="rect">
            <a:avLst/>
          </a:prstGeom>
          <a:ln w="12700">
            <a:miter lim="400000"/>
            <a:headEnd/>
            <a:tailEnd/>
          </a:ln>
        </p:spPr>
      </p:pic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dur="indefinite" fill="hold"/>
                                        <p:tgtEl>
                                          <p:spTgt spid="6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6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2" presetClass="entr" presetSubtype="4" fill="hold" grpId="1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dur="indefinite" fill="hold"/>
                                        <p:tgtEl>
                                          <p:spTgt spid="65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65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5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2" presetClass="entr" presetSubtype="4" fill="hold" grpId="2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dur="indefinite" fill="hold"/>
                                        <p:tgtEl>
                                          <p:spTgt spid="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6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000"/>
                            </p:stCondLst>
                            <p:childTnLst>
                              <p:par>
                                <p:cTn id="20" presetID="2" presetClass="entr" presetSubtype="4" fill="hold" grpId="1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" dur="indefinite" fill="hold"/>
                                        <p:tgtEl>
                                          <p:spTgt spid="65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5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5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000"/>
                            </p:stCondLst>
                            <p:childTnLst>
                              <p:par>
                                <p:cTn id="25" presetID="2" presetClass="entr" presetSubtype="4" fill="hold" grpId="1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dur="indefinite" fill="hold"/>
                                        <p:tgtEl>
                                          <p:spTgt spid="65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5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5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0"/>
                            </p:stCondLst>
                            <p:childTnLst>
                              <p:par>
                                <p:cTn id="30" presetID="2" presetClass="entr" presetSubtype="4" fill="hold" grpId="3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1" dur="indefinite" fill="hold"/>
                                        <p:tgtEl>
                                          <p:spTgt spid="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6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6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6000"/>
                            </p:stCondLst>
                            <p:childTnLst>
                              <p:par>
                                <p:cTn id="35" presetID="2" presetClass="entr" presetSubtype="4" fill="hold" grpId="4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6" dur="indefinite" fill="hold"/>
                                        <p:tgtEl>
                                          <p:spTgt spid="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6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7000"/>
                            </p:stCondLst>
                            <p:childTnLst>
                              <p:par>
                                <p:cTn id="40" presetID="2" presetClass="entr" presetSubtype="4" fill="hold" grpId="5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1" dur="indefinite" fill="hold"/>
                                        <p:tgtEl>
                                          <p:spTgt spid="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6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6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7" dur="indefinite" fill="hold"/>
                                        <p:tgtEl>
                                          <p:spTgt spid="65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65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65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3" dur="indefinite" fill="hold"/>
                                        <p:tgtEl>
                                          <p:spTgt spid="65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65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65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9" grpId="2" animBg="1" advAuto="0"/>
      <p:bldP spid="654" grpId="1" bldLvl="5" animBg="1" advAuto="0" build="p"/>
      <p:bldP spid="658" grpId="3" animBg="1" advAuto="0"/>
      <p:bldP spid="657" grpId="5" animBg="1" advAuto="0"/>
      <p:bldP spid="656" grpId="4" animBg="1" advAuto="0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Exercício 10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Exercício 10</a:t>
            </a:r>
          </a:p>
        </p:txBody>
      </p:sp>
      <p:sp>
        <p:nvSpPr>
          <p:cNvPr id="662" name="Derivando f, usando a Regra da Cadeia, temos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0" indent="0" defTabSz="374015">
              <a:spcBef>
                <a:spcPts val="2600"/>
              </a:spcBef>
              <a:buSzTx/>
              <a:buNone/>
              <a:defRPr sz="2050"/>
            </a:pPr>
            <a:r>
              <a:t>Derivando </a:t>
            </a:r>
            <a:r>
              <a:rPr i="1"/>
              <a:t>f</a:t>
            </a:r>
            <a:r>
              <a:t>, usando a Regra da Cadeia, temos</a:t>
            </a:r>
          </a:p>
          <a:p>
            <a:pPr marL="0" indent="0" defTabSz="374015">
              <a:spcBef>
                <a:spcPts val="2600"/>
              </a:spcBef>
              <a:buSzTx/>
              <a:buNone/>
              <a:defRPr sz="2050"/>
            </a:pPr>
          </a:p>
          <a:p>
            <a:pPr marL="0" indent="0" defTabSz="374015">
              <a:spcBef>
                <a:spcPts val="2600"/>
              </a:spcBef>
              <a:buSzTx/>
              <a:buNone/>
              <a:defRPr sz="2050"/>
            </a:pPr>
          </a:p>
          <a:p>
            <a:pPr marL="0" indent="0" defTabSz="374015">
              <a:spcBef>
                <a:spcPts val="2600"/>
              </a:spcBef>
              <a:buSzTx/>
              <a:buNone/>
              <a:defRPr sz="2050"/>
            </a:pPr>
          </a:p>
          <a:p>
            <a:pPr marL="0" indent="0" defTabSz="374015">
              <a:spcBef>
                <a:spcPts val="2600"/>
              </a:spcBef>
              <a:buSzTx/>
              <a:buNone/>
              <a:defRPr sz="2050"/>
            </a:pPr>
          </a:p>
          <a:p>
            <a:pPr marL="0" indent="0" defTabSz="374015">
              <a:spcBef>
                <a:spcPts val="2600"/>
              </a:spcBef>
              <a:buSzTx/>
              <a:buNone/>
              <a:defRPr sz="2050"/>
            </a:pPr>
            <a:r>
              <a:t>Então</a:t>
            </a:r>
          </a:p>
          <a:p>
            <a:pPr marL="0" indent="0" defTabSz="374015">
              <a:spcBef>
                <a:spcPts val="2600"/>
              </a:spcBef>
              <a:buSzTx/>
              <a:buNone/>
              <a:defRPr sz="2050"/>
            </a:pPr>
          </a:p>
          <a:p>
            <a:pPr marL="0" indent="0" defTabSz="374015">
              <a:spcBef>
                <a:spcPts val="2600"/>
              </a:spcBef>
              <a:buSzTx/>
              <a:buNone/>
              <a:defRPr sz="2050"/>
            </a:pPr>
          </a:p>
          <a:p>
            <a:pPr marL="0" indent="0" defTabSz="374015">
              <a:spcBef>
                <a:spcPts val="2600"/>
              </a:spcBef>
              <a:buSzTx/>
              <a:buNone/>
              <a:defRPr sz="2050"/>
            </a:pPr>
            <a:r>
              <a:t>e, como na Solução 1, uma equação da reta tangente é </a:t>
            </a:r>
          </a:p>
          <a:p>
            <a:pPr marL="0" indent="0" defTabSz="374015">
              <a:spcBef>
                <a:spcPts val="2600"/>
              </a:spcBef>
              <a:buSzTx/>
              <a:buNone/>
              <a:defRPr sz="2050"/>
            </a:pPr>
            <a:r>
              <a:t>3</a:t>
            </a:r>
            <a:r>
              <a:rPr i="1"/>
              <a:t>x</a:t>
            </a:r>
            <a:r>
              <a:t> + 4</a:t>
            </a:r>
            <a:r>
              <a:rPr i="1"/>
              <a:t>y</a:t>
            </a:r>
            <a:r>
              <a:t> = 25.</a:t>
            </a:r>
          </a:p>
        </p:txBody>
      </p:sp>
      <p:pic>
        <p:nvPicPr>
          <p:cNvPr id="663" name="image.png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26079" y="3034453"/>
            <a:ext cx="6019237" cy="896339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664" name="image.tif" descr="image.t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2729" y="4409440"/>
            <a:ext cx="3781778" cy="56896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665" name="image.tif" descr="image.t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5484" y="4273973"/>
            <a:ext cx="2679984" cy="927947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666" name="image.pdf" descr="image.pd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3546" y="5696373"/>
            <a:ext cx="1144694" cy="1004712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667" name="image.png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58541" y="5635413"/>
            <a:ext cx="3666633" cy="1090508"/>
          </a:xfrm>
          <a:prstGeom prst="rect">
            <a:avLst/>
          </a:prstGeom>
          <a:ln w="12700">
            <a:miter lim="400000"/>
            <a:headEnd/>
            <a:tailEnd/>
          </a:ln>
        </p:spPr>
      </p:pic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dur="indefinite" fill="hold"/>
                                        <p:tgtEl>
                                          <p:spTgt spid="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6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2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dur="indefinite" fill="hold"/>
                                        <p:tgtEl>
                                          <p:spTgt spid="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3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dur="indefinite" fill="hold"/>
                                        <p:tgtEl>
                                          <p:spTgt spid="66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6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6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" presetClass="entr" presetSubtype="4" fill="hold" grpId="4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3" dur="indefinite" fill="hold"/>
                                        <p:tgtEl>
                                          <p:spTgt spid="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grpId="5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9" dur="indefinite" fill="hold"/>
                                        <p:tgtEl>
                                          <p:spTgt spid="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00"/>
                            </p:stCondLst>
                            <p:childTnLst>
                              <p:par>
                                <p:cTn id="33" presetID="2" presetClass="entr" presetSubtype="4" fill="hold" grpId="3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4" dur="indefinite" fill="hold"/>
                                        <p:tgtEl>
                                          <p:spTgt spid="66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6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6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000"/>
                            </p:stCondLst>
                            <p:childTnLst>
                              <p:par>
                                <p:cTn id="38" presetID="2" presetClass="entr" presetSubtype="4" fill="hold" grpId="3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9" dur="indefinite" fill="hold"/>
                                        <p:tgtEl>
                                          <p:spTgt spid="66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66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66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4" fill="hold" grpId="3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5" dur="indefinite" fill="hold"/>
                                        <p:tgtEl>
                                          <p:spTgt spid="66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66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66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4" fill="hold" grpId="3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1" dur="indefinite" fill="hold"/>
                                        <p:tgtEl>
                                          <p:spTgt spid="66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66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66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4" grpId="1" animBg="1" advAuto="0"/>
      <p:bldP spid="665" grpId="2" animBg="1" advAuto="0"/>
      <p:bldP spid="667" grpId="4" animBg="1" advAuto="0"/>
      <p:bldP spid="666" grpId="5" animBg="1" advAuto="0"/>
      <p:bldP spid="662" grpId="3" bldLvl="5" animBg="1" advAuto="0" build="p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9" name="Imagem" descr="Imagem"/>
          <p:cNvPicPr>
            <a:picLocks noChangeAspect="1"/>
          </p:cNvPicPr>
          <p:nvPr>
            <p:ph type="pic" idx="13"/>
          </p:nvPr>
        </p:nvPicPr>
        <p:blipFill>
          <a:blip r:embed="rId1"/>
          <a:srcRect l="2929" r="2929"/>
          <a:stretch>
            <a:fillRect/>
          </a:stretch>
        </p:blipFill>
        <p:spPr>
          <a:xfrm>
            <a:off x="0" y="0"/>
            <a:ext cx="13004800" cy="9753600"/>
          </a:xfrm>
          <a:prstGeom prst="rect">
            <a:avLst/>
          </a:prstGeom>
        </p:spPr>
      </p:pic>
      <p:sp>
        <p:nvSpPr>
          <p:cNvPr id="670" name="FUNÇÕES LOGARÍTMICAS"/>
          <p:cNvSpPr txBox="1"/>
          <p:nvPr/>
        </p:nvSpPr>
        <p:spPr>
          <a:xfrm>
            <a:off x="2352992" y="4447859"/>
            <a:ext cx="8298816" cy="857882"/>
          </a:xfrm>
          <a:prstGeom prst="rect">
            <a:avLst/>
          </a:prstGeom>
          <a:solidFill>
            <a:srgbClr val="929292"/>
          </a:solidFill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>
            <a:lvl1pPr>
              <a:defRPr sz="5000">
                <a:solidFill>
                  <a:srgbClr val="FFFFFF"/>
                </a:solidFill>
              </a:defRPr>
            </a:lvl1pPr>
          </a:lstStyle>
          <a:p>
            <a:r>
              <a:t>FUNÇÕES LOGARÍTMICAS</a:t>
            </a:r>
          </a:p>
        </p:txBody>
      </p:sp>
    </p:spTree>
  </p:cSld>
  <p:clrMapOvr>
    <a:masterClrMapping/>
  </p:clrMapOvr>
  <p:transition spd="med"/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Derivadas de Funções Logarítmica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5400"/>
            </a:lvl1pPr>
          </a:lstStyle>
          <a:p>
            <a:r>
              <a:t>Derivadas de Funções Logarítmicas</a:t>
            </a:r>
          </a:p>
        </p:txBody>
      </p:sp>
      <p:sp>
        <p:nvSpPr>
          <p:cNvPr id="673" name="Nesta seção vamos usar a derivação implícita para achar as derivadas das funções logarítmicas y = logax e, em particular, da função logarítmica natural  y = ln x"/>
          <p:cNvSpPr txBox="1"/>
          <p:nvPr>
            <p:ph type="body" sz="half" idx="1"/>
          </p:nvPr>
        </p:nvSpPr>
        <p:spPr>
          <a:prstGeom prst="rect">
            <a:avLst/>
          </a:prstGeom>
        </p:spPr>
        <p:txBody>
          <a:bodyPr anchor="t"/>
          <a:lstStyle/>
          <a:p>
            <a:pPr marL="388620" indent="-388620"/>
            <a:r>
              <a:t>Nesta seção vamos usar a </a:t>
            </a:r>
            <a:r>
              <a:rPr b="1">
                <a:solidFill>
                  <a:schemeClr val="accent5">
                    <a:hueOff val="-82419"/>
                    <a:satOff val="-9511"/>
                    <a:lumOff val="-16341"/>
                  </a:schemeClr>
                </a:solidFill>
              </a:rPr>
              <a:t>derivação implícita</a:t>
            </a:r>
            <a:r>
              <a:t> para achar as derivadas das funções logarítmicas </a:t>
            </a:r>
            <a:r>
              <a:rPr i="1"/>
              <a:t>y</a:t>
            </a:r>
            <a:r>
              <a:t> = log</a:t>
            </a:r>
            <a:r>
              <a:rPr i="1" baseline="-22000"/>
              <a:t>a</a:t>
            </a:r>
            <a:r>
              <a:rPr i="1"/>
              <a:t>x</a:t>
            </a:r>
            <a:r>
              <a:t> e, em particular, da função logarítmica natural  </a:t>
            </a:r>
            <a:r>
              <a:rPr i="1"/>
              <a:t>y</a:t>
            </a:r>
            <a:r>
              <a:t> = ln </a:t>
            </a:r>
            <a:r>
              <a:rPr i="1"/>
              <a:t>x</a:t>
            </a:r>
            <a:endParaRPr i="1"/>
          </a:p>
        </p:txBody>
      </p:sp>
      <p:pic>
        <p:nvPicPr>
          <p:cNvPr id="674" name="image.tif" descr="image.tif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41108" y="4076841"/>
            <a:ext cx="3684694" cy="3314418"/>
          </a:xfrm>
          <a:prstGeom prst="rect">
            <a:avLst/>
          </a:prstGeom>
          <a:ln w="12700">
            <a:miter lim="400000"/>
            <a:headEnd/>
            <a:tailEnd/>
          </a:ln>
        </p:spPr>
      </p:pic>
    </p:spTree>
  </p:cSld>
  <p:clrMapOvr>
    <a:masterClrMapping/>
  </p:clrMapOvr>
  <p:transition spd="med"/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Derivadas de Funções Logarítmica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5400"/>
            </a:lvl1pPr>
          </a:lstStyle>
          <a:p>
            <a:r>
              <a:t>Derivadas de Funções Logarítmicas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77" name="De forma geral, utilizando a Regra da Cadeia, obtemos…"/>
              <p:cNvSpPr txBox="1"/>
              <p:nvPr>
                <p:ph type="body" idx="1"/>
              </p:nvPr>
            </p:nvSpPr>
            <p:spPr>
              <a:prstGeom prst="rect">
                <a:avLst/>
              </a:prstGeom>
            </p:spPr>
            <p:txBody>
              <a:bodyPr/>
              <a:lstStyle/>
              <a:p>
                <a:pPr marL="0" indent="0" algn="ctr">
                  <a:buSzTx/>
                  <a:buNone/>
                </a:pPr>
                <a14:m>
                  <m:oMath xmlns:m="http://schemas.openxmlformats.org/officeDocument/2006/math">
                    <m:f>
                      <m:fPr>
                        <m:ctrlPr>
                          <a:rPr sz="38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sz="38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sz="38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sz="38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sz="38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sz="38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𝑙</m:t>
                    </m:r>
                    <m:r>
                      <a:rPr sz="38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sz="38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sz="38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sz="38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sz="38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sz="38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sz="38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t> </a:t>
                </a:r>
              </a:p>
              <a:p>
                <a:r>
                  <a:t>De forma geral, utilizando a Regra da Cadeia, obtemos</a:t>
                </a:r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sz="38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sz="38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sz="38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sz="38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sz="38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sz="38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𝑙</m:t>
                    </m:r>
                    <m:r>
                      <a:rPr sz="38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sz="38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a:rPr sz="38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sz="38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sz="38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sz="38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sz="38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den>
                    </m:f>
                    <m:f>
                      <m:fPr>
                        <m:ctrlPr>
                          <a:rPr sz="38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sz="38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sz="38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r>
                          <a:rPr sz="38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sz="38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t>       ou       </a:t>
                </a:r>
                <a14:m>
                  <m:oMath xmlns:m="http://schemas.openxmlformats.org/officeDocument/2006/math">
                    <m:f>
                      <m:fPr>
                        <m:ctrlPr>
                          <a:rPr sz="38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sz="38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sz="38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sz="38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sz="38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sz="38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𝑙</m:t>
                    </m:r>
                    <m:r>
                      <a:rPr sz="38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sz="38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a:rPr sz="38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sz="38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sz="38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sz="38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a:rPr sz="38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sz="38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/>
                            </m:ctrlPr>
                          </m:sSupPr>
                          <m:e>
                            <m:r>
                              <a:rPr sz="38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p>
                            <m:r>
                              <a:rPr sz="38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sz="38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sz="38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sz="38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sz="38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a:rPr sz="38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sz="38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sz="38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677" name="De forma geral, utilizando a Regra da Cadeia, obtemos…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prstGeom prst="rect">
                <a:avLst/>
              </a:prstGeom>
              <a:blipFill rotWithShape="1">
                <a:blip r:embed="rId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/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Exercício 1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Exercício 11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80" name="Exercício: Encontre…"/>
              <p:cNvSpPr txBox="1"/>
              <p:nvPr>
                <p:ph type="body" idx="1"/>
              </p:nvPr>
            </p:nvSpPr>
            <p:spPr>
              <a:prstGeom prst="rect">
                <a:avLst/>
              </a:prstGeom>
            </p:spPr>
            <p:txBody>
              <a:bodyPr/>
              <a:lstStyle/>
              <a:p>
                <a:pPr marL="0" indent="0" defTabSz="467360">
                  <a:spcBef>
                    <a:spcPts val="3300"/>
                  </a:spcBef>
                  <a:buSzTx/>
                  <a:buNone/>
                  <a:tabLst>
                    <a:tab pos="508000" algn="l"/>
                    <a:tab pos="1549400" algn="l"/>
                    <a:tab pos="1739900" algn="l"/>
                  </a:tabLst>
                  <a:defRPr sz="2560"/>
                </a:pPr>
                <a:r>
                  <a:rPr b="1">
                    <a:solidFill>
                      <a:schemeClr val="accent5">
                        <a:hueOff val="-82419"/>
                        <a:satOff val="-9511"/>
                        <a:lumOff val="-16341"/>
                      </a:schemeClr>
                    </a:solidFill>
                  </a:rPr>
                  <a:t>Exercício:</a:t>
                </a:r>
                <a:r>
                  <a:t> Encontre </a:t>
                </a:r>
                <a14:m>
                  <m:oMath xmlns:m="http://schemas.openxmlformats.org/officeDocument/2006/math">
                    <m:f>
                      <m:fPr>
                        <m:ctrlPr>
                          <a:rPr sz="3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sz="3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sz="3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sz="3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sz="3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𝑙</m:t>
                    </m:r>
                    <m:r>
                      <a:rPr sz="3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sz="3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sz="3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sz="3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a:rPr sz="3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sz="3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sz="3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br/>
                <a:br/>
              </a:p>
              <a:p>
                <a:pPr marL="0" indent="0" defTabSz="467360">
                  <a:spcBef>
                    <a:spcPts val="3300"/>
                  </a:spcBef>
                  <a:buSzTx/>
                  <a:buNone/>
                  <a:tabLst>
                    <a:tab pos="508000" algn="l"/>
                    <a:tab pos="1549400" algn="l"/>
                    <a:tab pos="1739900" algn="l"/>
                  </a:tabLst>
                  <a:defRPr sz="2560"/>
                </a:pPr>
                <a:r>
                  <a:rPr b="1">
                    <a:solidFill>
                      <a:schemeClr val="accent5">
                        <a:hueOff val="-82419"/>
                        <a:satOff val="-9511"/>
                        <a:lumOff val="-16341"/>
                      </a:schemeClr>
                    </a:solidFill>
                  </a:rPr>
                  <a:t>Solução: </a:t>
                </a:r>
                <a:r>
                  <a:t>Temos </a:t>
                </a:r>
                <a14:m>
                  <m:oMath xmlns:m="http://schemas.openxmlformats.org/officeDocument/2006/math">
                    <m:f>
                      <m:fPr>
                        <m:ctrlPr>
                          <a:rPr sz="3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sz="3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sz="3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sz="3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sz="3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𝑙</m:t>
                    </m:r>
                    <m:r>
                      <a:rPr sz="3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sz="3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sz="3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sz="3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a:rPr sz="3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sz="3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sz="3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sz="3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sz="3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sz="3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sz="3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sz="3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a:rPr sz="3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sz="3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f>
                      <m:fPr>
                        <m:ctrlPr>
                          <a:rPr sz="3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sz="3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sz="3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sz="3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sz="3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sz="3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sz="3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a:rPr sz="3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sz="3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sz="3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sz="3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sz="3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sz="3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sz="3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sz="3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a:rPr sz="3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sz="3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sz="3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sz="3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𝑜</m:t>
                    </m:r>
                    <m:r>
                      <a:rPr sz="3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sz="3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sz="3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sz="3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sz="3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𝑜</m:t>
                    </m:r>
                    <m:r>
                      <a:rPr sz="3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sz="3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br/>
                <a:br/>
              </a:p>
              <a:p>
                <a:pPr marL="0" indent="0" algn="ctr" defTabSz="467360">
                  <a:spcBef>
                    <a:spcPts val="3300"/>
                  </a:spcBef>
                  <a:buSzTx/>
                  <a:buNone/>
                  <a:tabLst>
                    <a:tab pos="508000" algn="l"/>
                    <a:tab pos="1549400" algn="l"/>
                    <a:tab pos="1739900" algn="l"/>
                  </a:tabLst>
                  <a:defRPr sz="2560"/>
                </a:pPr>
                <a14:m>
                  <m:oMath xmlns:m="http://schemas.openxmlformats.org/officeDocument/2006/math">
                    <m:f>
                      <m:fPr>
                        <m:ctrlPr>
                          <a:rPr sz="3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sz="3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sz="3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sz="3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sz="3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sz="3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𝑙</m:t>
                    </m:r>
                    <m:r>
                      <a:rPr sz="3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sz="3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sz="3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sz="3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sz="3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sz="3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sz="3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sz="3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sz="3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t> </a:t>
                </a:r>
              </a:p>
            </p:txBody>
          </p:sp>
        </mc:Choice>
        <mc:Fallback>
          <p:sp>
            <p:nvSpPr>
              <p:cNvPr id="680" name="Exercício: Encontre…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prstGeom prst="rect">
                <a:avLst/>
              </a:prstGeom>
              <a:blipFill rotWithShape="1">
                <a:blip r:embed="rId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dur="indefinite" fill="hold"/>
                                        <p:tgtEl>
                                          <p:spTgt spid="68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680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80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1" nodeType="with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dur="indefinite" fill="hold"/>
                                        <p:tgtEl>
                                          <p:spTgt spid="6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6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6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dur="indefinite" fill="hold"/>
                                        <p:tgtEl>
                                          <p:spTgt spid="68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68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8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dur="indefinite" fill="hold"/>
                                        <p:tgtEl>
                                          <p:spTgt spid="68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8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8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" dur="indefinite" fill="hold"/>
                                        <p:tgtEl>
                                          <p:spTgt spid="68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8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8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0" grpId="1" animBg="1" advAuto="0" build="p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Derivação Logarítmica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Derivação Logarítmica</a:t>
            </a:r>
          </a:p>
        </p:txBody>
      </p:sp>
      <p:sp>
        <p:nvSpPr>
          <p:cNvPr id="683" name="Os cálculos de derivadas de funções complicadas envolvendo produtos, quocientes ou potências podem muitas vezes ser simplificados tomando-se os logaritmos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Os cálculos de derivadas de funções complicadas envolvendo produtos, quocientes ou potências podem muitas vezes ser simplificados tomando-se os logaritmos</a:t>
            </a:r>
          </a:p>
          <a:p>
            <a:r>
              <a:t>O método usado no exemplo a seguir é chamado </a:t>
            </a:r>
            <a:r>
              <a:rPr b="1"/>
              <a:t>derivação logarítmica</a:t>
            </a:r>
            <a:endParaRPr b="1"/>
          </a:p>
        </p:txBody>
      </p:sp>
    </p:spTree>
  </p:cSld>
  <p:clrMapOvr>
    <a:masterClrMapping/>
  </p:clrMapOvr>
  <p:transition spd="med"/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defTabSz="374015">
              <a:defRPr sz="5120"/>
            </a:pPr>
            <a:r>
              <a:t>Propriedades da Função Logarítmica</a:t>
            </a:r>
          </a:p>
          <a:p>
            <a:pPr defTabSz="374015">
              <a:defRPr sz="5120"/>
            </a:pPr>
            <a:r>
              <a:t>Revisão</a:t>
            </a:r>
          </a:p>
        </p:txBody>
      </p:sp>
      <p:sp>
        <p:nvSpPr>
          <p:cNvPr id="686" name="Content Placeholder 2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/>
          <a:p>
            <a:r>
              <a:t>Consequências: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87" name="Equação"/>
              <p:cNvSpPr txBox="1"/>
              <p:nvPr/>
            </p:nvSpPr>
            <p:spPr>
              <a:xfrm>
                <a:off x="1533645" y="3280701"/>
                <a:ext cx="3734420" cy="271273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algn="l" defTabSz="914400" latinLnBrk="1">
                  <a:defRPr sz="1800" b="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𝑜</m:t>
                      </m:r>
                      <m:r>
                        <a:rPr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𝑜</m:t>
                      </m:r>
                      <m:r>
                        <a:rPr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𝑜</m:t>
                      </m:r>
                      <m:r>
                        <a:rPr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sz="2400"/>
              </a:p>
            </p:txBody>
          </p:sp>
        </mc:Choice>
        <mc:Fallback>
          <p:sp>
            <p:nvSpPr>
              <p:cNvPr id="687" name="Equaçã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3645" y="3280701"/>
                <a:ext cx="3734420" cy="271273"/>
              </a:xfrm>
              <a:prstGeom prst="rect">
                <a:avLst/>
              </a:prstGeom>
              <a:blipFill rotWithShape="1">
                <a:blip r:embed="rId1"/>
                <a:stretch>
                  <a:fillRect l="-3" t="-107" r="-9502" b="-34724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pt-B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88" name="Equação"/>
              <p:cNvSpPr txBox="1"/>
              <p:nvPr/>
            </p:nvSpPr>
            <p:spPr>
              <a:xfrm>
                <a:off x="1533645" y="3881974"/>
                <a:ext cx="3501248" cy="581560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algn="l" defTabSz="914400" latinLnBrk="1">
                  <a:defRPr sz="1800" b="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𝑜</m:t>
                      </m:r>
                      <m:r>
                        <a:rPr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f>
                        <m:fPr>
                          <m:ctrlPr>
                            <a:rPr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num>
                        <m:den>
                          <m:r>
                            <a:rPr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den>
                      </m:f>
                      <m:r>
                        <a:rPr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𝑜</m:t>
                      </m:r>
                      <m:r>
                        <a:rPr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𝑜</m:t>
                      </m:r>
                      <m:r>
                        <a:rPr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sz="2400"/>
              </a:p>
            </p:txBody>
          </p:sp>
        </mc:Choice>
        <mc:Fallback>
          <p:sp>
            <p:nvSpPr>
              <p:cNvPr id="688" name="Equaçã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3645" y="3881974"/>
                <a:ext cx="3501248" cy="581560"/>
              </a:xfrm>
              <a:prstGeom prst="rect">
                <a:avLst/>
              </a:prstGeom>
              <a:blipFill rotWithShape="1">
                <a:blip r:embed="rId2"/>
                <a:stretch>
                  <a:fillRect l="-3" t="-38" r="-11626" b="-6640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pt-B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89" name="Equação"/>
              <p:cNvSpPr txBox="1"/>
              <p:nvPr/>
            </p:nvSpPr>
            <p:spPr>
              <a:xfrm>
                <a:off x="1533645" y="4793534"/>
                <a:ext cx="2747223" cy="271307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algn="l" defTabSz="914400" latinLnBrk="1">
                  <a:defRPr sz="1800" b="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𝑜</m:t>
                      </m:r>
                      <m:r>
                        <a:rPr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/>
                          </m:ctrlPr>
                        </m:sSupPr>
                        <m:e>
                          <m:r>
                            <a:rPr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p>
                      </m:sSup>
                      <m:r>
                        <a:rPr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𝑜</m:t>
                      </m:r>
                      <m:r>
                        <a:rPr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sz="2400"/>
              </a:p>
            </p:txBody>
          </p:sp>
        </mc:Choice>
        <mc:Fallback>
          <p:sp>
            <p:nvSpPr>
              <p:cNvPr id="689" name="Equaçã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3645" y="4793534"/>
                <a:ext cx="2747223" cy="271307"/>
              </a:xfrm>
              <a:prstGeom prst="rect">
                <a:avLst/>
              </a:prstGeom>
              <a:blipFill rotWithShape="1">
                <a:blip r:embed="rId3"/>
                <a:stretch>
                  <a:fillRect l="-4" t="-204" r="-8818" b="-34610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pt-B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90" name="Equação"/>
              <p:cNvSpPr txBox="1"/>
              <p:nvPr/>
            </p:nvSpPr>
            <p:spPr>
              <a:xfrm>
                <a:off x="1516266" y="7513918"/>
                <a:ext cx="1827640" cy="314838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algn="l" defTabSz="914400" latinLnBrk="1">
                  <a:defRPr sz="1800" b="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sSup>
                        <m:sSupPr>
                          <m:ctrlPr>
                            <a:rPr/>
                          </m:ctrlPr>
                        </m:sSupPr>
                        <m:e>
                          <m:r>
                            <a:rPr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  <m:r>
                            <a:rPr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sz="2400"/>
              </a:p>
            </p:txBody>
          </p:sp>
        </mc:Choice>
        <mc:Fallback>
          <p:sp>
            <p:nvSpPr>
              <p:cNvPr id="690" name="Equaçã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6266" y="7513918"/>
                <a:ext cx="1827640" cy="314838"/>
              </a:xfrm>
              <a:prstGeom prst="rect">
                <a:avLst/>
              </a:prstGeom>
              <a:blipFill rotWithShape="1">
                <a:blip r:embed="rId4"/>
                <a:stretch>
                  <a:fillRect l="-29" t="-190" r="-13134" b="-18606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pt-B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91" name="Equação"/>
              <p:cNvSpPr txBox="1"/>
              <p:nvPr/>
            </p:nvSpPr>
            <p:spPr>
              <a:xfrm>
                <a:off x="1516266" y="6897242"/>
                <a:ext cx="4138548" cy="271307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algn="l" defTabSz="914400" latinLnBrk="1">
                  <a:defRPr sz="1800" b="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𝑜</m:t>
                      </m:r>
                      <m:r>
                        <a:rPr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/>
                          </m:ctrlPr>
                        </m:sSupPr>
                        <m:e>
                          <m:r>
                            <a:rPr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p>
                      </m:sSup>
                      <m:r>
                        <a:rPr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𝑜</m:t>
                      </m:r>
                      <m:r>
                        <a:rPr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𝑜</m:t>
                      </m:r>
                      <m:r>
                        <a:rPr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10</m:t>
                      </m:r>
                      <m:r>
                        <a:rPr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sz="2400"/>
              </a:p>
            </p:txBody>
          </p:sp>
        </mc:Choice>
        <mc:Fallback>
          <p:sp>
            <p:nvSpPr>
              <p:cNvPr id="691" name="Equaçã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6266" y="6897242"/>
                <a:ext cx="4138548" cy="271307"/>
              </a:xfrm>
              <a:prstGeom prst="rect">
                <a:avLst/>
              </a:prstGeom>
              <a:blipFill rotWithShape="1">
                <a:blip r:embed="rId5"/>
                <a:stretch>
                  <a:fillRect l="-13" t="-187" r="-6778" b="-34627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pt-BR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/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Exercício 12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Exercício 12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94" name="Exercício: Derive…"/>
              <p:cNvSpPr txBox="1"/>
              <p:nvPr>
                <p:ph type="body" idx="1"/>
              </p:nvPr>
            </p:nvSpPr>
            <p:spPr>
              <a:prstGeom prst="rect">
                <a:avLst/>
              </a:prstGeom>
            </p:spPr>
            <p:txBody>
              <a:bodyPr/>
              <a:lstStyle/>
              <a:p>
                <a:pPr marL="0" indent="0" defTabSz="496570">
                  <a:spcBef>
                    <a:spcPts val="3500"/>
                  </a:spcBef>
                  <a:buSzTx/>
                  <a:buNone/>
                  <a:tabLst>
                    <a:tab pos="546100" algn="l"/>
                    <a:tab pos="1651000" algn="l"/>
                    <a:tab pos="1854200" algn="l"/>
                  </a:tabLst>
                  <a:defRPr sz="2720"/>
                </a:pPr>
                <a:r>
                  <a:rPr b="1">
                    <a:solidFill>
                      <a:schemeClr val="accent5">
                        <a:hueOff val="-82419"/>
                        <a:satOff val="-9511"/>
                        <a:lumOff val="-16341"/>
                      </a:schemeClr>
                    </a:solidFill>
                  </a:rPr>
                  <a:t>Exercício:</a:t>
                </a:r>
                <a:r>
                  <a:t> Derive </a:t>
                </a:r>
                <a14:m>
                  <m:oMath xmlns:m="http://schemas.openxmlformats.org/officeDocument/2006/math">
                    <m:r>
                      <a:rPr sz="32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sz="32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sz="3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/>
                            </m:ctrlPr>
                          </m:sSupPr>
                          <m:e>
                            <m:r>
                              <a:rPr sz="32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f>
                              <m:fPr>
                                <m:type m:val="lin"/>
                                <m:ctrlPr>
                                  <a:rPr sz="325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sz="325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num>
                              <m:den>
                                <m:r>
                                  <a:rPr sz="325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den>
                            </m:f>
                          </m:sup>
                        </m:sSup>
                        <m:rad>
                          <m:radPr>
                            <m:degHide m:val="on"/>
                            <m:ctrlPr>
                              <a:rPr sz="32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sSupPr>
                                <m:ctrlPr>
                                  <a:rPr/>
                                </m:ctrlPr>
                              </m:sSupPr>
                              <m:e>
                                <m:r>
                                  <a:rPr sz="325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sz="325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sz="32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sz="32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rad>
                      </m:num>
                      <m:den>
                        <m:r>
                          <a:rPr sz="3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sz="3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sz="3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sz="3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sz="3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sSupPr>
                            <m:ctrlPr>
                              <a:rPr/>
                            </m:ctrlPr>
                          </m:sSupPr>
                          <m:e>
                            <m:r>
                              <a:rPr sz="32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sz="32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p>
                        </m:sSup>
                      </m:den>
                    </m:f>
                  </m:oMath>
                </a14:m>
              </a:p>
              <a:p>
                <a:pPr marL="0" indent="0" defTabSz="496570">
                  <a:spcBef>
                    <a:spcPts val="3500"/>
                  </a:spcBef>
                  <a:buSzTx/>
                  <a:buNone/>
                  <a:tabLst>
                    <a:tab pos="546100" algn="l"/>
                    <a:tab pos="1651000" algn="l"/>
                    <a:tab pos="1854200" algn="l"/>
                  </a:tabLst>
                  <a:defRPr sz="2720">
                    <a:solidFill>
                      <a:srgbClr val="00ADEF"/>
                    </a:solidFill>
                  </a:defRPr>
                </a:pPr>
                <a:r>
                  <a:rPr b="1">
                    <a:solidFill>
                      <a:schemeClr val="accent5">
                        <a:hueOff val="-82419"/>
                        <a:satOff val="-9511"/>
                        <a:lumOff val="-16341"/>
                      </a:schemeClr>
                    </a:solidFill>
                  </a:rPr>
                  <a:t>Solução:</a:t>
                </a:r>
                <a:r>
                  <a:rPr>
                    <a:solidFill>
                      <a:srgbClr val="000000"/>
                    </a:solidFill>
                  </a:rPr>
                  <a:t> Tome o logaritmo em ambos os lados da equação e use as Propriedades do Logaritmo para simplificar:</a:t>
                </a:r>
                <a:endParaRPr>
                  <a:solidFill>
                    <a:srgbClr val="000000"/>
                  </a:solidFill>
                </a:endParaRPr>
              </a:p>
              <a:p>
                <a:pPr marL="0" indent="0" algn="ctr" defTabSz="496570">
                  <a:spcBef>
                    <a:spcPts val="3500"/>
                  </a:spcBef>
                  <a:buSzTx/>
                  <a:buNone/>
                  <a:tabLst>
                    <a:tab pos="546100" algn="l"/>
                    <a:tab pos="1651000" algn="l"/>
                    <a:tab pos="1854200" algn="l"/>
                  </a:tabLst>
                  <a:defRPr sz="2720">
                    <a:solidFill>
                      <a:srgbClr val="00ADEF"/>
                    </a:solidFill>
                  </a:defRPr>
                </a:pPr>
                <a14:m>
                  <m:oMath xmlns:m="http://schemas.openxmlformats.org/officeDocument/2006/math">
                    <m:r>
                      <a:rPr sz="33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𝑙</m:t>
                    </m:r>
                    <m:r>
                      <a:rPr sz="33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sz="33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sz="33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sz="33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sz="33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sz="33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sz="33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𝑙</m:t>
                    </m:r>
                    <m:r>
                      <a:rPr sz="33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sz="33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sz="33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sz="33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sz="33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sz="33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sz="33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𝑙</m:t>
                    </m:r>
                    <m:r>
                      <a:rPr sz="33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sz="33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/>
                        </m:ctrlPr>
                      </m:sSupPr>
                      <m:e>
                        <m:r>
                          <a:rPr sz="33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sz="33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sz="33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sz="33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sz="33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sz="33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sz="33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sz="33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𝑙</m:t>
                    </m:r>
                    <m:r>
                      <a:rPr sz="33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sz="33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sz="33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sz="33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sz="33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sz="33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sz="33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>
                    <a:solidFill>
                      <a:srgbClr val="000000"/>
                    </a:solidFill>
                  </a:rPr>
                  <a:t> </a:t>
                </a:r>
                <a:endParaRPr sz="2380"/>
              </a:p>
              <a:p>
                <a:pPr marL="0" indent="0" defTabSz="496570">
                  <a:spcBef>
                    <a:spcPts val="3500"/>
                  </a:spcBef>
                  <a:buSzTx/>
                  <a:buNone/>
                  <a:tabLst>
                    <a:tab pos="546100" algn="l"/>
                    <a:tab pos="1651000" algn="l"/>
                    <a:tab pos="1854200" algn="l"/>
                  </a:tabLst>
                  <a:defRPr sz="2720"/>
                </a:pPr>
                <a:r>
                  <a:t>Derivando implicitamente em relação a </a:t>
                </a:r>
                <a:r>
                  <a:rPr i="1"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rPr>
                  <a:t>x</a:t>
                </a:r>
                <a:r>
                  <a:t>, temos</a:t>
                </a:r>
              </a:p>
              <a:p>
                <a:pPr marL="0" indent="0" algn="ctr" defTabSz="496570">
                  <a:spcBef>
                    <a:spcPts val="3500"/>
                  </a:spcBef>
                  <a:buSzTx/>
                  <a:buNone/>
                  <a:tabLst>
                    <a:tab pos="546100" algn="l"/>
                    <a:tab pos="1651000" algn="l"/>
                    <a:tab pos="1854200" algn="l"/>
                  </a:tabLst>
                  <a:defRPr sz="2720"/>
                </a:pPr>
                <a14:m>
                  <m:oMath xmlns:m="http://schemas.openxmlformats.org/officeDocument/2006/math">
                    <m:f>
                      <m:fPr>
                        <m:ctrlPr>
                          <a:rPr sz="3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sz="3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sz="3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f>
                      <m:fPr>
                        <m:ctrlPr>
                          <a:rPr sz="3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sz="3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sz="3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sz="3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sz="3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sz="32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sz="3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sz="3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sz="3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f>
                      <m:fPr>
                        <m:ctrlPr>
                          <a:rPr sz="3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sz="3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sz="3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sz="32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sz="3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sz="3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sz="3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f>
                      <m:fPr>
                        <m:ctrlPr>
                          <a:rPr sz="3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sz="3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sz="3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sSup>
                          <m:sSupPr>
                            <m:ctrlPr>
                              <a:rPr/>
                            </m:ctrlPr>
                          </m:sSupPr>
                          <m:e>
                            <m:r>
                              <a:rPr sz="32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sz="32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sz="3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sz="3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a:rPr sz="32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sz="32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5</m:t>
                    </m:r>
                    <m:f>
                      <m:fPr>
                        <m:ctrlPr>
                          <a:rPr sz="3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sz="3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sz="3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sz="3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sz="3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sz="3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t> </a:t>
                </a:r>
                <a:endParaRPr sz="3200"/>
              </a:p>
            </p:txBody>
          </p:sp>
        </mc:Choice>
        <mc:Fallback>
          <p:sp>
            <p:nvSpPr>
              <p:cNvPr id="694" name="Exercício: Derive…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prstGeom prst="rect">
                <a:avLst/>
              </a:prstGeom>
              <a:blipFill rotWithShape="1">
                <a:blip r:embed="rId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dur="indefinite" fill="hold"/>
                                        <p:tgtEl>
                                          <p:spTgt spid="69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69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9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dur="indefinite" fill="hold"/>
                                        <p:tgtEl>
                                          <p:spTgt spid="69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9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9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4" grpId="1" bldLvl="5" animBg="1" advAuto="0" build="p"/>
    </p:bld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Exercício 12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Exercício 12</a:t>
            </a:r>
          </a:p>
        </p:txBody>
      </p:sp>
      <p:sp>
        <p:nvSpPr>
          <p:cNvPr id="697" name="Isolando para dy/dx, obtemos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 anchor="t"/>
          <a:lstStyle/>
          <a:p>
            <a:pPr>
              <a:tabLst>
                <a:tab pos="647700" algn="l"/>
                <a:tab pos="1943100" algn="l"/>
                <a:tab pos="2184400" algn="l"/>
              </a:tabLst>
            </a:pPr>
            <a:r>
              <a:t>Isolando para </a:t>
            </a:r>
            <a:r>
              <a:rPr i="1"/>
              <a:t>dy</a:t>
            </a:r>
            <a:r>
              <a:t>/</a:t>
            </a:r>
            <a:r>
              <a:rPr i="1"/>
              <a:t>dx</a:t>
            </a:r>
            <a:r>
              <a:t>, obtemos</a:t>
            </a:r>
          </a:p>
          <a:p>
            <a:pPr>
              <a:tabLst>
                <a:tab pos="647700" algn="l"/>
                <a:tab pos="1943100" algn="l"/>
                <a:tab pos="2184400" algn="l"/>
              </a:tabLst>
            </a:pPr>
          </a:p>
          <a:p>
            <a:pPr>
              <a:tabLst>
                <a:tab pos="647700" algn="l"/>
                <a:tab pos="1943100" algn="l"/>
                <a:tab pos="2184400" algn="l"/>
              </a:tabLst>
            </a:pPr>
          </a:p>
          <a:p>
            <a:pPr>
              <a:tabLst>
                <a:tab pos="647700" algn="l"/>
                <a:tab pos="1943100" algn="l"/>
                <a:tab pos="2184400" algn="l"/>
              </a:tabLst>
            </a:pPr>
            <a:r>
              <a:t>Como temos uma expressão explícita para </a:t>
            </a:r>
            <a:r>
              <a:rPr i="1"/>
              <a:t>y</a:t>
            </a:r>
            <a:r>
              <a:t>, podemos substituí-lo por ela e escrever</a:t>
            </a:r>
          </a:p>
        </p:txBody>
      </p:sp>
      <p:pic>
        <p:nvPicPr>
          <p:cNvPr id="698" name="image.png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25520" y="3707427"/>
            <a:ext cx="5953761" cy="129822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699" name="image.png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4195" y="7257070"/>
            <a:ext cx="7956410" cy="1235005"/>
          </a:xfrm>
          <a:prstGeom prst="rect">
            <a:avLst/>
          </a:prstGeom>
          <a:ln w="12700">
            <a:miter lim="400000"/>
            <a:headEnd/>
            <a:tailEnd/>
          </a:ln>
        </p:spPr>
      </p:pic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dur="indefinite" fill="hold"/>
                                        <p:tgtEl>
                                          <p:spTgt spid="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6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2" presetClass="entr" presetSubtype="4" fill="hold" grpId="2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dur="indefinite" fill="hold"/>
                                        <p:tgtEl>
                                          <p:spTgt spid="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6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9" grpId="2" animBg="1" advAuto="0"/>
      <p:bldP spid="697" grpId="1" animBg="1" advAuto="0"/>
    </p:bld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Derivação Logarítmica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Derivação Logarítmica</a:t>
            </a:r>
          </a:p>
        </p:txBody>
      </p:sp>
      <p:sp>
        <p:nvSpPr>
          <p:cNvPr id="702" name="Passos na Derivação Logarítmica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 anchor="t"/>
          <a:lstStyle/>
          <a:p>
            <a:pPr marL="0" indent="0">
              <a:buSzTx/>
              <a:buNone/>
              <a:defRPr b="1"/>
            </a:pPr>
            <a:r>
              <a:t>Passos na Derivação Logarítmica</a:t>
            </a:r>
          </a:p>
          <a:p>
            <a:pPr marL="635000" indent="-635000">
              <a:buSzPct val="100000"/>
              <a:buAutoNum type="arabicPeriod"/>
            </a:pPr>
            <a:r>
              <a:t>Tome o logaritmo natural em ambos os lados de uma equação y=f(x) e use as Propriedades dos Logaritmos para simplificar</a:t>
            </a:r>
          </a:p>
          <a:p>
            <a:pPr marL="635000" indent="-635000">
              <a:buSzPct val="100000"/>
              <a:buAutoNum type="arabicPeriod"/>
            </a:pPr>
            <a:r>
              <a:t>Derive Implicitamente em relação a x</a:t>
            </a:r>
          </a:p>
          <a:p>
            <a:pPr marL="635000" indent="-635000">
              <a:buSzPct val="100000"/>
              <a:buAutoNum type="arabicPeriod"/>
            </a:pPr>
            <a:r>
              <a:t>Isole y’ na equação resultate</a:t>
            </a:r>
          </a:p>
        </p:txBody>
      </p:sp>
    </p:spTree>
  </p:cSld>
  <p:clrMapOvr>
    <a:masterClrMapping/>
  </p:clrMapOvr>
  <p:transition spd="med"/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Fórmulas de Derivação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Fórmulas de Derivação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05" name="Corpo"/>
              <p:cNvSpPr txBox="1"/>
              <p:nvPr>
                <p:ph type="body" idx="1"/>
              </p:nvPr>
            </p:nvSpPr>
            <p:spPr>
              <a:xfrm>
                <a:off x="83515" y="1733550"/>
                <a:ext cx="12856498" cy="7920528"/>
              </a:xfrm>
              <a:prstGeom prst="rect">
                <a:avLst/>
              </a:prstGeom>
            </p:spPr>
            <p:txBody>
              <a:bodyPr numCol="2" spcCol="642824" anchor="t"/>
              <a:lstStyle/>
              <a:p>
                <a:pPr marL="349250" indent="-349250" defTabSz="321310">
                  <a:spcBef>
                    <a:spcPts val="2300"/>
                  </a:spcBef>
                  <a:buSzPct val="100000"/>
                  <a:buAutoNum type="arabicPeriod"/>
                  <a:defRPr sz="1760"/>
                </a:pPr>
                <a14:m>
                  <m:oMath xmlns:m="http://schemas.openxmlformats.org/officeDocument/2006/math">
                    <m:f>
                      <m:fPr>
                        <m:ctrlPr>
                          <a:rPr sz="21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sz="21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sz="21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sz="21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sz="2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sz="2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sz="2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sz="2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sz="2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</a:p>
              <a:p>
                <a:pPr marL="349250" indent="-349250" defTabSz="321310">
                  <a:spcBef>
                    <a:spcPts val="2300"/>
                  </a:spcBef>
                  <a:buSzPct val="100000"/>
                  <a:buAutoNum type="arabicPeriod"/>
                  <a:defRPr sz="1760"/>
                </a:pPr>
                <a14:m>
                  <m:oMath xmlns:m="http://schemas.openxmlformats.org/officeDocument/2006/math">
                    <m:f>
                      <m:fPr>
                        <m:ctrlPr>
                          <a:rPr sz="21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sz="21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sz="21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sz="21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sz="2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/>
                        </m:ctrlPr>
                      </m:sSupPr>
                      <m:e>
                        <m:r>
                          <a:rPr sz="21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sz="21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sz="2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sz="2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sz="2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sSup>
                      <m:sSupPr>
                        <m:ctrlPr>
                          <a:rPr/>
                        </m:ctrlPr>
                      </m:sSupPr>
                      <m:e>
                        <m:r>
                          <a:rPr sz="21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sz="21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sz="21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sz="21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</a:p>
              <a:p>
                <a:pPr marL="349250" indent="-349250" defTabSz="321310">
                  <a:spcBef>
                    <a:spcPts val="2300"/>
                  </a:spcBef>
                  <a:buSzPct val="100000"/>
                  <a:buAutoNum type="arabicPeriod"/>
                  <a:defRPr sz="1760"/>
                </a:pPr>
                <a14:m>
                  <m:oMath xmlns:m="http://schemas.openxmlformats.org/officeDocument/2006/math">
                    <m:f>
                      <m:fPr>
                        <m:ctrlPr>
                          <a:rPr sz="21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sz="21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sz="21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sz="21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sz="2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/>
                        </m:ctrlPr>
                      </m:sSupPr>
                      <m:e>
                        <m:r>
                          <a:rPr sz="21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sz="21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a:rPr sz="2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sz="2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/>
                        </m:ctrlPr>
                      </m:sSupPr>
                      <m:e>
                        <m:r>
                          <a:rPr sz="21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sz="21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</a:p>
              <a:p>
                <a:pPr marL="349250" indent="-349250" defTabSz="321310">
                  <a:spcBef>
                    <a:spcPts val="2300"/>
                  </a:spcBef>
                  <a:buSzPct val="100000"/>
                  <a:buAutoNum type="arabicPeriod"/>
                  <a:defRPr sz="1760"/>
                </a:pPr>
                <a14:m>
                  <m:oMath xmlns:m="http://schemas.openxmlformats.org/officeDocument/2006/math">
                    <m:r>
                      <a:rPr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sSup>
                      <m:sSupPr>
                        <m:ctrlPr>
                          <a:rPr/>
                        </m:ctrlPr>
                      </m:sSupPr>
                      <m:e>
                        <m:r>
                          <a:rPr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sSup>
                      <m:sSupPr>
                        <m:ctrlPr>
                          <a:rPr/>
                        </m:ctrlPr>
                      </m:sSupPr>
                      <m:e>
                        <m:r>
                          <a:rPr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</a:p>
              <a:p>
                <a:pPr marL="349250" indent="-349250" defTabSz="321310">
                  <a:spcBef>
                    <a:spcPts val="2300"/>
                  </a:spcBef>
                  <a:buSzPct val="100000"/>
                  <a:buAutoNum type="arabicPeriod"/>
                  <a:defRPr sz="1760"/>
                </a:pPr>
                <a14:m>
                  <m:oMath xmlns:m="http://schemas.openxmlformats.org/officeDocument/2006/math">
                    <m:r>
                      <a:rPr sz="2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sz="2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sz="2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sz="2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sSup>
                      <m:sSupPr>
                        <m:ctrlPr>
                          <a:rPr/>
                        </m:ctrlPr>
                      </m:sSupPr>
                      <m:e>
                        <m:r>
                          <a:rPr sz="21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sz="21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sz="2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/>
                        </m:ctrlPr>
                      </m:sSupPr>
                      <m:e>
                        <m:r>
                          <a:rPr sz="21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sz="21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sz="2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/>
                        </m:ctrlPr>
                      </m:sSupPr>
                      <m:e>
                        <m:r>
                          <a:rPr sz="21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a:rPr sz="21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</a:p>
              <a:p>
                <a:pPr marL="349250" indent="-349250" defTabSz="321310">
                  <a:spcBef>
                    <a:spcPts val="2300"/>
                  </a:spcBef>
                  <a:buSzPct val="100000"/>
                  <a:buAutoNum type="arabicPeriod"/>
                  <a:defRPr sz="1760"/>
                </a:pPr>
                <a14:m>
                  <m:oMath xmlns:m="http://schemas.openxmlformats.org/officeDocument/2006/math">
                    <m:r>
                      <a:rPr sz="2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sz="2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sz="2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sz="2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sSup>
                      <m:sSupPr>
                        <m:ctrlPr>
                          <a:rPr/>
                        </m:ctrlPr>
                      </m:sSupPr>
                      <m:e>
                        <m:r>
                          <a:rPr sz="21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sz="21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sz="2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/>
                        </m:ctrlPr>
                      </m:sSupPr>
                      <m:e>
                        <m:r>
                          <a:rPr sz="21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sz="21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sz="2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/>
                        </m:ctrlPr>
                      </m:sSupPr>
                      <m:e>
                        <m:r>
                          <a:rPr sz="21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a:rPr sz="21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</a:p>
              <a:p>
                <a:pPr marL="349250" indent="-349250" defTabSz="321310">
                  <a:spcBef>
                    <a:spcPts val="2300"/>
                  </a:spcBef>
                  <a:buSzPct val="100000"/>
                  <a:buAutoNum type="arabicPeriod"/>
                  <a:defRPr sz="1760"/>
                </a:pPr>
                <a14:m>
                  <m:oMath xmlns:m="http://schemas.openxmlformats.org/officeDocument/2006/math">
                    <m:r>
                      <a:rPr sz="2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sz="2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sz="2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sSup>
                      <m:sSupPr>
                        <m:ctrlPr>
                          <a:rPr/>
                        </m:ctrlPr>
                      </m:sSupPr>
                      <m:e>
                        <m:r>
                          <a:rPr sz="21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sz="21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sz="2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sz="2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sSup>
                      <m:sSupPr>
                        <m:ctrlPr>
                          <a:rPr/>
                        </m:ctrlPr>
                      </m:sSupPr>
                      <m:e>
                        <m:r>
                          <a:rPr sz="21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a:rPr sz="21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sz="2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sz="2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sSup>
                      <m:sSupPr>
                        <m:ctrlPr>
                          <a:rPr/>
                        </m:ctrlPr>
                      </m:sSupPr>
                      <m:e>
                        <m:r>
                          <a:rPr sz="21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sz="21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</a:p>
              <a:p>
                <a:pPr marL="349250" indent="-349250" defTabSz="321310">
                  <a:spcBef>
                    <a:spcPts val="2300"/>
                  </a:spcBef>
                  <a:buSzPct val="100000"/>
                  <a:buAutoNum type="arabicPeriod"/>
                  <a:defRPr sz="1760"/>
                </a:pPr>
                <a14:m>
                  <m:oMath xmlns:m="http://schemas.openxmlformats.org/officeDocument/2006/math">
                    <m:r>
                      <a:rPr sz="2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f>
                      <m:fPr>
                        <m:ctrlPr>
                          <a:rPr sz="21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sz="21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num>
                      <m:den>
                        <m:r>
                          <a:rPr sz="21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den>
                    </m:f>
                    <m:sSup>
                      <m:sSupPr>
                        <m:ctrlPr>
                          <a:rPr/>
                        </m:ctrlPr>
                      </m:sSupPr>
                      <m:e>
                        <m:r>
                          <a:rPr sz="21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sz="21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sz="2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sz="21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sz="21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  <m:sSup>
                          <m:sSupPr>
                            <m:ctrlPr>
                              <a:rPr/>
                            </m:ctrlPr>
                          </m:sSupPr>
                          <m:e>
                            <m:r>
                              <a:rPr sz="21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a:rPr sz="21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sz="21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sz="21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sSup>
                          <m:sSupPr>
                            <m:ctrlPr>
                              <a:rPr/>
                            </m:ctrlPr>
                          </m:sSupPr>
                          <m:e>
                            <m:r>
                              <a:rPr sz="21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p>
                            <m:r>
                              <a:rPr sz="21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/>
                            </m:ctrlPr>
                          </m:sSupPr>
                          <m:e>
                            <m:r>
                              <a:rPr sz="21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p>
                            <m:r>
                              <a:rPr sz="21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</a:p>
              <a:p>
                <a:pPr marL="349250" indent="-349250" defTabSz="321310">
                  <a:spcBef>
                    <a:spcPts val="2300"/>
                  </a:spcBef>
                  <a:buSzPct val="100000"/>
                  <a:buAutoNum type="arabicPeriod"/>
                  <a:defRPr sz="1760"/>
                </a:pPr>
                <a14:m>
                  <m:oMath xmlns:m="http://schemas.openxmlformats.org/officeDocument/2006/math">
                    <m:r>
                      <a:rPr sz="2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sz="2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sz="2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sz="2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sSup>
                      <m:sSupPr>
                        <m:ctrlPr>
                          <a:rPr/>
                        </m:ctrlPr>
                      </m:sSupPr>
                      <m:e>
                        <m:r>
                          <a:rPr sz="21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sz="21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sz="2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sz="2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sz="2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sz="2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sz="2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a:rPr sz="2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sz="2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sz="2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sSupPr>
                        <m:ctrlPr>
                          <a:rPr/>
                        </m:ctrlPr>
                      </m:sSupPr>
                      <m:e>
                        <m:r>
                          <a:rPr sz="21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sz="21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sz="2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/>
                        </m:ctrlPr>
                      </m:sSupPr>
                      <m:e>
                        <m:r>
                          <a:rPr sz="21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sz="21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sz="2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sz="2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a:rPr sz="2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sz="2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sz="2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sz="2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sz="2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.</m:t>
                    </m:r>
                    <m:sSup>
                      <m:sSupPr>
                        <m:ctrlPr>
                          <a:rPr/>
                        </m:ctrlPr>
                      </m:sSupPr>
                      <m:e>
                        <m:r>
                          <a:rPr sz="21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a:rPr sz="21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sz="2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sz="2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sz="2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</a:p>
              <a:p>
                <a:pPr marL="349250" indent="-349250" defTabSz="321310">
                  <a:spcBef>
                    <a:spcPts val="2300"/>
                  </a:spcBef>
                  <a:buSzPct val="100000"/>
                  <a:buAutoNum type="arabicPeriod"/>
                  <a:defRPr sz="1760"/>
                </a:pPr>
                <a14:m>
                  <m:oMath xmlns:m="http://schemas.openxmlformats.org/officeDocument/2006/math">
                    <m:r>
                      <a:rPr sz="2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sz="2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a:rPr sz="2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sz="2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sSupPr>
                        <m:ctrlPr>
                          <a:rPr/>
                        </m:ctrlPr>
                      </m:sSupPr>
                      <m:e>
                        <m:r>
                          <a:rPr sz="21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sz="21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p>
                      <m:sSupPr>
                        <m:ctrlPr>
                          <a:rPr/>
                        </m:ctrlPr>
                      </m:sSupPr>
                      <m:e>
                        <m:r>
                          <a:rPr sz="21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sz="21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sz="2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sz="2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sz="2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sz="2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a:rPr sz="2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sz="2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sz="2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sSupPr>
                        <m:ctrlPr>
                          <a:rPr/>
                        </m:ctrlPr>
                      </m:sSupPr>
                      <m:e>
                        <m:r>
                          <a:rPr sz="21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]</m:t>
                        </m:r>
                      </m:e>
                      <m:sup>
                        <m:r>
                          <a:rPr sz="21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sz="21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sz="21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sSup>
                      <m:sSupPr>
                        <m:ctrlPr>
                          <a:rPr/>
                        </m:ctrlPr>
                      </m:sSupPr>
                      <m:e>
                        <m:r>
                          <a:rPr sz="21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a:rPr sz="21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sz="2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sz="2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sz="2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</a:p>
              <a:p>
                <a:pPr marL="349250" indent="-349250" defTabSz="321310">
                  <a:spcBef>
                    <a:spcPts val="2300"/>
                  </a:spcBef>
                  <a:buSzPct val="100000"/>
                  <a:buAutoNum type="arabicPeriod"/>
                  <a:defRPr sz="1760"/>
                </a:pPr>
                <a14:m>
                  <m:oMath xmlns:m="http://schemas.openxmlformats.org/officeDocument/2006/math">
                    <m:r>
                      <a:rPr sz="2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/>
                        </m:ctrlPr>
                      </m:sSupPr>
                      <m:e>
                        <m:r>
                          <a:rPr sz="21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sz="21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sSup>
                      <m:sSupPr>
                        <m:ctrlPr>
                          <a:rPr/>
                        </m:ctrlPr>
                      </m:sSupPr>
                      <m:e>
                        <m:r>
                          <a:rPr sz="21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sz="21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sz="2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sz="2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𝑙</m:t>
                    </m:r>
                    <m:r>
                      <a:rPr sz="2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sz="2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sz="2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sz="2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sz="2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.</m:t>
                    </m:r>
                    <m:sSup>
                      <m:sSupPr>
                        <m:ctrlPr>
                          <a:rPr/>
                        </m:ctrlPr>
                      </m:sSupPr>
                      <m:e>
                        <m:r>
                          <a:rPr sz="21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sz="21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1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_x001B_</a:t>
                </a:r>
                <a:br>
                  <a:rPr sz="21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21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/>
                          </m:ctrlPr>
                        </m:sSupPr>
                        <m:e>
                          <m:r>
                            <a:rPr sz="21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sz="21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  <m:sSup>
                        <m:sSupPr>
                          <m:ctrlPr>
                            <a:rPr/>
                          </m:ctrlPr>
                        </m:sSupPr>
                        <m:e>
                          <m:r>
                            <a:rPr sz="21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sz="21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sz="21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/>
                          </m:ctrlPr>
                        </m:sSupPr>
                        <m:e>
                          <m:r>
                            <a:rPr sz="21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sz="21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</m:oMath>
                  </m:oMathPara>
                </a14:m>
              </a:p>
              <a:p>
                <a:pPr marL="349250" indent="-349250" defTabSz="321310">
                  <a:spcBef>
                    <a:spcPts val="2300"/>
                  </a:spcBef>
                  <a:buSzPct val="100000"/>
                  <a:buAutoNum type="arabicPeriod"/>
                  <a:defRPr sz="1760"/>
                </a:pPr>
                <a14:m>
                  <m:oMath xmlns:m="http://schemas.openxmlformats.org/officeDocument/2006/math">
                    <m:r>
                      <a:rPr sz="2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sz="2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𝑙</m:t>
                    </m:r>
                    <m:r>
                      <a:rPr sz="2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𝑜</m:t>
                    </m:r>
                    <m:sSub>
                      <m:sSubPr>
                        <m:ctrlPr>
                          <a:rPr/>
                        </m:ctrlPr>
                      </m:sSubPr>
                      <m:e>
                        <m:r>
                          <a:rPr sz="21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sz="21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sz="2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sSupPr>
                        <m:ctrlPr>
                          <a:rPr/>
                        </m:ctrlPr>
                      </m:sSupPr>
                      <m:e>
                        <m:r>
                          <a:rPr sz="21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sz="21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sz="2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sz="21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sz="21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sz="21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sz="21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sz="21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sz="21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sz="21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sz="21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1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_x001B_</a:t>
                </a:r>
                <a:br>
                  <a:rPr sz="21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21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sz="21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sz="21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sz="21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sSup>
                        <m:sSupPr>
                          <m:ctrlPr>
                            <a:rPr/>
                          </m:ctrlPr>
                        </m:sSupPr>
                        <m:e>
                          <m:r>
                            <a:rPr sz="21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sz="21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sz="21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sz="21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sz="21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sz="21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</m:oMath>
                  </m:oMathPara>
                </a14:m>
              </a:p>
              <a:p>
                <a:pPr marL="349250" indent="-349250" defTabSz="321310">
                  <a:lnSpc>
                    <a:spcPct val="115000"/>
                  </a:lnSpc>
                  <a:spcBef>
                    <a:spcPts val="2300"/>
                  </a:spcBef>
                  <a:buSzPct val="100000"/>
                  <a:buAutoNum type="arabicPeriod"/>
                  <a:defRPr sz="1760"/>
                </a:pPr>
                <a14:m>
                  <m:oMath xmlns:m="http://schemas.openxmlformats.org/officeDocument/2006/math">
                    <m:f>
                      <m:fPr>
                        <m:ctrlPr>
                          <a:rPr sz="21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sz="21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sz="21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sz="21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sz="2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sz="2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sz="2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a:rPr sz="2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sz="2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sz="2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sz="2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sz="2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sz="2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𝑜</m:t>
                    </m:r>
                    <m:r>
                      <a:rPr sz="2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sz="2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</a:p>
              <a:p>
                <a:pPr marL="349250" indent="-349250" defTabSz="321310">
                  <a:lnSpc>
                    <a:spcPct val="115000"/>
                  </a:lnSpc>
                  <a:spcBef>
                    <a:spcPts val="2300"/>
                  </a:spcBef>
                  <a:buSzPct val="100000"/>
                  <a:buAutoNum type="arabicPeriod"/>
                  <a:defRPr sz="1760"/>
                </a:pPr>
                <a14:m>
                  <m:oMath xmlns:m="http://schemas.openxmlformats.org/officeDocument/2006/math">
                    <m:f>
                      <m:fPr>
                        <m:ctrlPr>
                          <a:rPr sz="21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sz="21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sz="21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sz="21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sz="2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sz="2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sz="2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𝑜</m:t>
                    </m:r>
                    <m:r>
                      <a:rPr sz="2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sz="2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sz="2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sz="2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sz="2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sz="2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sz="2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a:rPr sz="2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sz="2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</a:p>
              <a:p>
                <a:pPr marL="349250" indent="-349250" defTabSz="321310">
                  <a:lnSpc>
                    <a:spcPct val="115000"/>
                  </a:lnSpc>
                  <a:spcBef>
                    <a:spcPts val="2300"/>
                  </a:spcBef>
                  <a:buSzPct val="100000"/>
                  <a:buAutoNum type="arabicPeriod"/>
                  <a:defRPr sz="1760"/>
                </a:pPr>
                <a14:m>
                  <m:oMath xmlns:m="http://schemas.openxmlformats.org/officeDocument/2006/math">
                    <m:f>
                      <m:fPr>
                        <m:ctrlPr>
                          <a:rPr sz="21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sz="21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sz="21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sz="21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sz="2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sz="2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sz="2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a:rPr sz="2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sz="2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sz="2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sz="2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sz="2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sSup>
                      <m:sSupPr>
                        <m:ctrlPr>
                          <a:rPr/>
                        </m:ctrlPr>
                      </m:sSupPr>
                      <m:e>
                        <m:r>
                          <a:rPr sz="21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sz="21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sz="2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</a:p>
              <a:p>
                <a:pPr marL="349250" indent="-349250" defTabSz="321310">
                  <a:lnSpc>
                    <a:spcPct val="115000"/>
                  </a:lnSpc>
                  <a:spcBef>
                    <a:spcPts val="2300"/>
                  </a:spcBef>
                  <a:buSzPct val="100000"/>
                  <a:buAutoNum type="arabicPeriod"/>
                  <a:defRPr sz="1760"/>
                </a:pPr>
                <a14:m>
                  <m:oMath xmlns:m="http://schemas.openxmlformats.org/officeDocument/2006/math">
                    <m:f>
                      <m:fPr>
                        <m:ctrlPr>
                          <a:rPr sz="2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sz="2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sz="2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sz="2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sz="2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sz="2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sz="2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𝑜</m:t>
                    </m:r>
                    <m:r>
                      <a:rPr sz="2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sz="2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sz="2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a:rPr sz="2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sz="2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sz="2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sz="2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sz="2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sz="2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sz="2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𝑜</m:t>
                    </m:r>
                    <m:r>
                      <a:rPr sz="2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sz="2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sz="2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a:rPr sz="2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sz="2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sz="2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sz="2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𝑜</m:t>
                    </m:r>
                    <m:r>
                      <a:rPr sz="2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sz="2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a:rPr sz="2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</a:p>
              <a:p>
                <a:pPr marL="349250" indent="-349250" defTabSz="321310">
                  <a:lnSpc>
                    <a:spcPct val="115000"/>
                  </a:lnSpc>
                  <a:spcBef>
                    <a:spcPts val="2300"/>
                  </a:spcBef>
                  <a:buSzPct val="100000"/>
                  <a:buAutoNum type="arabicPeriod"/>
                  <a:defRPr sz="1760"/>
                </a:pPr>
                <a14:m>
                  <m:oMath xmlns:m="http://schemas.openxmlformats.org/officeDocument/2006/math">
                    <m:f>
                      <m:fPr>
                        <m:ctrlPr>
                          <a:rPr sz="21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sz="21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sz="21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sz="21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sz="2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sz="2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sz="2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a:rPr sz="2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sz="2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sz="2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sz="2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sz="2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sz="2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a:rPr sz="2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sz="2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sz="2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sz="2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a:rPr sz="2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</a:p>
              <a:p>
                <a:pPr marL="349250" indent="-349250" defTabSz="321310">
                  <a:lnSpc>
                    <a:spcPct val="115000"/>
                  </a:lnSpc>
                  <a:spcBef>
                    <a:spcPts val="2300"/>
                  </a:spcBef>
                  <a:buSzPct val="100000"/>
                  <a:buAutoNum type="arabicPeriod"/>
                  <a:defRPr sz="1760"/>
                </a:pPr>
                <a14:m>
                  <m:oMath xmlns:m="http://schemas.openxmlformats.org/officeDocument/2006/math">
                    <m:f>
                      <m:fPr>
                        <m:ctrlPr>
                          <a:rPr sz="2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sz="2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sz="2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sz="2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sz="2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sz="2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sz="2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𝑜</m:t>
                    </m:r>
                    <m:r>
                      <a:rPr sz="2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sz="2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a:rPr sz="2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sz="2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sz="2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sz="2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sz="2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sz="2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𝑜</m:t>
                    </m:r>
                    <m:r>
                      <a:rPr sz="2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sz="2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sz="2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sSup>
                      <m:sSupPr>
                        <m:ctrlPr>
                          <a:rPr/>
                        </m:ctrlPr>
                      </m:sSupPr>
                      <m:e>
                        <m:r>
                          <a:rPr sz="2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sz="2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sz="2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sz="3200"/>
              </a:p>
            </p:txBody>
          </p:sp>
        </mc:Choice>
        <mc:Fallback>
          <p:sp>
            <p:nvSpPr>
              <p:cNvPr id="705" name="Corpo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83515" y="1733550"/>
                <a:ext cx="12856498" cy="7920528"/>
              </a:xfrm>
              <a:prstGeom prst="rect">
                <a:avLst/>
              </a:prstGeom>
              <a:blipFill rotWithShape="1">
                <a:blip r:embed="rId1"/>
                <a:stretch>
                  <a:fillRect l="-3" r="5" b="-68480"/>
                </a:stretch>
              </a:blipFill>
            </p:spPr>
            <p:txBody>
              <a:bodyPr/>
              <a:lstStyle/>
              <a:p>
                <a:r>
                  <a:rPr lang="pt-BR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/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7" name="Imagem" descr="Image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16376" y="3827178"/>
            <a:ext cx="8517533" cy="476600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708" name="Aplicações da  Derivada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sz="3300"/>
            </a:pPr>
            <a:r>
              <a:t>Aplicações da </a:t>
            </a:r>
            <a:br/>
            <a:r>
              <a:t>Derivada</a:t>
            </a:r>
          </a:p>
        </p:txBody>
      </p:sp>
      <p:sp>
        <p:nvSpPr>
          <p:cNvPr id="709" name="Próxima Aula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Próxima Aula</a:t>
            </a:r>
          </a:p>
        </p:txBody>
      </p:sp>
    </p:spTree>
  </p:cSld>
  <p:clrMapOvr>
    <a:masterClrMapping/>
  </p:clrMapOvr>
  <p:transition spd="med"/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Stewart, J. (2013). Cálculo, vol. 1, 7ª edição. Editora Thompson, 34.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342265" indent="-342265" defTabSz="449580">
              <a:spcBef>
                <a:spcPts val="3200"/>
              </a:spcBef>
              <a:defRPr sz="2465"/>
            </a:pPr>
            <a:r>
              <a:t>Stewart, J. (2013). Cálculo, vol. 1, 7ª edição. Editora Thompson, 34.</a:t>
            </a:r>
          </a:p>
          <a:p>
            <a:pPr marL="342265" indent="-342265" defTabSz="449580">
              <a:spcBef>
                <a:spcPts val="3200"/>
              </a:spcBef>
              <a:defRPr sz="2465"/>
            </a:pPr>
            <a:r>
              <a:t>Material didático, CENGAGE, Stewart, J. (2013). Cálculo, vol. 1, 7ª edição.</a:t>
            </a:r>
            <a:br/>
            <a:r>
              <a:rPr u="sng"/>
              <a:t>http://www.cengage.com.br</a:t>
            </a:r>
            <a:endParaRPr u="sng"/>
          </a:p>
          <a:p>
            <a:pPr marL="342265" indent="-342265" defTabSz="449580">
              <a:spcBef>
                <a:spcPts val="3200"/>
              </a:spcBef>
              <a:defRPr sz="2465"/>
            </a:pPr>
            <a:r>
              <a:t>Iezzi, G., Murakami, C., Stewart, J., &amp; Learning, E. T. (2004). Fundamentos de Matemática Elementar: Limites, Derivadas, Noções de Integral, volume 8. São Paulo: Atual Editora.</a:t>
            </a:r>
          </a:p>
          <a:p>
            <a:pPr marL="342265" indent="-342265" defTabSz="449580">
              <a:spcBef>
                <a:spcPts val="3200"/>
              </a:spcBef>
              <a:defRPr sz="2465"/>
            </a:pPr>
            <a:r>
              <a:t>Material didático Matemática Aplicada II, Análise e Desenvolvimento de Sistemas, Tásia do Vale, EAJ-UFRN</a:t>
            </a:r>
          </a:p>
          <a:p>
            <a:pPr marL="342265" indent="-342265" defTabSz="449580">
              <a:spcBef>
                <a:spcPts val="3200"/>
              </a:spcBef>
              <a:defRPr sz="2465"/>
            </a:pPr>
            <a:r>
              <a:t>Ávila, G. (1998). Introdução ao cálculo. Rio de Janeiro: LTC, 3.</a:t>
            </a:r>
          </a:p>
          <a:p>
            <a:pPr marL="342265" indent="-342265" defTabSz="449580">
              <a:spcBef>
                <a:spcPts val="3200"/>
              </a:spcBef>
              <a:defRPr sz="2465"/>
            </a:pPr>
            <a:r>
              <a:t>Barboni, A., &amp; Paulette, W. (2007). Fundamentos de Matemática: Cálculo e Análise. Editora LTC, São Paulo.</a:t>
            </a:r>
          </a:p>
        </p:txBody>
      </p:sp>
      <p:sp>
        <p:nvSpPr>
          <p:cNvPr id="712" name="Referência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Referências</a:t>
            </a:r>
          </a:p>
        </p:txBody>
      </p:sp>
    </p:spTree>
  </p:cSld>
  <p:clrMapOvr>
    <a:masterClrMapping/>
  </p:clrMapOvr>
  <p:transition spd="med"/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4" name="Imagem" descr="Imagem"/>
          <p:cNvPicPr>
            <a:picLocks noChangeAspect="1"/>
          </p:cNvPicPr>
          <p:nvPr>
            <p:ph type="pic" idx="13"/>
          </p:nvPr>
        </p:nvPicPr>
        <p:blipFill>
          <a:blip r:embed="rId1"/>
          <a:srcRect l="2929" r="2929"/>
          <a:stretch>
            <a:fillRect/>
          </a:stretch>
        </p:blipFill>
        <p:spPr>
          <a:xfrm>
            <a:off x="0" y="0"/>
            <a:ext cx="13004800" cy="9753600"/>
          </a:xfrm>
          <a:prstGeom prst="rect">
            <a:avLst/>
          </a:prstGeom>
        </p:spPr>
      </p:pic>
      <p:sp>
        <p:nvSpPr>
          <p:cNvPr id="715" name="EXTRA"/>
          <p:cNvSpPr txBox="1"/>
          <p:nvPr/>
        </p:nvSpPr>
        <p:spPr>
          <a:xfrm>
            <a:off x="5387022" y="4447859"/>
            <a:ext cx="2230756" cy="857882"/>
          </a:xfrm>
          <a:prstGeom prst="rect">
            <a:avLst/>
          </a:prstGeom>
          <a:solidFill>
            <a:srgbClr val="929292"/>
          </a:solidFill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>
            <a:lvl1pPr>
              <a:defRPr sz="5000">
                <a:solidFill>
                  <a:srgbClr val="FFFFFF"/>
                </a:solidFill>
              </a:defRPr>
            </a:lvl1pPr>
          </a:lstStyle>
          <a:p>
            <a:r>
              <a:t>EXTRA</a:t>
            </a:r>
          </a:p>
        </p:txBody>
      </p:sp>
    </p:spTree>
  </p:cSld>
  <p:clrMapOvr>
    <a:masterClrMapping/>
  </p:clrMapOvr>
  <p:transition spd="med"/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" name="Captura de ecrã 2019-08-16, às 10.02.51.png" descr="Captura de ecrã 2019-08-16, às 10.02.5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98613" y="977900"/>
            <a:ext cx="6667501" cy="7797800"/>
          </a:xfrm>
          <a:prstGeom prst="rect">
            <a:avLst/>
          </a:prstGeom>
          <a:ln w="12700">
            <a:miter lim="400000"/>
            <a:headEnd/>
            <a:tailEnd/>
          </a:ln>
        </p:spPr>
      </p:pic>
    </p:spTree>
  </p:cSld>
  <p:clrMapOvr>
    <a:masterClrMapping/>
  </p:clrMapOvr>
  <p:transition spd="med"/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Rectangle 2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A Regra da Cadeia</a:t>
            </a:r>
          </a:p>
        </p:txBody>
      </p:sp>
      <p:sp>
        <p:nvSpPr>
          <p:cNvPr id="720" name="Rectangle 3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 anchor="t"/>
          <a:lstStyle/>
          <a:p>
            <a:r>
              <a:t>Suponha que </a:t>
            </a:r>
            <a:r>
              <a:rPr i="1"/>
              <a:t>y</a:t>
            </a:r>
            <a:r>
              <a:t> = </a:t>
            </a:r>
            <a:r>
              <a:rPr i="1"/>
              <a:t>f</a:t>
            </a:r>
            <a:r>
              <a:t>(</a:t>
            </a:r>
            <a:r>
              <a:rPr i="1"/>
              <a:t>u</a:t>
            </a:r>
            <a:r>
              <a:t>), </a:t>
            </a:r>
            <a:r>
              <a:rPr i="1"/>
              <a:t>u</a:t>
            </a:r>
            <a:r>
              <a:t> = </a:t>
            </a:r>
            <a:r>
              <a:rPr i="1"/>
              <a:t>g</a:t>
            </a:r>
            <a:r>
              <a:t>(</a:t>
            </a:r>
            <a:r>
              <a:rPr i="1"/>
              <a:t>x</a:t>
            </a:r>
            <a:r>
              <a:t>) e </a:t>
            </a:r>
            <a:r>
              <a:rPr i="1"/>
              <a:t>x</a:t>
            </a:r>
            <a:r>
              <a:t> = </a:t>
            </a:r>
            <a:r>
              <a:rPr i="1"/>
              <a:t>h</a:t>
            </a:r>
            <a:r>
              <a:t>(</a:t>
            </a:r>
            <a:r>
              <a:rPr i="1"/>
              <a:t>t</a:t>
            </a:r>
            <a:r>
              <a:t>), onde </a:t>
            </a:r>
            <a:r>
              <a:rPr i="1"/>
              <a:t>f</a:t>
            </a:r>
            <a:r>
              <a:t>, </a:t>
            </a:r>
            <a:r>
              <a:rPr i="1"/>
              <a:t>g</a:t>
            </a:r>
            <a:r>
              <a:t> e </a:t>
            </a:r>
            <a:r>
              <a:rPr i="1"/>
              <a:t>h</a:t>
            </a:r>
            <a:r>
              <a:t> são funções deriváveis. Então, para calcular a derivada de </a:t>
            </a:r>
            <a:r>
              <a:rPr i="1"/>
              <a:t>y</a:t>
            </a:r>
            <a:r>
              <a:t> em relação a </a:t>
            </a:r>
            <a:r>
              <a:rPr i="1"/>
              <a:t>t</a:t>
            </a:r>
            <a:r>
              <a:t>, usamos duas vezes a Regra da Cadeia:</a:t>
            </a:r>
          </a:p>
        </p:txBody>
      </p:sp>
      <p:pic>
        <p:nvPicPr>
          <p:cNvPr id="721" name="Picture 5" descr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88079" y="4791390"/>
            <a:ext cx="5628642" cy="1248551"/>
          </a:xfrm>
          <a:prstGeom prst="rect">
            <a:avLst/>
          </a:prstGeom>
          <a:ln w="12700">
            <a:miter lim="400000"/>
            <a:headEnd/>
            <a:tailEnd/>
          </a:ln>
        </p:spPr>
      </p:pic>
    </p:spTree>
  </p:cSld>
  <p:clrMapOvr>
    <a:masterClrMapping/>
  </p:clrMapOvr>
  <p:transition spd="med"/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Rectangle 2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Demonstração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24" name="Rectangle 3"/>
              <p:cNvSpPr txBox="1"/>
              <p:nvPr>
                <p:ph type="body" idx="1"/>
              </p:nvPr>
            </p:nvSpPr>
            <p:spPr>
              <a:prstGeom prst="rect">
                <a:avLst/>
              </a:prstGeom>
            </p:spPr>
            <p:txBody>
              <a:bodyPr/>
              <a:lstStyle/>
              <a:p>
                <a:pPr marL="355600" indent="-355600" defTabSz="467360">
                  <a:spcBef>
                    <a:spcPts val="3300"/>
                  </a:spcBef>
                  <a:defRPr sz="2560"/>
                </a:pPr>
                <a:r>
                  <a:t>Lembre-se de que, se </a:t>
                </a:r>
                <a:r>
                  <a:rPr i="1"/>
                  <a:t>y</a:t>
                </a:r>
                <a:r>
                  <a:t> = </a:t>
                </a:r>
                <a:r>
                  <a:rPr i="1"/>
                  <a:t>f</a:t>
                </a:r>
                <a:r>
                  <a:t>(</a:t>
                </a:r>
                <a:r>
                  <a:rPr i="1"/>
                  <a:t>x</a:t>
                </a:r>
                <a:r>
                  <a:t>) e </a:t>
                </a:r>
                <a:r>
                  <a:rPr i="1"/>
                  <a:t>x </a:t>
                </a:r>
                <a:r>
                  <a:t>varia de </a:t>
                </a:r>
                <a:r>
                  <a:rPr i="1"/>
                  <a:t>a </a:t>
                </a:r>
                <a:r>
                  <a:t>para </a:t>
                </a:r>
                <a:r>
                  <a:rPr i="1"/>
                  <a:t>a</a:t>
                </a:r>
                <a:r>
                  <a:t> + Δ</a:t>
                </a:r>
                <a:r>
                  <a:rPr i="1"/>
                  <a:t>x</a:t>
                </a:r>
                <a:r>
                  <a:t>, definimos o incremento de </a:t>
                </a:r>
                <a:r>
                  <a:rPr i="1"/>
                  <a:t>y </a:t>
                </a:r>
                <a:r>
                  <a:t>como</a:t>
                </a:r>
              </a:p>
              <a:p>
                <a:pPr marL="711200" lvl="1" indent="-355600" defTabSz="467360">
                  <a:spcBef>
                    <a:spcPts val="3300"/>
                  </a:spcBef>
                  <a:defRPr sz="2560"/>
                </a:pPr>
                <a:r>
                  <a:t>Δ</a:t>
                </a:r>
                <a:r>
                  <a:rPr i="1"/>
                  <a:t>y</a:t>
                </a:r>
                <a:r>
                  <a:t> = </a:t>
                </a:r>
                <a:r>
                  <a:rPr i="1"/>
                  <a:t>f</a:t>
                </a:r>
                <a:r>
                  <a:rPr sz="400"/>
                  <a:t> </a:t>
                </a:r>
                <a:r>
                  <a:t>(</a:t>
                </a:r>
                <a:r>
                  <a:rPr i="1"/>
                  <a:t>a</a:t>
                </a:r>
                <a:r>
                  <a:t> + Δ</a:t>
                </a:r>
                <a:r>
                  <a:rPr i="1"/>
                  <a:t>x</a:t>
                </a:r>
                <a:r>
                  <a:t>) – </a:t>
                </a:r>
                <a:r>
                  <a:rPr i="1"/>
                  <a:t>f</a:t>
                </a:r>
                <a:r>
                  <a:rPr sz="400" i="1"/>
                  <a:t> </a:t>
                </a:r>
                <a:r>
                  <a:t>(</a:t>
                </a:r>
                <a:r>
                  <a:rPr i="1"/>
                  <a:t>a</a:t>
                </a:r>
                <a:r>
                  <a:t>)</a:t>
                </a:r>
              </a:p>
              <a:p>
                <a:pPr marL="355600" indent="-355600" defTabSz="467360">
                  <a:spcBef>
                    <a:spcPts val="3300"/>
                  </a:spcBef>
                  <a:defRPr sz="2560"/>
                </a:pPr>
                <a:r>
                  <a:t>De acordo com a definição de derivada, temos</a:t>
                </a:r>
              </a:p>
              <a:p>
                <a:pPr marL="0" indent="0" algn="ctr" defTabSz="467360">
                  <a:spcBef>
                    <a:spcPts val="3300"/>
                  </a:spcBef>
                  <a:buSzTx/>
                  <a:buNone/>
                  <a:defRPr sz="2560"/>
                </a:pPr>
                <a14:m>
                  <m:oMath xmlns:m="http://schemas.openxmlformats.org/officeDocument/2006/math">
                    <m:r>
                      <a:rPr sz="3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𝑙</m:t>
                    </m:r>
                    <m:r>
                      <a:rPr sz="3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sSub>
                      <m:sSubPr>
                        <m:ctrlPr>
                          <a:rPr/>
                        </m:ctrlPr>
                      </m:sSubPr>
                      <m:e>
                        <m:r>
                          <a:rPr sz="3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m:rPr>
                            <m:sty m:val="p"/>
                          </m:rPr>
                          <a:rPr sz="3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 sz="3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sz="3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sz="3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f>
                      <m:fPr>
                        <m:ctrlPr>
                          <a:rPr sz="3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sz="3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 sz="3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m:rPr>
                            <m:sty m:val="p"/>
                          </m:rPr>
                          <a:rPr sz="3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 sz="3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sz="3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/>
                        </m:ctrlPr>
                      </m:sSupPr>
                      <m:e>
                        <m:r>
                          <a:rPr sz="3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sz="3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sz="3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sz="3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sz="3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t> </a:t>
                </a:r>
              </a:p>
              <a:p>
                <a:pPr marL="355600" indent="-355600" defTabSz="467360">
                  <a:spcBef>
                    <a:spcPts val="3300"/>
                  </a:spcBef>
                  <a:defRPr sz="2560"/>
                </a:pPr>
                <a:r>
                  <a:t>Dessa forma, se denotarmos por </a:t>
                </a:r>
                <a:r>
                  <a:rPr i="1"/>
                  <a:t>ε </a:t>
                </a:r>
                <a:r>
                  <a:t>a diferença entre o quociente de diferenças e a derivada, obteremos </a:t>
                </a:r>
              </a:p>
              <a:p>
                <a:pPr marL="0" indent="0" algn="ctr" defTabSz="467360">
                  <a:spcBef>
                    <a:spcPts val="3300"/>
                  </a:spcBef>
                  <a:buSzTx/>
                  <a:buNone/>
                  <a:defRPr sz="2560"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sz="3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sz="3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sz="3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sz="3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sz="3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sz="3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→</m:t>
                          </m:r>
                          <m:r>
                            <a:rPr sz="3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sz="3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𝜖</m:t>
                      </m:r>
                      <m:r>
                        <a:rPr sz="3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sz="3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sz="3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sz="3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sz="3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sz="3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sz="3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→</m:t>
                          </m:r>
                          <m:r>
                            <a:rPr sz="3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sz="3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f>
                        <m:fPr>
                          <m:ctrlPr>
                            <a:rPr sz="3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sz="3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sz="3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sz="3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sz="3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sz="3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/>
                          </m:ctrlPr>
                        </m:sSupPr>
                        <m:e>
                          <m:r>
                            <a:rPr sz="3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sz="3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sz="3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sz="3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sz="3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sz="3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sz="3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/>
                          </m:ctrlPr>
                        </m:sSupPr>
                        <m:e>
                          <m:r>
                            <a:rPr sz="3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sz="3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sz="3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sz="3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sz="3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sz="3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/>
                          </m:ctrlPr>
                        </m:sSupPr>
                        <m:e>
                          <m:r>
                            <a:rPr sz="3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sz="3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sz="3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sz="3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sz="3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sz="3200"/>
              </a:p>
            </p:txBody>
          </p:sp>
        </mc:Choice>
        <mc:Fallback>
          <p:sp>
            <p:nvSpPr>
              <p:cNvPr id="724" name="Rectangle 3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prstGeom prst="rect">
                <a:avLst/>
              </a:prstGeom>
              <a:blipFill rotWithShape="1">
                <a:blip r:embed="rId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/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Rectangle 2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Demonstração</a:t>
            </a:r>
          </a:p>
        </p:txBody>
      </p:sp>
      <p:sp>
        <p:nvSpPr>
          <p:cNvPr id="727" name="Rectangle 3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0" indent="0" defTabSz="385445">
              <a:spcBef>
                <a:spcPts val="2700"/>
              </a:spcBef>
              <a:buSzTx/>
              <a:buNone/>
              <a:defRPr sz="2110"/>
            </a:pPr>
            <a:r>
              <a:t>Mas</a:t>
            </a:r>
          </a:p>
          <a:p>
            <a:pPr marL="0" indent="0" defTabSz="385445">
              <a:spcBef>
                <a:spcPts val="2700"/>
              </a:spcBef>
              <a:buSzTx/>
              <a:buNone/>
              <a:defRPr sz="1055"/>
            </a:pPr>
          </a:p>
          <a:p>
            <a:pPr marL="0" indent="0" defTabSz="385445">
              <a:spcBef>
                <a:spcPts val="2700"/>
              </a:spcBef>
              <a:buSzTx/>
              <a:buNone/>
              <a:defRPr sz="2110"/>
            </a:pPr>
            <a:r>
              <a:t> Δ</a:t>
            </a:r>
            <a:r>
              <a:rPr i="1"/>
              <a:t>y</a:t>
            </a:r>
            <a:r>
              <a:t> = </a:t>
            </a:r>
            <a:r>
              <a:rPr i="1"/>
              <a:t>f</a:t>
            </a:r>
            <a:r>
              <a:rPr sz="725" i="1"/>
              <a:t> </a:t>
            </a:r>
            <a:r>
              <a:t>′(</a:t>
            </a:r>
            <a:r>
              <a:rPr i="1"/>
              <a:t>a</a:t>
            </a:r>
            <a:r>
              <a:t>) Δ</a:t>
            </a:r>
            <a:r>
              <a:rPr i="1"/>
              <a:t>x</a:t>
            </a:r>
            <a:r>
              <a:t> + </a:t>
            </a:r>
            <a:r>
              <a:rPr i="1"/>
              <a:t>ε</a:t>
            </a:r>
            <a:r>
              <a:t> Δ</a:t>
            </a:r>
            <a:r>
              <a:rPr i="1"/>
              <a:t>x</a:t>
            </a:r>
            <a:endParaRPr i="1"/>
          </a:p>
          <a:p>
            <a:pPr marL="0" indent="0" defTabSz="385445">
              <a:spcBef>
                <a:spcPts val="2700"/>
              </a:spcBef>
              <a:buSzTx/>
              <a:buNone/>
              <a:defRPr sz="2110"/>
            </a:pPr>
          </a:p>
          <a:p>
            <a:pPr marL="0" indent="0" defTabSz="385445">
              <a:spcBef>
                <a:spcPts val="2700"/>
              </a:spcBef>
              <a:buSzTx/>
              <a:buNone/>
              <a:defRPr sz="2110"/>
            </a:pPr>
            <a:r>
              <a:t>Se definirmos </a:t>
            </a:r>
            <a:r>
              <a:rPr i="1"/>
              <a:t>ε</a:t>
            </a:r>
            <a:r>
              <a:t> como 0 quando Δ</a:t>
            </a:r>
            <a:r>
              <a:rPr i="1"/>
              <a:t>x</a:t>
            </a:r>
            <a:r>
              <a:t> = 0, então </a:t>
            </a:r>
            <a:r>
              <a:rPr i="1"/>
              <a:t>ε</a:t>
            </a:r>
            <a:r>
              <a:t> se torna uma função contínua de Δ</a:t>
            </a:r>
            <a:r>
              <a:rPr i="1"/>
              <a:t>x</a:t>
            </a:r>
            <a:r>
              <a:t>. Assim, para uma função diferenciável </a:t>
            </a:r>
            <a:r>
              <a:rPr i="1"/>
              <a:t>f</a:t>
            </a:r>
            <a:r>
              <a:t>, podemos escrever</a:t>
            </a:r>
          </a:p>
          <a:p>
            <a:pPr marL="0" indent="0" defTabSz="385445">
              <a:spcBef>
                <a:spcPts val="2700"/>
              </a:spcBef>
              <a:buSzTx/>
              <a:buNone/>
              <a:defRPr sz="1055"/>
            </a:pPr>
          </a:p>
          <a:p>
            <a:pPr marL="0" indent="0" defTabSz="385445">
              <a:spcBef>
                <a:spcPts val="2700"/>
              </a:spcBef>
              <a:buSzTx/>
              <a:buNone/>
              <a:defRPr sz="2110"/>
            </a:pPr>
            <a:r>
              <a:t> Δ</a:t>
            </a:r>
            <a:r>
              <a:rPr i="1"/>
              <a:t>y</a:t>
            </a:r>
            <a:r>
              <a:t> = </a:t>
            </a:r>
            <a:r>
              <a:rPr i="1"/>
              <a:t>f</a:t>
            </a:r>
            <a:r>
              <a:rPr sz="725" i="1"/>
              <a:t> </a:t>
            </a:r>
            <a:r>
              <a:t>′(</a:t>
            </a:r>
            <a:r>
              <a:rPr i="1"/>
              <a:t>a</a:t>
            </a:r>
            <a:r>
              <a:t>) Δ</a:t>
            </a:r>
            <a:r>
              <a:rPr i="1"/>
              <a:t>x</a:t>
            </a:r>
            <a:r>
              <a:t> + </a:t>
            </a:r>
            <a:r>
              <a:rPr i="1"/>
              <a:t>ε</a:t>
            </a:r>
            <a:r>
              <a:t> Δ</a:t>
            </a:r>
            <a:r>
              <a:rPr i="1"/>
              <a:t>x</a:t>
            </a:r>
            <a:r>
              <a:t> onde </a:t>
            </a:r>
            <a:r>
              <a:rPr i="1"/>
              <a:t>ε</a:t>
            </a:r>
            <a:r>
              <a:t> → 0 como Δ</a:t>
            </a:r>
            <a:r>
              <a:rPr i="1"/>
              <a:t>x</a:t>
            </a:r>
            <a:r>
              <a:t> → 0</a:t>
            </a:r>
          </a:p>
          <a:p>
            <a:pPr marL="0" indent="0" defTabSz="385445">
              <a:spcBef>
                <a:spcPts val="2700"/>
              </a:spcBef>
              <a:buSzTx/>
              <a:buNone/>
              <a:defRPr sz="2110"/>
            </a:pPr>
          </a:p>
          <a:p>
            <a:pPr marL="0" indent="0" defTabSz="385445">
              <a:spcBef>
                <a:spcPts val="2700"/>
              </a:spcBef>
              <a:buSzTx/>
              <a:buNone/>
              <a:defRPr sz="2110"/>
            </a:pPr>
            <a:r>
              <a:t>e </a:t>
            </a:r>
            <a:r>
              <a:rPr i="1"/>
              <a:t>ε</a:t>
            </a:r>
            <a:r>
              <a:t> é uma função contínua de Δ</a:t>
            </a:r>
            <a:r>
              <a:rPr i="1"/>
              <a:t>x</a:t>
            </a:r>
            <a:r>
              <a:t>. Essa propriedade de funções diferenciáveis é que nos possibilita demonstrar a Regra da Cadeia.</a:t>
            </a:r>
          </a:p>
        </p:txBody>
      </p:sp>
      <p:pic>
        <p:nvPicPr>
          <p:cNvPr id="728" name="Picture 6" descr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47846" y="3698396"/>
            <a:ext cx="2743202" cy="96181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729" name="Picture 7" descr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0175" y="3955783"/>
            <a:ext cx="467361" cy="447041"/>
          </a:xfrm>
          <a:prstGeom prst="rect">
            <a:avLst/>
          </a:prstGeom>
          <a:ln w="12700">
            <a:miter lim="400000"/>
            <a:headEnd/>
            <a:tailEnd/>
          </a:ln>
        </p:spPr>
      </p:pic>
    </p:spTree>
  </p:cSld>
  <p:clrMapOvr>
    <a:masterClrMapping/>
  </p:clrMapOvr>
  <p:transition spd="med"/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O Número e como um Limit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defTabSz="560705">
              <a:defRPr sz="7680"/>
            </a:pPr>
            <a:r>
              <a:t>O Número </a:t>
            </a:r>
            <a:r>
              <a:rPr i="1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e</a:t>
            </a:r>
            <a:r>
              <a:t> como um Limite</a:t>
            </a:r>
          </a:p>
        </p:txBody>
      </p:sp>
      <p:sp>
        <p:nvSpPr>
          <p:cNvPr id="732" name="Se f (x) = ln x, então f ′(x) = 1/x. Agora, f ′(1) = 1. Agora, usamos esse fato para expressar o número e como um limite.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 anchor="t"/>
          <a:lstStyle/>
          <a:p>
            <a:r>
              <a:t>Se </a:t>
            </a:r>
            <a:r>
              <a:rPr i="1"/>
              <a:t>f</a:t>
            </a:r>
            <a:r>
              <a:rPr sz="500"/>
              <a:t> </a:t>
            </a:r>
            <a:r>
              <a:t>(</a:t>
            </a:r>
            <a:r>
              <a:rPr i="1"/>
              <a:t>x</a:t>
            </a:r>
            <a:r>
              <a:t>) = ln </a:t>
            </a:r>
            <a:r>
              <a:rPr i="1"/>
              <a:t>x</a:t>
            </a:r>
            <a:r>
              <a:t>, então </a:t>
            </a:r>
            <a:r>
              <a:rPr i="1"/>
              <a:t>f</a:t>
            </a:r>
            <a:r>
              <a:rPr sz="1600"/>
              <a:t> </a:t>
            </a:r>
            <a:r>
              <a:t>′(</a:t>
            </a:r>
            <a:r>
              <a:rPr i="1"/>
              <a:t>x</a:t>
            </a:r>
            <a:r>
              <a:t>) = 1/</a:t>
            </a:r>
            <a:r>
              <a:rPr i="1"/>
              <a:t>x</a:t>
            </a:r>
            <a:r>
              <a:t>. Agora, f</a:t>
            </a:r>
            <a:r>
              <a:rPr sz="1600"/>
              <a:t> </a:t>
            </a:r>
            <a:r>
              <a:t>′(1) = 1. Agora, usamos esse fato para expressar o número </a:t>
            </a:r>
            <a:r>
              <a:t>e</a:t>
            </a:r>
            <a:r>
              <a:t> como um limite. </a:t>
            </a:r>
          </a:p>
          <a:p>
            <a:r>
              <a:t>Da definição de derivada como um limite, temos</a:t>
            </a:r>
          </a:p>
        </p:txBody>
      </p:sp>
      <p:pic>
        <p:nvPicPr>
          <p:cNvPr id="733" name="image.tif" descr="image.tif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81670" y="5909155"/>
            <a:ext cx="8841460" cy="96181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734" name="image.png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8648" y="7347360"/>
            <a:ext cx="6994597" cy="1040837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735" name="image.tif" descr="image.t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6390" y="8869102"/>
            <a:ext cx="2978010" cy="727006"/>
          </a:xfrm>
          <a:prstGeom prst="rect">
            <a:avLst/>
          </a:prstGeom>
          <a:ln w="12700">
            <a:miter lim="400000"/>
            <a:headEnd/>
            <a:tailEnd/>
          </a:ln>
        </p:spPr>
      </p:pic>
    </p:spTree>
  </p:cSld>
  <p:clrMapOvr>
    <a:masterClrMapping/>
  </p:clrMapOvr>
  <p:transition spd="med"/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O Número e como um Limit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defTabSz="560705">
              <a:defRPr sz="7680"/>
            </a:pPr>
            <a:r>
              <a:t>O Número </a:t>
            </a:r>
            <a:r>
              <a:rPr i="1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e</a:t>
            </a:r>
            <a:r>
              <a:t> como um Limite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38" name="Por causa de f ′(1) = 1, temos…"/>
              <p:cNvSpPr txBox="1"/>
              <p:nvPr>
                <p:ph type="body" idx="1"/>
              </p:nvPr>
            </p:nvSpPr>
            <p:spPr>
              <a:prstGeom prst="rect">
                <a:avLst/>
              </a:prstGeom>
            </p:spPr>
            <p:txBody>
              <a:bodyPr anchor="t"/>
              <a:lstStyle/>
              <a:p>
                <a:r>
                  <a:t>Por causa de </a:t>
                </a:r>
                <a:r>
                  <a:rPr i="1"/>
                  <a:t>f</a:t>
                </a:r>
                <a:r>
                  <a:rPr sz="1600"/>
                  <a:t> </a:t>
                </a:r>
                <a:r>
                  <a:t>′(1) = 1, temos</a:t>
                </a:r>
              </a:p>
              <a:p>
                <a:pPr marL="0" indent="0">
                  <a:buSzTx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sz="39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sz="39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sz="3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sz="3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sz="3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→</m:t>
                          </m:r>
                          <m:r>
                            <a:rPr sz="3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sz="39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sz="39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sz="39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sz="39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sSup>
                        <m:sSupPr>
                          <m:ctrlPr>
                            <a:rPr/>
                          </m:ctrlPr>
                        </m:sSupPr>
                        <m:e>
                          <m:r>
                            <a:rPr sz="3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f>
                            <m:fPr>
                              <m:ctrlPr>
                                <a:rPr sz="3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sz="3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sz="3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den>
                          </m:f>
                        </m:sup>
                      </m:sSup>
                      <m:r>
                        <a:rPr sz="39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sz="39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</a:p>
              <a:p>
                <a:pPr marL="0" indent="0">
                  <a:buSzTx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sz="38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sz="38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/>
                          </m:ctrlPr>
                        </m:sSupPr>
                        <m:e>
                          <m:r>
                            <a:rPr sz="38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sz="38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sz="38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/>
                          </m:ctrlPr>
                        </m:sSupPr>
                        <m:e>
                          <m:r>
                            <a:rPr sz="38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sz="38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sz="38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sSub>
                            <m:sSubPr>
                              <m:ctrlPr>
                                <a:rPr/>
                              </m:ctrlPr>
                            </m:sSubPr>
                            <m:e>
                              <m:r>
                                <a:rPr sz="38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sz="38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sz="38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r>
                                <a:rPr sz="38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sz="38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sz="38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sz="38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sz="38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sz="38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sz="38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sSup>
                            <m:sSupPr>
                              <m:ctrlPr>
                                <a:rPr/>
                              </m:ctrlPr>
                            </m:sSupPr>
                            <m:e>
                              <m:r>
                                <a:rPr sz="38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f>
                                <m:fPr>
                                  <m:ctrlPr>
                                    <a:rPr sz="385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sz="385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sz="385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den>
                              </m:f>
                            </m:sup>
                          </m:sSup>
                        </m:sup>
                      </m:sSup>
                      <m:r>
                        <a:rPr sz="38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sz="38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sz="38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sz="38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sz="38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sz="38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→</m:t>
                          </m:r>
                          <m:r>
                            <a:rPr sz="38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p>
                        <m:sSupPr>
                          <m:ctrlPr>
                            <a:rPr/>
                          </m:ctrlPr>
                        </m:sSupPr>
                        <m:e>
                          <m:r>
                            <a:rPr sz="38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sz="38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sz="38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sz="38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sz="38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sz="38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sz="38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sSup>
                            <m:sSupPr>
                              <m:ctrlPr>
                                <a:rPr/>
                              </m:ctrlPr>
                            </m:sSupPr>
                            <m:e>
                              <m:r>
                                <a:rPr sz="38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f>
                                <m:fPr>
                                  <m:ctrlPr>
                                    <a:rPr sz="385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sz="385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sz="385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den>
                              </m:f>
                            </m:sup>
                          </m:sSup>
                        </m:sup>
                      </m:sSup>
                      <m:r>
                        <a:rPr sz="38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sz="38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sz="38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sz="38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sz="38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sz="38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→</m:t>
                          </m:r>
                          <m:r>
                            <a:rPr sz="38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sz="38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sz="38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sz="38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sz="38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sSup>
                        <m:sSupPr>
                          <m:ctrlPr>
                            <a:rPr/>
                          </m:ctrlPr>
                        </m:sSupPr>
                        <m:e>
                          <m:r>
                            <a:rPr sz="38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f>
                            <m:fPr>
                              <m:ctrlPr>
                                <a:rPr sz="38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sz="38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sz="38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</a:p>
              <a:p>
                <a:r>
                  <a:t>Assim, pela continuidade da função exponencial, temos</a:t>
                </a:r>
              </a:p>
              <a:p>
                <a:pPr marL="0" indent="0" algn="ctr">
                  <a:buSzTx/>
                  <a:buNone/>
                </a:pPr>
                <a14:m>
                  <m:oMath xmlns:m="http://schemas.openxmlformats.org/officeDocument/2006/math">
                    <m:r>
                      <a:rPr sz="38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a:rPr sz="38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sz="38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𝑙</m:t>
                    </m:r>
                    <m:r>
                      <a:rPr sz="38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sSub>
                      <m:sSubPr>
                        <m:ctrlPr>
                          <a:rPr/>
                        </m:ctrlPr>
                      </m:sSubPr>
                      <m:e>
                        <m:r>
                          <a:rPr sz="38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sz="38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sz="38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sz="38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sz="38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sz="38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sz="38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sz="38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sSupPr>
                        <m:ctrlPr>
                          <a:rPr/>
                        </m:ctrlPr>
                      </m:sSupPr>
                      <m:e>
                        <m:r>
                          <a:rPr sz="38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f>
                          <m:fPr>
                            <m:ctrlPr>
                              <a:rPr sz="38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sz="38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sz="38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sup>
                    </m:sSup>
                  </m:oMath>
                </a14:m>
                <a:r>
                  <a:t> </a:t>
                </a:r>
              </a:p>
            </p:txBody>
          </p:sp>
        </mc:Choice>
        <mc:Fallback>
          <p:sp>
            <p:nvSpPr>
              <p:cNvPr id="738" name="Por causa de f ′(1) = 1, temos…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prstGeom prst="rect">
                <a:avLst/>
              </a:prstGeom>
              <a:blipFill rotWithShape="1">
                <a:blip r:embed="rId1"/>
                <a:stretch>
                  <a:fillRect t="-1162"/>
                </a:stretch>
              </a:blipFill>
            </p:spPr>
            <p:txBody>
              <a:bodyPr/>
              <a:lstStyle/>
              <a:p>
                <a:r>
                  <a:rPr lang="pt-BR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/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O Número e como um Limit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defTabSz="560705">
              <a:defRPr sz="7680"/>
            </a:pPr>
            <a:r>
              <a:t>O Número </a:t>
            </a:r>
            <a:r>
              <a:rPr i="1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e</a:t>
            </a:r>
            <a:r>
              <a:t> como um Limite</a:t>
            </a:r>
          </a:p>
        </p:txBody>
      </p:sp>
      <p:sp>
        <p:nvSpPr>
          <p:cNvPr id="741" name="Observe o gráfico da função y = (1 + x)1/x para os valores pequenos de x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 anchor="t"/>
          <a:lstStyle/>
          <a:p>
            <a:r>
              <a:t>Observe o gráfico da função y</a:t>
            </a:r>
            <a:r>
              <a:t> = (1 + </a:t>
            </a:r>
            <a:r>
              <a:t>x</a:t>
            </a:r>
            <a:r>
              <a:t>)</a:t>
            </a:r>
            <a:r>
              <a:rPr baseline="31000"/>
              <a:t>1/</a:t>
            </a:r>
            <a:r>
              <a:rPr baseline="31000"/>
              <a:t>x</a:t>
            </a:r>
            <a:r>
              <a:t> para os valores pequenos de </a:t>
            </a:r>
            <a:r>
              <a:t>x</a:t>
            </a:r>
          </a:p>
          <a:p>
            <a:pPr marL="0" indent="0" algn="ctr">
              <a:buSzTx/>
              <a:buNone/>
            </a:pPr>
            <a:r>
              <a:t>e </a:t>
            </a:r>
            <a:r>
              <a:t>≈ 2,7182818</a:t>
            </a:r>
          </a:p>
        </p:txBody>
      </p:sp>
      <p:pic>
        <p:nvPicPr>
          <p:cNvPr id="742" name="Picture19" descr="Picture1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6879" y="5698631"/>
            <a:ext cx="3793068" cy="2948659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743" name="image.png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9626" y="5601546"/>
            <a:ext cx="3644055" cy="3142828"/>
          </a:xfrm>
          <a:prstGeom prst="rect">
            <a:avLst/>
          </a:prstGeom>
          <a:ln w="12700">
            <a:miter lim="400000"/>
            <a:headEnd/>
            <a:tailEnd/>
          </a:ln>
        </p:spPr>
      </p:pic>
    </p:spTree>
  </p:cSld>
  <p:clrMapOvr>
    <a:masterClrMapping/>
  </p:clrMapOvr>
  <p:transition spd="med"/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O Número e como um Limit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defTabSz="560705">
              <a:defRPr sz="7680"/>
            </a:pPr>
            <a:r>
              <a:t>O Número </a:t>
            </a:r>
            <a:r>
              <a:rPr i="1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e</a:t>
            </a:r>
            <a:r>
              <a:t> como um Limite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46" name="Se colocarmos n = 1/x na Fórmula 5, então n → ∞ como x → 0+ e uma expressão alternativa para e é"/>
              <p:cNvSpPr txBox="1"/>
              <p:nvPr>
                <p:ph type="body" idx="1"/>
              </p:nvPr>
            </p:nvSpPr>
            <p:spPr>
              <a:prstGeom prst="rect">
                <a:avLst/>
              </a:prstGeom>
            </p:spPr>
            <p:txBody>
              <a:bodyPr anchor="t"/>
              <a:lstStyle/>
              <a:p>
                <a:r>
                  <a:t>Se colocarmos </a:t>
                </a:r>
                <a:r>
                  <a:rPr i="1"/>
                  <a:t>n</a:t>
                </a:r>
                <a:r>
                  <a:t> = 1/</a:t>
                </a:r>
                <a:r>
                  <a:rPr i="1"/>
                  <a:t>x</a:t>
                </a:r>
                <a:r>
                  <a:t> na Fórmula 5, então </a:t>
                </a:r>
                <a:r>
                  <a:rPr i="1"/>
                  <a:t>n</a:t>
                </a:r>
                <a:r>
                  <a:t> → ∞ como x → 0</a:t>
                </a:r>
                <a:r>
                  <a:rPr baseline="31000"/>
                  <a:t>+</a:t>
                </a:r>
                <a:r>
                  <a:t> e uma expressão alternativa para e é</a:t>
                </a:r>
              </a:p>
              <a:p>
                <a:pPr marL="0" indent="0" algn="ctr">
                  <a:buSzTx/>
                  <a:buNone/>
                </a:pPr>
                <a14:m>
                  <m:oMath xmlns:m="http://schemas.openxmlformats.org/officeDocument/2006/math">
                    <m:r>
                      <a:rPr sz="38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a:rPr sz="38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sz="38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𝑙</m:t>
                    </m:r>
                    <m:r>
                      <a:rPr sz="38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sSub>
                      <m:sSubPr>
                        <m:ctrlPr>
                          <a:rPr/>
                        </m:ctrlPr>
                      </m:sSubPr>
                      <m:e>
                        <m:r>
                          <a:rPr sz="38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sz="38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sz="38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sz="38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</m:sSub>
                    <m:r>
                      <a:rPr sz="38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sz="38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sz="38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sz="38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sz="38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sz="38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sSup>
                      <m:sSupPr>
                        <m:ctrlPr>
                          <a:rPr/>
                        </m:ctrlPr>
                      </m:sSupPr>
                      <m:e>
                        <m:r>
                          <a:rPr sz="38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sz="38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t> </a:t>
                </a:r>
              </a:p>
            </p:txBody>
          </p:sp>
        </mc:Choice>
        <mc:Fallback>
          <p:sp>
            <p:nvSpPr>
              <p:cNvPr id="746" name="Se colocarmos n = 1/x na Fórmula 5, então n → ∞ como x → 0+ e uma expressão alternativa para e é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prstGeom prst="rect">
                <a:avLst/>
              </a:prstGeom>
              <a:blipFill rotWithShape="1">
                <a:blip r:embed="rId1"/>
                <a:stretch>
                  <a:fillRect t="-1162"/>
                </a:stretch>
              </a:blipFill>
            </p:spPr>
            <p:txBody>
              <a:bodyPr/>
              <a:lstStyle/>
              <a:p>
                <a:r>
                  <a:rPr lang="pt-BR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2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24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2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24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25849</Words>
  <Application>WPS Presentation</Application>
  <PresentationFormat/>
  <Paragraphs>792</Paragraphs>
  <Slides>111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111</vt:i4>
      </vt:variant>
    </vt:vector>
  </HeadingPairs>
  <TitlesOfParts>
    <vt:vector size="131" baseType="lpstr">
      <vt:lpstr>Arial</vt:lpstr>
      <vt:lpstr>SimSun</vt:lpstr>
      <vt:lpstr>Wingdings</vt:lpstr>
      <vt:lpstr>Helvetica Neue</vt:lpstr>
      <vt:lpstr>Helvetica Neue Medium</vt:lpstr>
      <vt:lpstr>Helvetica Neue Light</vt:lpstr>
      <vt:lpstr>Helvetica Neue Thin</vt:lpstr>
      <vt:lpstr>Segoe Print</vt:lpstr>
      <vt:lpstr>Helvetica Light</vt:lpstr>
      <vt:lpstr>Century Gothic</vt:lpstr>
      <vt:lpstr>Times New Roman</vt:lpstr>
      <vt:lpstr>Arial</vt:lpstr>
      <vt:lpstr>Arial Black</vt:lpstr>
      <vt:lpstr>Cambria Math</vt:lpstr>
      <vt:lpstr>Microsoft YaHei</vt:lpstr>
      <vt:lpstr>Arial Unicode MS</vt:lpstr>
      <vt:lpstr>Symbol</vt:lpstr>
      <vt:lpstr>Courier</vt:lpstr>
      <vt:lpstr>Courier New</vt:lpstr>
      <vt:lpstr>White</vt:lpstr>
      <vt:lpstr>Regras de Derivação</vt:lpstr>
      <vt:lpstr>Objetivos da Aula</vt:lpstr>
      <vt:lpstr>PowerPoint 演示文稿</vt:lpstr>
      <vt:lpstr>Função Constante</vt:lpstr>
      <vt:lpstr>Função Constante</vt:lpstr>
      <vt:lpstr>Funções Potências</vt:lpstr>
      <vt:lpstr>Funções Potências</vt:lpstr>
      <vt:lpstr>Funções Potências</vt:lpstr>
      <vt:lpstr>Funções Potências</vt:lpstr>
      <vt:lpstr>Exercício 1</vt:lpstr>
      <vt:lpstr>Exercício 1</vt:lpstr>
      <vt:lpstr>PowerPoint 演示文稿</vt:lpstr>
      <vt:lpstr>Novas Derivadas a partir de Conhecidas</vt:lpstr>
      <vt:lpstr>Exercício 2</vt:lpstr>
      <vt:lpstr>Exercício 2</vt:lpstr>
      <vt:lpstr>Novas Derivadas a partir de Conhecidas</vt:lpstr>
      <vt:lpstr>Novas Derivadas a partir de Conhecidas</vt:lpstr>
      <vt:lpstr>Exercício 3</vt:lpstr>
      <vt:lpstr>Exercício 3</vt:lpstr>
      <vt:lpstr>PowerPoint 演示文稿</vt:lpstr>
      <vt:lpstr>A Regra do Produto</vt:lpstr>
      <vt:lpstr>A Regra do Produto</vt:lpstr>
      <vt:lpstr>A Regra do Produto</vt:lpstr>
      <vt:lpstr>A Regra do Produto</vt:lpstr>
      <vt:lpstr>A Regra do Produto</vt:lpstr>
      <vt:lpstr>A Regra do Produto</vt:lpstr>
      <vt:lpstr>Exercício 4</vt:lpstr>
      <vt:lpstr>Exercício 4</vt:lpstr>
      <vt:lpstr>Exercício 4</vt:lpstr>
      <vt:lpstr>PowerPoint 演示文稿</vt:lpstr>
      <vt:lpstr>A Regra do Quociente</vt:lpstr>
      <vt:lpstr>A Regra do Quociente</vt:lpstr>
      <vt:lpstr>A Regra do Quociente</vt:lpstr>
      <vt:lpstr>Exercício 5</vt:lpstr>
      <vt:lpstr>Fórmulas de Derivação</vt:lpstr>
      <vt:lpstr>PowerPoint 演示文稿</vt:lpstr>
      <vt:lpstr>A Regra da Cadeia</vt:lpstr>
      <vt:lpstr>A Regra da Cadeia</vt:lpstr>
      <vt:lpstr>A Regra da Cadeia</vt:lpstr>
      <vt:lpstr>Exercício 6</vt:lpstr>
      <vt:lpstr>Exercício 6</vt:lpstr>
      <vt:lpstr>A Regra da Cadeia</vt:lpstr>
      <vt:lpstr>Exercício 7</vt:lpstr>
      <vt:lpstr>A Regra da Cadeia</vt:lpstr>
      <vt:lpstr>A Regra da Cadeia</vt:lpstr>
      <vt:lpstr>A Regra da Cadeia</vt:lpstr>
      <vt:lpstr>PowerPoint 演示文稿</vt:lpstr>
      <vt:lpstr>Funções Exponenciais</vt:lpstr>
      <vt:lpstr>Funções Exponenciais</vt:lpstr>
      <vt:lpstr>Funções Exponenciais</vt:lpstr>
      <vt:lpstr>Funções Exponenciais</vt:lpstr>
      <vt:lpstr>Funções Exponenciais</vt:lpstr>
      <vt:lpstr>Funções Exponenciais</vt:lpstr>
      <vt:lpstr>Exercício 4</vt:lpstr>
      <vt:lpstr>Exercício 4</vt:lpstr>
      <vt:lpstr>Funções Exponenciais</vt:lpstr>
      <vt:lpstr>PowerPoint 演示文稿</vt:lpstr>
      <vt:lpstr>Derivadas de Funções Trigonométricas</vt:lpstr>
      <vt:lpstr>Derivadas de Funções Trigonométricas</vt:lpstr>
      <vt:lpstr>Derivadas de Funções Trigonométricas</vt:lpstr>
      <vt:lpstr>Derivadas de Funções Trigonométricas</vt:lpstr>
      <vt:lpstr>Derivadas de Funções Trigonométricas</vt:lpstr>
      <vt:lpstr>Derivadas de Funções Trigonométricas</vt:lpstr>
      <vt:lpstr>Derivadas de Funções Trigonométricas</vt:lpstr>
      <vt:lpstr>Derivadas de Funções Trigonométricas</vt:lpstr>
      <vt:lpstr>Derivadas de Funções Trigonométricas</vt:lpstr>
      <vt:lpstr>Derivadas de Funções Trigonométricas</vt:lpstr>
      <vt:lpstr>Derivadas de Funções Trigonométricas</vt:lpstr>
      <vt:lpstr>Derivadas de Funções Trigonométricas</vt:lpstr>
      <vt:lpstr>Exercício 8</vt:lpstr>
      <vt:lpstr>Derivadas de Funções Trigonométricas</vt:lpstr>
      <vt:lpstr>Derivadas de Funções Trigonométricas</vt:lpstr>
      <vt:lpstr>Derivadas de Funções Trigonométricas</vt:lpstr>
      <vt:lpstr>Derivadas de Funções Trigonométricas</vt:lpstr>
      <vt:lpstr>Derivadas de Funções Trigonométricas</vt:lpstr>
      <vt:lpstr>Exercício 9</vt:lpstr>
      <vt:lpstr>Exercício 9</vt:lpstr>
      <vt:lpstr>Exercício 9</vt:lpstr>
      <vt:lpstr>A Regra da Cadeia</vt:lpstr>
      <vt:lpstr>PowerPoint 演示文稿</vt:lpstr>
      <vt:lpstr>Derivação Implícita</vt:lpstr>
      <vt:lpstr>Derivação Implícita</vt:lpstr>
      <vt:lpstr>Derivação Implícita</vt:lpstr>
      <vt:lpstr>Diferenciação Implícita</vt:lpstr>
      <vt:lpstr>Derivação Implícita</vt:lpstr>
      <vt:lpstr>Derivação Implícita</vt:lpstr>
      <vt:lpstr>Exercício 10</vt:lpstr>
      <vt:lpstr>Exercício 10</vt:lpstr>
      <vt:lpstr>Exercício 10</vt:lpstr>
      <vt:lpstr>Exercício 10</vt:lpstr>
      <vt:lpstr>PowerPoint 演示文稿</vt:lpstr>
      <vt:lpstr>Derivadas de Funções Logarítmicas</vt:lpstr>
      <vt:lpstr>Derivadas de Funções Logarítmicas</vt:lpstr>
      <vt:lpstr>Exercício 11</vt:lpstr>
      <vt:lpstr>Derivação Logarítmica</vt:lpstr>
      <vt:lpstr>Revisão</vt:lpstr>
      <vt:lpstr>Exercício 12</vt:lpstr>
      <vt:lpstr>Exercício 12</vt:lpstr>
      <vt:lpstr>Derivação Logarítmica</vt:lpstr>
      <vt:lpstr>Fórmulas de Derivação</vt:lpstr>
      <vt:lpstr>Próxima Aula</vt:lpstr>
      <vt:lpstr>Referências</vt:lpstr>
      <vt:lpstr>PowerPoint 演示文稿</vt:lpstr>
      <vt:lpstr>PowerPoint 演示文稿</vt:lpstr>
      <vt:lpstr>A Regra da Cadeia</vt:lpstr>
      <vt:lpstr>Demonstração</vt:lpstr>
      <vt:lpstr>Demonstração</vt:lpstr>
      <vt:lpstr>O Número e como um Limite</vt:lpstr>
      <vt:lpstr>O Número e como um Limite</vt:lpstr>
      <vt:lpstr>O Número e como um Limite</vt:lpstr>
      <vt:lpstr>O Número e como um Limite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Regras de Derivação</dc:title>
  <dc:creator/>
  <cp:lastModifiedBy>TASIA VALE</cp:lastModifiedBy>
  <cp:revision>1</cp:revision>
  <dcterms:created xsi:type="dcterms:W3CDTF">2022-10-26T00:25:00Z</dcterms:created>
  <dcterms:modified xsi:type="dcterms:W3CDTF">2022-10-26T00:25:05Z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FBD2152576FF4B5C86CD7B42736A60F5</vt:lpwstr>
  </property>
  <property fmtid="{D5CDD505-2E9C-101B-9397-08002B2CF9AE}" pid="3" name="KSOProductBuildVer">
    <vt:lpwstr>1046-11.2.0.11341</vt:lpwstr>
  </property>
</Properties>
</file>