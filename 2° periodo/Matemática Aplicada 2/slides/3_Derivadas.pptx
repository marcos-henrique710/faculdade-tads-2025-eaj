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theme/theme2.xml" ContentType="application/vnd.openxmlformats-officedocument.theme+xml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Shape 22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ítulo e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do título</a:t>
            </a:r>
          </a:p>
        </p:txBody>
      </p:sp>
      <p:sp>
        <p:nvSpPr>
          <p:cNvPr id="12" name="Nível um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3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grafia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m"/>
          <p:cNvSpPr/>
          <p:nvPr>
            <p:ph type="pic" idx="13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exto do título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do título</a:t>
            </a:r>
          </a:p>
        </p:txBody>
      </p:sp>
      <p:sp>
        <p:nvSpPr>
          <p:cNvPr id="22" name="Nível um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23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- ce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o título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Texto do título</a:t>
            </a:r>
          </a:p>
        </p:txBody>
      </p:sp>
      <p:sp>
        <p:nvSpPr>
          <p:cNvPr id="31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grafia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m"/>
          <p:cNvSpPr/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exto do título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Texto do título</a:t>
            </a:r>
          </a:p>
        </p:txBody>
      </p:sp>
      <p:sp>
        <p:nvSpPr>
          <p:cNvPr id="40" name="Nível um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41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- to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o título"/>
          <p:cNvSpPr txBox="1"/>
          <p:nvPr>
            <p:ph type="title"/>
          </p:nvPr>
        </p:nvSpPr>
        <p:spPr>
          <a:xfrm>
            <a:off x="0" y="0"/>
            <a:ext cx="13004800" cy="1663700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49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e alín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o título"/>
          <p:cNvSpPr txBox="1"/>
          <p:nvPr>
            <p:ph type="title"/>
          </p:nvPr>
        </p:nvSpPr>
        <p:spPr>
          <a:xfrm>
            <a:off x="0" y="0"/>
            <a:ext cx="13004800" cy="1663700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57" name="Nível um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</p:spPr>
        <p:txBody>
          <a:bodyPr/>
          <a:lstStyle/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58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alíneas e fotograf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m"/>
          <p:cNvSpPr/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exto do título"/>
          <p:cNvSpPr txBox="1"/>
          <p:nvPr>
            <p:ph type="title"/>
          </p:nvPr>
        </p:nvSpPr>
        <p:spPr>
          <a:xfrm>
            <a:off x="0" y="0"/>
            <a:ext cx="13004800" cy="1663700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67" name="Nível um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68" name="Número do diapositivo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rc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Nível um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76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grafia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m"/>
          <p:cNvSpPr/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m"/>
          <p:cNvSpPr/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m"/>
          <p:cNvSpPr/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Manuel Macieira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–Manuel Macieira</a:t>
            </a:r>
          </a:p>
        </p:txBody>
      </p:sp>
      <p:sp>
        <p:nvSpPr>
          <p:cNvPr id="94" name="“Digite aqui uma citação.”"/>
          <p:cNvSpPr txBox="1"/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“Digite aqui uma citação.” </a:t>
            </a:r>
          </a:p>
        </p:txBody>
      </p:sp>
      <p:sp>
        <p:nvSpPr>
          <p:cNvPr id="95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graf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m"/>
          <p:cNvSpPr/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e alín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Nível um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</p:spPr>
        <p:txBody>
          <a:bodyPr/>
          <a:lstStyle/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18" name="Texto do título"/>
          <p:cNvSpPr txBox="1"/>
          <p:nvPr>
            <p:ph type="title"/>
          </p:nvPr>
        </p:nvSpPr>
        <p:spPr>
          <a:xfrm>
            <a:off x="4564" y="-16934"/>
            <a:ext cx="13004801" cy="1662511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119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alíneas e fotograf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Imagem"/>
          <p:cNvSpPr/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7" name="Nível um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28" name="Texto do título"/>
          <p:cNvSpPr txBox="1"/>
          <p:nvPr>
            <p:ph type="title"/>
          </p:nvPr>
        </p:nvSpPr>
        <p:spPr>
          <a:xfrm>
            <a:off x="-1588" y="0"/>
            <a:ext cx="13007976" cy="1666611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129" name="Número do diapositivo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e conteúdo">
    <p:bg>
      <p:bgPr>
        <a:gradFill flip="none" rotWithShape="1">
          <a:gsLst>
            <a:gs pos="0">
              <a:srgbClr val="FFFFFF"/>
            </a:gs>
            <a:gs pos="100000">
              <a:srgbClr val="DFE8C4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22"/>
          <p:cNvGrpSpPr/>
          <p:nvPr/>
        </p:nvGrpSpPr>
        <p:grpSpPr>
          <a:xfrm>
            <a:off x="0" y="1463039"/>
            <a:ext cx="3041619" cy="7081205"/>
            <a:chOff x="0" y="0"/>
            <a:chExt cx="3041617" cy="7081203"/>
          </a:xfrm>
        </p:grpSpPr>
        <p:sp>
          <p:nvSpPr>
            <p:cNvPr id="136" name="Freeform 11"/>
            <p:cNvSpPr/>
            <p:nvPr/>
          </p:nvSpPr>
          <p:spPr>
            <a:xfrm>
              <a:off x="-1" y="2502873"/>
              <a:ext cx="107353" cy="667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37" name="Freeform 12"/>
            <p:cNvSpPr/>
            <p:nvPr/>
          </p:nvSpPr>
          <p:spPr>
            <a:xfrm>
              <a:off x="137171" y="3123125"/>
              <a:ext cx="689833" cy="2477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38" name="Freeform 13"/>
            <p:cNvSpPr/>
            <p:nvPr/>
          </p:nvSpPr>
          <p:spPr>
            <a:xfrm>
              <a:off x="860798" y="5566357"/>
              <a:ext cx="650073" cy="1514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39" name="Freeform 14"/>
            <p:cNvSpPr/>
            <p:nvPr/>
          </p:nvSpPr>
          <p:spPr>
            <a:xfrm>
              <a:off x="1023812" y="6693545"/>
              <a:ext cx="182896" cy="387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40" name="Freeform 15"/>
            <p:cNvSpPr/>
            <p:nvPr/>
          </p:nvSpPr>
          <p:spPr>
            <a:xfrm>
              <a:off x="107351" y="3170836"/>
              <a:ext cx="876703" cy="35505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41" name="Freeform 16"/>
            <p:cNvSpPr/>
            <p:nvPr/>
          </p:nvSpPr>
          <p:spPr>
            <a:xfrm>
              <a:off x="27868" y="0"/>
              <a:ext cx="109304" cy="31231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fill="norm" stroke="1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42" name="Freeform 17"/>
            <p:cNvSpPr/>
            <p:nvPr/>
          </p:nvSpPr>
          <p:spPr>
            <a:xfrm>
              <a:off x="83495" y="2896494"/>
              <a:ext cx="83496" cy="5268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43" name="Freeform 18"/>
            <p:cNvSpPr/>
            <p:nvPr/>
          </p:nvSpPr>
          <p:spPr>
            <a:xfrm>
              <a:off x="821038" y="5600154"/>
              <a:ext cx="202775" cy="10933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44" name="Freeform 19"/>
            <p:cNvSpPr/>
            <p:nvPr/>
          </p:nvSpPr>
          <p:spPr>
            <a:xfrm>
              <a:off x="827001" y="1248454"/>
              <a:ext cx="2214617" cy="43179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45" name="Freeform 20"/>
            <p:cNvSpPr/>
            <p:nvPr/>
          </p:nvSpPr>
          <p:spPr>
            <a:xfrm>
              <a:off x="984053" y="6721377"/>
              <a:ext cx="172956" cy="3598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46" name="Freeform 21"/>
            <p:cNvSpPr/>
            <p:nvPr/>
          </p:nvSpPr>
          <p:spPr>
            <a:xfrm>
              <a:off x="821038" y="5472923"/>
              <a:ext cx="39761" cy="236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47" name="Freeform 22"/>
            <p:cNvSpPr/>
            <p:nvPr/>
          </p:nvSpPr>
          <p:spPr>
            <a:xfrm>
              <a:off x="906521" y="6417215"/>
              <a:ext cx="254463" cy="663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</p:grpSp>
      <p:grpSp>
        <p:nvGrpSpPr>
          <p:cNvPr id="161" name="Group 9"/>
          <p:cNvGrpSpPr/>
          <p:nvPr/>
        </p:nvGrpSpPr>
        <p:grpSpPr>
          <a:xfrm>
            <a:off x="29035" y="1218361"/>
            <a:ext cx="2513787" cy="7310977"/>
            <a:chOff x="0" y="0"/>
            <a:chExt cx="2513785" cy="7310975"/>
          </a:xfrm>
        </p:grpSpPr>
        <p:sp>
          <p:nvSpPr>
            <p:cNvPr id="149" name="Freeform 27"/>
            <p:cNvSpPr/>
            <p:nvPr/>
          </p:nvSpPr>
          <p:spPr>
            <a:xfrm>
              <a:off x="0" y="-1"/>
              <a:ext cx="527282" cy="46944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50" name="Freeform 28"/>
            <p:cNvSpPr/>
            <p:nvPr/>
          </p:nvSpPr>
          <p:spPr>
            <a:xfrm>
              <a:off x="557938" y="4605075"/>
              <a:ext cx="451666" cy="16860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51" name="Freeform 29"/>
            <p:cNvSpPr/>
            <p:nvPr/>
          </p:nvSpPr>
          <p:spPr>
            <a:xfrm>
              <a:off x="1044345" y="6254366"/>
              <a:ext cx="459841" cy="1056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52" name="Freeform 30"/>
            <p:cNvSpPr/>
            <p:nvPr/>
          </p:nvSpPr>
          <p:spPr>
            <a:xfrm>
              <a:off x="527281" y="4656169"/>
              <a:ext cx="588595" cy="2385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53" name="Freeform 31"/>
            <p:cNvSpPr/>
            <p:nvPr/>
          </p:nvSpPr>
          <p:spPr>
            <a:xfrm>
              <a:off x="473932" y="1375982"/>
              <a:ext cx="182106" cy="32290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54" name="Freeform 32"/>
            <p:cNvSpPr/>
            <p:nvPr/>
          </p:nvSpPr>
          <p:spPr>
            <a:xfrm>
              <a:off x="1156750" y="7010546"/>
              <a:ext cx="143062" cy="3004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55" name="Freeform 33"/>
            <p:cNvSpPr/>
            <p:nvPr/>
          </p:nvSpPr>
          <p:spPr>
            <a:xfrm>
              <a:off x="506844" y="4382310"/>
              <a:ext cx="87882" cy="5456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56" name="Freeform 34"/>
            <p:cNvSpPr/>
            <p:nvPr/>
          </p:nvSpPr>
          <p:spPr>
            <a:xfrm>
              <a:off x="1009601" y="3356357"/>
              <a:ext cx="1504185" cy="2898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57" name="Freeform 35"/>
            <p:cNvSpPr/>
            <p:nvPr/>
          </p:nvSpPr>
          <p:spPr>
            <a:xfrm>
              <a:off x="1115875" y="7041201"/>
              <a:ext cx="128757" cy="2697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58" name="Freeform 36"/>
            <p:cNvSpPr/>
            <p:nvPr/>
          </p:nvSpPr>
          <p:spPr>
            <a:xfrm>
              <a:off x="1009601" y="6291153"/>
              <a:ext cx="147150" cy="71939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59" name="Freeform 37"/>
            <p:cNvSpPr/>
            <p:nvPr/>
          </p:nvSpPr>
          <p:spPr>
            <a:xfrm>
              <a:off x="1009601" y="6158310"/>
              <a:ext cx="40876" cy="2432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  <p:sp>
          <p:nvSpPr>
            <p:cNvPr id="160" name="Freeform 38"/>
            <p:cNvSpPr/>
            <p:nvPr/>
          </p:nvSpPr>
          <p:spPr>
            <a:xfrm>
              <a:off x="1044345" y="6744861"/>
              <a:ext cx="224811" cy="5661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8767" tIns="48767" rIns="48767" bIns="48767" numCol="1" anchor="t">
              <a:noAutofit/>
            </a:bodyPr>
            <a:lstStyle/>
            <a:p>
              <a:pPr algn="l" defTabSz="1300480">
                <a:defRPr b="0">
                  <a:latin typeface="Century Gothic"/>
                  <a:ea typeface="Century Gothic"/>
                  <a:cs typeface="Century Gothic"/>
                  <a:sym typeface="Century Gothic"/>
                </a:defRPr>
              </a:pPr>
            </a:p>
          </p:txBody>
        </p:sp>
      </p:grpSp>
      <p:sp>
        <p:nvSpPr>
          <p:cNvPr id="162" name="Rectangle 6"/>
          <p:cNvSpPr/>
          <p:nvPr/>
        </p:nvSpPr>
        <p:spPr>
          <a:xfrm>
            <a:off x="-1" y="1219199"/>
            <a:ext cx="195073" cy="7315201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8767" tIns="48767" rIns="48767" bIns="48767"/>
          <a:lstStyle/>
          <a:p>
            <a:pPr algn="l" defTabSz="1300480">
              <a:defRPr b="0"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pic>
        <p:nvPicPr>
          <p:cNvPr id="163" name="Imagem 8" descr="Imagem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23469" y="1250275"/>
            <a:ext cx="1657950" cy="781605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Texto do título"/>
          <p:cNvSpPr txBox="1"/>
          <p:nvPr>
            <p:ph type="title"/>
          </p:nvPr>
        </p:nvSpPr>
        <p:spPr>
          <a:xfrm>
            <a:off x="2765786" y="1884917"/>
            <a:ext cx="9505802" cy="1366283"/>
          </a:xfrm>
          <a:prstGeom prst="rect">
            <a:avLst/>
          </a:prstGeom>
        </p:spPr>
        <p:txBody>
          <a:bodyPr lIns="48767" tIns="48767" rIns="48767" bIns="48767" anchor="t"/>
          <a:lstStyle>
            <a:lvl1pPr algn="l" defTabSz="650240">
              <a:defRPr sz="50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165" name="Nível um…"/>
          <p:cNvSpPr txBox="1"/>
          <p:nvPr>
            <p:ph type="body" sz="half" idx="1"/>
          </p:nvPr>
        </p:nvSpPr>
        <p:spPr>
          <a:xfrm>
            <a:off x="2761825" y="3495039"/>
            <a:ext cx="9509762" cy="4029465"/>
          </a:xfrm>
          <a:prstGeom prst="rect">
            <a:avLst/>
          </a:prstGeom>
        </p:spPr>
        <p:txBody>
          <a:bodyPr lIns="48767" tIns="48767" rIns="48767" bIns="48767" anchor="t"/>
          <a:lstStyle>
            <a:lvl1pPr marL="457200" indent="-457200" defTabSz="650240">
              <a:spcBef>
                <a:spcPts val="1400"/>
              </a:spcBef>
              <a:buClr>
                <a:srgbClr val="A53010"/>
              </a:buClr>
              <a:buSzPct val="100000"/>
              <a:buChar char=""/>
              <a:defRPr sz="24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885825" indent="-428625" defTabSz="650240">
              <a:spcBef>
                <a:spcPts val="1400"/>
              </a:spcBef>
              <a:buClr>
                <a:srgbClr val="A53010"/>
              </a:buClr>
              <a:buSzPct val="100000"/>
              <a:buChar char=""/>
              <a:defRPr sz="24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06285" indent="-391885" defTabSz="650240">
              <a:spcBef>
                <a:spcPts val="1400"/>
              </a:spcBef>
              <a:buClr>
                <a:srgbClr val="A53010"/>
              </a:buClr>
              <a:buSzPct val="100000"/>
              <a:buChar char=""/>
              <a:defRPr sz="24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indent="-457200" defTabSz="650240">
              <a:spcBef>
                <a:spcPts val="1400"/>
              </a:spcBef>
              <a:buClr>
                <a:srgbClr val="A53010"/>
              </a:buClr>
              <a:buSzPct val="100000"/>
              <a:buChar char=""/>
              <a:defRPr sz="24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indent="-457200" defTabSz="650240">
              <a:spcBef>
                <a:spcPts val="1400"/>
              </a:spcBef>
              <a:buClr>
                <a:srgbClr val="A53010"/>
              </a:buClr>
              <a:buSzPct val="100000"/>
              <a:buChar char=""/>
              <a:defRPr sz="24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</a:lstStyle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66" name="Freeform 11"/>
          <p:cNvSpPr/>
          <p:nvPr/>
        </p:nvSpPr>
        <p:spPr>
          <a:xfrm flipH="1" rot="10800000">
            <a:off x="-4469" y="1981199"/>
            <a:ext cx="1701988" cy="5411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fill="norm" stroke="1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rgbClr val="A53010"/>
          </a:solidFill>
          <a:ln w="12700">
            <a:miter lim="400000"/>
          </a:ln>
        </p:spPr>
        <p:txBody>
          <a:bodyPr lIns="48767" tIns="48767" rIns="48767" bIns="48767"/>
          <a:lstStyle/>
          <a:p>
            <a:pPr algn="l" defTabSz="1300480">
              <a:defRPr b="0"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67" name="Número do diapositivo"/>
          <p:cNvSpPr txBox="1"/>
          <p:nvPr>
            <p:ph type="sldNum" sz="quarter" idx="2"/>
          </p:nvPr>
        </p:nvSpPr>
        <p:spPr>
          <a:xfrm>
            <a:off x="894634" y="1989565"/>
            <a:ext cx="504384" cy="529337"/>
          </a:xfrm>
          <a:prstGeom prst="rect">
            <a:avLst/>
          </a:prstGeom>
        </p:spPr>
        <p:txBody>
          <a:bodyPr lIns="48767" tIns="48767" rIns="48767" bIns="48767" anchor="ctr"/>
          <a:lstStyle>
            <a:lvl1pPr algn="r" defTabSz="1300480">
              <a:defRPr sz="2800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 e alín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o do título"/>
          <p:cNvSpPr txBox="1"/>
          <p:nvPr>
            <p:ph type="title"/>
          </p:nvPr>
        </p:nvSpPr>
        <p:spPr>
          <a:xfrm>
            <a:off x="-27488" y="6357"/>
            <a:ext cx="13059776" cy="1663701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175" name="Nível um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</p:spPr>
        <p:txBody>
          <a:bodyPr/>
          <a:lstStyle/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76" name="Número do diapositivo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ítulo, alíneas e fotograf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Imagem"/>
          <p:cNvSpPr/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84" name="Texto do título"/>
          <p:cNvSpPr txBox="1"/>
          <p:nvPr>
            <p:ph type="title"/>
          </p:nvPr>
        </p:nvSpPr>
        <p:spPr>
          <a:xfrm>
            <a:off x="-61516" y="6357"/>
            <a:ext cx="13127832" cy="1663701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Texto do título</a:t>
            </a:r>
          </a:p>
        </p:txBody>
      </p:sp>
      <p:sp>
        <p:nvSpPr>
          <p:cNvPr id="185" name="Nível um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186" name="Número do diapositivo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upo"/>
          <p:cNvGrpSpPr/>
          <p:nvPr/>
        </p:nvGrpSpPr>
        <p:grpSpPr>
          <a:xfrm>
            <a:off x="-1" y="-1"/>
            <a:ext cx="13004803" cy="776677"/>
            <a:chOff x="0" y="0"/>
            <a:chExt cx="13004800" cy="776675"/>
          </a:xfrm>
        </p:grpSpPr>
        <p:sp>
          <p:nvSpPr>
            <p:cNvPr id="193" name="Retângulo"/>
            <p:cNvSpPr/>
            <p:nvPr/>
          </p:nvSpPr>
          <p:spPr>
            <a:xfrm>
              <a:off x="-1" y="0"/>
              <a:ext cx="406402" cy="758614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CCCCE6"/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1300480">
                <a:defRPr b="0" sz="3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94" name="Retângulo"/>
            <p:cNvSpPr/>
            <p:nvPr/>
          </p:nvSpPr>
          <p:spPr>
            <a:xfrm>
              <a:off x="587021" y="191911"/>
              <a:ext cx="12417780" cy="390596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00007D"/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 sz="3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195" name="Retângulo"/>
            <p:cNvSpPr/>
            <p:nvPr/>
          </p:nvSpPr>
          <p:spPr>
            <a:xfrm>
              <a:off x="582506" y="191911"/>
              <a:ext cx="196428" cy="200943"/>
            </a:xfrm>
            <a:prstGeom prst="rect">
              <a:avLst/>
            </a:prstGeom>
            <a:solidFill>
              <a:srgbClr val="CCCCE6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666699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6" name="Retângulo"/>
            <p:cNvSpPr/>
            <p:nvPr/>
          </p:nvSpPr>
          <p:spPr>
            <a:xfrm>
              <a:off x="778933" y="0"/>
              <a:ext cx="198685" cy="196427"/>
            </a:xfrm>
            <a:prstGeom prst="rect">
              <a:avLst/>
            </a:prstGeom>
            <a:solidFill>
              <a:srgbClr val="CCCCE6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666699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7" name="Quadrado"/>
            <p:cNvSpPr/>
            <p:nvPr/>
          </p:nvSpPr>
          <p:spPr>
            <a:xfrm>
              <a:off x="778933" y="191911"/>
              <a:ext cx="198685" cy="200943"/>
            </a:xfrm>
            <a:prstGeom prst="rect">
              <a:avLst/>
            </a:prstGeom>
            <a:solidFill>
              <a:srgbClr val="9999CC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9999CC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8" name="Quadrado"/>
            <p:cNvSpPr/>
            <p:nvPr/>
          </p:nvSpPr>
          <p:spPr>
            <a:xfrm>
              <a:off x="390595" y="390595"/>
              <a:ext cx="194170" cy="196428"/>
            </a:xfrm>
            <a:prstGeom prst="rect">
              <a:avLst/>
            </a:prstGeom>
            <a:solidFill>
              <a:srgbClr val="CCCCE6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666699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199" name="Retângulo"/>
            <p:cNvSpPr/>
            <p:nvPr/>
          </p:nvSpPr>
          <p:spPr>
            <a:xfrm>
              <a:off x="187395" y="194168"/>
              <a:ext cx="200943" cy="196428"/>
            </a:xfrm>
            <a:prstGeom prst="rect">
              <a:avLst/>
            </a:prstGeom>
            <a:solidFill>
              <a:srgbClr val="00007D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 sz="3400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200" name="Quadrado"/>
            <p:cNvSpPr/>
            <p:nvPr/>
          </p:nvSpPr>
          <p:spPr>
            <a:xfrm>
              <a:off x="582506" y="386080"/>
              <a:ext cx="196428" cy="196427"/>
            </a:xfrm>
            <a:prstGeom prst="rect">
              <a:avLst/>
            </a:prstGeom>
            <a:solidFill>
              <a:srgbClr val="9999CC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9999CC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01" name="Quadrado"/>
            <p:cNvSpPr/>
            <p:nvPr/>
          </p:nvSpPr>
          <p:spPr>
            <a:xfrm>
              <a:off x="390595" y="582506"/>
              <a:ext cx="194170" cy="194170"/>
            </a:xfrm>
            <a:prstGeom prst="rect">
              <a:avLst/>
            </a:prstGeom>
            <a:solidFill>
              <a:srgbClr val="9999CC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solidFill>
                    <a:srgbClr val="9999CC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sp>
        <p:nvSpPr>
          <p:cNvPr id="203" name="Número do diapositivo"/>
          <p:cNvSpPr txBox="1"/>
          <p:nvPr>
            <p:ph type="sldNum" sz="quarter" idx="2"/>
          </p:nvPr>
        </p:nvSpPr>
        <p:spPr>
          <a:xfrm>
            <a:off x="11940746" y="9114705"/>
            <a:ext cx="413814" cy="422149"/>
          </a:xfrm>
          <a:prstGeom prst="rect">
            <a:avLst/>
          </a:prstGeom>
        </p:spPr>
        <p:txBody>
          <a:bodyPr lIns="65023" tIns="65023" rIns="65023" bIns="65023" anchor="b"/>
          <a:lstStyle>
            <a:lvl1pPr algn="r" defTabSz="1300480"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1" descr="Picture1"/>
          <p:cNvPicPr>
            <a:picLocks noChangeAspect="1"/>
          </p:cNvPicPr>
          <p:nvPr/>
        </p:nvPicPr>
        <p:blipFill>
          <a:blip r:embed="rId2">
            <a:extLst/>
          </a:blip>
          <a:srcRect l="842" t="0" r="947" b="0"/>
          <a:stretch>
            <a:fillRect/>
          </a:stretch>
        </p:blipFill>
        <p:spPr>
          <a:xfrm>
            <a:off x="428977" y="711421"/>
            <a:ext cx="12250704" cy="988686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Número do diapositivo"/>
          <p:cNvSpPr txBox="1"/>
          <p:nvPr>
            <p:ph type="sldNum" sz="quarter" idx="2"/>
          </p:nvPr>
        </p:nvSpPr>
        <p:spPr>
          <a:xfrm>
            <a:off x="12083626" y="9085298"/>
            <a:ext cx="481780" cy="475677"/>
          </a:xfrm>
          <a:prstGeom prst="rect">
            <a:avLst/>
          </a:prstGeom>
        </p:spPr>
        <p:txBody>
          <a:bodyPr lIns="65023" tIns="65023" rIns="65023" bIns="65023"/>
          <a:lstStyle>
            <a:lvl1pPr algn="l" defTabSz="1300480">
              <a:spcBef>
                <a:spcPts val="1500"/>
              </a:spcBef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212" name="Picture2" descr="Picture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2559" y="325119"/>
            <a:ext cx="1806224" cy="1065672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Texto"/>
          <p:cNvSpPr txBox="1"/>
          <p:nvPr/>
        </p:nvSpPr>
        <p:spPr>
          <a:xfrm>
            <a:off x="12083626" y="9085298"/>
            <a:ext cx="921175" cy="475677"/>
          </a:xfrm>
          <a:prstGeom prst="rect">
            <a:avLst/>
          </a:prstGeom>
          <a:ln w="12700">
            <a:miter lim="400000"/>
          </a:ln>
        </p:spPr>
        <p:txBody>
          <a:bodyPr lIns="65023" tIns="65023" rIns="65023" bIns="65023">
            <a:spAutoFit/>
          </a:bodyPr>
          <a:lstStyle/>
          <a:p>
            <a:pPr algn="l" defTabSz="1300480">
              <a:spcBef>
                <a:spcPts val="1500"/>
              </a:spcBef>
              <a:defRPr b="0"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ível um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Nível um</a:t>
            </a:r>
          </a:p>
          <a:p>
            <a:pPr lvl="1"/>
            <a:r>
              <a:t>Nível dois</a:t>
            </a:r>
          </a:p>
          <a:p>
            <a:pPr lvl="2"/>
            <a:r>
              <a:t>Nível três</a:t>
            </a:r>
          </a:p>
          <a:p>
            <a:pPr lvl="3"/>
            <a:r>
              <a:t>Nível quatro</a:t>
            </a:r>
          </a:p>
          <a:p>
            <a:pPr lvl="4"/>
            <a:r>
              <a:t>Nível cinco</a:t>
            </a:r>
          </a:p>
        </p:txBody>
      </p:sp>
      <p:sp>
        <p:nvSpPr>
          <p:cNvPr id="3" name="Texto do título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Texto do título</a:t>
            </a:r>
          </a:p>
        </p:txBody>
      </p:sp>
      <p:sp>
        <p:nvSpPr>
          <p:cNvPr id="4" name="Número do diapositivo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e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e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e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5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7.jpeg"/><Relationship Id="rId5" Type="http://schemas.openxmlformats.org/officeDocument/2006/relationships/image" Target="../media/image8.jpeg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eg"/><Relationship Id="rId3" Type="http://schemas.openxmlformats.org/officeDocument/2006/relationships/image" Target="../media/image41.png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eg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eg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png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eg"/><Relationship Id="rId3" Type="http://schemas.openxmlformats.org/officeDocument/2006/relationships/image" Target="../media/image43.png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png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eg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png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png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tif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hyperlink" Target="http://www.cengage.com.br" TargetMode="Externa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jpeg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53.png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tif"/><Relationship Id="rId3" Type="http://schemas.openxmlformats.org/officeDocument/2006/relationships/hyperlink" Target="http://ecalculo.if.usp.br/derivadas/popups/interp_geom.htm" TargetMode="External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Derivadas…"/>
          <p:cNvSpPr txBox="1"/>
          <p:nvPr>
            <p:ph type="ctrTitle"/>
          </p:nvPr>
        </p:nvSpPr>
        <p:spPr>
          <a:xfrm>
            <a:off x="3767" y="1638300"/>
            <a:ext cx="12997266" cy="3302000"/>
          </a:xfrm>
          <a:prstGeom prst="rect">
            <a:avLst/>
          </a:prstGeom>
          <a:solidFill>
            <a:schemeClr val="accent1">
              <a:lumOff val="-13575"/>
            </a:schemeClr>
          </a:solidFill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Derivadas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Introdução</a:t>
            </a:r>
          </a:p>
        </p:txBody>
      </p:sp>
      <p:sp>
        <p:nvSpPr>
          <p:cNvPr id="223" name="Matemática Aplicada II"/>
          <p:cNvSpPr txBox="1"/>
          <p:nvPr/>
        </p:nvSpPr>
        <p:spPr>
          <a:xfrm>
            <a:off x="1270000" y="5410200"/>
            <a:ext cx="10464800" cy="1718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defRPr sz="4000"/>
            </a:lvl1pPr>
          </a:lstStyle>
          <a:p>
            <a:pPr/>
            <a:r>
              <a:t>Matemática Aplicada II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Objetivos da Aul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Objetivos da Aula</a:t>
            </a:r>
          </a:p>
        </p:txBody>
      </p:sp>
      <p:sp>
        <p:nvSpPr>
          <p:cNvPr id="226" name="Taxa de Variaçã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Taxa de Variação</a:t>
            </a:r>
          </a:p>
          <a:p>
            <a:pPr/>
            <a:r>
              <a:t>Introdução a Derivadas</a:t>
            </a:r>
          </a:p>
          <a:p>
            <a:pPr/>
            <a:r>
              <a:t>Derivadas Importantes</a:t>
            </a:r>
          </a:p>
        </p:txBody>
      </p:sp>
      <p:pic>
        <p:nvPicPr>
          <p:cNvPr id="227" name="Imagem" descr="Imagem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09194" y="2815464"/>
            <a:ext cx="5089438" cy="56159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Imagem" descr="Imagem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2929" t="0" r="2929" b="0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230" name="INTRODUÇÃO"/>
          <p:cNvSpPr txBox="1"/>
          <p:nvPr/>
        </p:nvSpPr>
        <p:spPr>
          <a:xfrm>
            <a:off x="4275772" y="4447859"/>
            <a:ext cx="4453256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/>
            <a:r>
              <a:t>INTRODUÇÃO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Questões em Abert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Questões em Aberto</a:t>
            </a:r>
          </a:p>
        </p:txBody>
      </p:sp>
      <p:sp>
        <p:nvSpPr>
          <p:cNvPr id="233" name="O que é uma reta tangente e uma reta secante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74687" indent="-674687">
              <a:spcBef>
                <a:spcPts val="800"/>
              </a:spcBef>
              <a:buSzPct val="100000"/>
              <a:buAutoNum type="arabicPeriod" startAt="1"/>
              <a:defRPr sz="3400"/>
            </a:pPr>
            <a:r>
              <a:t>O que é uma reta tangente e uma reta secante? </a:t>
            </a:r>
          </a:p>
          <a:p>
            <a:pPr marL="674687" indent="-674687">
              <a:spcBef>
                <a:spcPts val="800"/>
              </a:spcBef>
              <a:buSzPct val="100000"/>
              <a:buAutoNum type="arabicPeriod" startAt="1"/>
              <a:defRPr sz="3400"/>
            </a:pPr>
            <a:r>
              <a:t>Numa função, o que significa dizer que o coeficiente de retas tangente e secante são iguais?</a:t>
            </a:r>
          </a:p>
          <a:p>
            <a:pPr marL="674687" indent="-674687">
              <a:spcBef>
                <a:spcPts val="800"/>
              </a:spcBef>
              <a:buSzPct val="100000"/>
              <a:buAutoNum type="arabicPeriod" startAt="1"/>
              <a:defRPr sz="3400"/>
            </a:pPr>
            <a:r>
              <a:t>Qual a definição de derivada?</a:t>
            </a:r>
          </a:p>
          <a:p>
            <a:pPr marL="674687" indent="-674687">
              <a:spcBef>
                <a:spcPts val="800"/>
              </a:spcBef>
              <a:buSzPct val="100000"/>
              <a:buAutoNum type="arabicPeriod" startAt="1"/>
              <a:defRPr sz="3400"/>
            </a:pPr>
            <a:r>
              <a:t>O que é? Para que serve? Onde se aplica uma derivada?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8491" t="22438" r="23434" b="9640"/>
          <a:stretch>
            <a:fillRect/>
          </a:stretch>
        </p:blipFill>
        <p:spPr>
          <a:xfrm>
            <a:off x="2330863" y="3617115"/>
            <a:ext cx="9421708" cy="528545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8" name="Grupo"/>
          <p:cNvGrpSpPr/>
          <p:nvPr/>
        </p:nvGrpSpPr>
        <p:grpSpPr>
          <a:xfrm>
            <a:off x="512276" y="2835507"/>
            <a:ext cx="4813583" cy="1289193"/>
            <a:chOff x="0" y="0"/>
            <a:chExt cx="4813582" cy="1289191"/>
          </a:xfrm>
        </p:grpSpPr>
        <p:sp>
          <p:nvSpPr>
            <p:cNvPr id="236" name="Balão de citação"/>
            <p:cNvSpPr/>
            <p:nvPr/>
          </p:nvSpPr>
          <p:spPr>
            <a:xfrm>
              <a:off x="0" y="0"/>
              <a:ext cx="4813583" cy="1289192"/>
            </a:xfrm>
            <a:prstGeom prst="wedgeEllipseCallout">
              <a:avLst>
                <a:gd name="adj1" fmla="val 18569"/>
                <a:gd name="adj2" fmla="val 57829"/>
              </a:avLst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1300480">
                <a:defRPr b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37" name="O ponto P se aproximando do Q."/>
            <p:cNvSpPr txBox="1"/>
            <p:nvPr/>
          </p:nvSpPr>
          <p:spPr>
            <a:xfrm>
              <a:off x="704877" y="228957"/>
              <a:ext cx="3403828" cy="8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ctr">
              <a:spAutoFit/>
            </a:bodyPr>
            <a:lstStyle>
              <a:lvl1pPr defTabSz="1300480">
                <a:defRPr b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 ponto P se aproximando do Q. </a:t>
              </a:r>
            </a:p>
          </p:txBody>
        </p:sp>
      </p:grpSp>
      <p:grpSp>
        <p:nvGrpSpPr>
          <p:cNvPr id="241" name="Grupo"/>
          <p:cNvGrpSpPr/>
          <p:nvPr/>
        </p:nvGrpSpPr>
        <p:grpSpPr>
          <a:xfrm>
            <a:off x="6913076" y="2835507"/>
            <a:ext cx="4811326" cy="1740748"/>
            <a:chOff x="0" y="0"/>
            <a:chExt cx="4811324" cy="1740746"/>
          </a:xfrm>
        </p:grpSpPr>
        <p:sp>
          <p:nvSpPr>
            <p:cNvPr id="239" name="Balão de citação"/>
            <p:cNvSpPr/>
            <p:nvPr/>
          </p:nvSpPr>
          <p:spPr>
            <a:xfrm>
              <a:off x="0" y="0"/>
              <a:ext cx="4811325" cy="1740747"/>
            </a:xfrm>
            <a:prstGeom prst="wedgeEllipseCallout">
              <a:avLst>
                <a:gd name="adj1" fmla="val 11815"/>
                <a:gd name="adj2" fmla="val 70282"/>
              </a:avLst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1300480">
                <a:defRPr b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40" name="A inclinação da secante igual a tangente"/>
            <p:cNvSpPr txBox="1"/>
            <p:nvPr/>
          </p:nvSpPr>
          <p:spPr>
            <a:xfrm>
              <a:off x="704547" y="454735"/>
              <a:ext cx="3402231" cy="831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ctr">
              <a:spAutoFit/>
            </a:bodyPr>
            <a:lstStyle>
              <a:lvl1pPr defTabSz="1300480">
                <a:defRPr b="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inclinação da secante igual a tangente</a:t>
              </a:r>
            </a:p>
          </p:txBody>
        </p:sp>
      </p:grpSp>
      <p:sp>
        <p:nvSpPr>
          <p:cNvPr id="242" name="Reta  Tangente- aquela que se aproxima da função em apenas um ponto Reta  Secante- aquela que se aproxima e corta a função em dois pontos"/>
          <p:cNvSpPr txBox="1"/>
          <p:nvPr>
            <p:ph type="title" idx="4294967295"/>
          </p:nvPr>
        </p:nvSpPr>
        <p:spPr>
          <a:xfrm>
            <a:off x="255128" y="781191"/>
            <a:ext cx="12749673" cy="2153921"/>
          </a:xfrm>
          <a:prstGeom prst="rect">
            <a:avLst/>
          </a:prstGeom>
        </p:spPr>
        <p:txBody>
          <a:bodyPr lIns="65023" tIns="65023" rIns="65023" bIns="65023"/>
          <a:lstStyle/>
          <a:p>
            <a:pPr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b="1" sz="2800"/>
              <a:t>Reta  Tangente- </a:t>
            </a:r>
            <a:r>
              <a:rPr sz="2800"/>
              <a:t>aquela que se aproxima da função em apenas um ponto</a:t>
            </a:r>
            <a:br>
              <a:rPr sz="2800"/>
            </a:br>
            <a:r>
              <a:rPr b="1" sz="2800"/>
              <a:t>Reta  Secante- </a:t>
            </a:r>
            <a:r>
              <a:rPr sz="2800"/>
              <a:t>aquela que se aproxima e corta a função em dois pontos</a:t>
            </a:r>
          </a:p>
        </p:txBody>
      </p:sp>
      <p:sp>
        <p:nvSpPr>
          <p:cNvPr id="243" name="Pág 77- Stewart"/>
          <p:cNvSpPr txBox="1"/>
          <p:nvPr/>
        </p:nvSpPr>
        <p:spPr>
          <a:xfrm>
            <a:off x="11394385" y="9432358"/>
            <a:ext cx="1497141" cy="312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1500"/>
            </a:lvl1pPr>
          </a:lstStyle>
          <a:p>
            <a:pPr/>
            <a:r>
              <a:t>Pág 77- Stewart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História Derivad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História Derivadas</a:t>
            </a:r>
          </a:p>
        </p:txBody>
      </p:sp>
      <p:sp>
        <p:nvSpPr>
          <p:cNvPr id="246" name="O conceito foi introduzido em meados dos séculos XVII e XVIII em estudos de problemas de Físic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t>O conceito foi introduzido em meados dos séculos XVII e XVIII em estudos de problemas de Física</a:t>
            </a:r>
          </a:p>
          <a:p>
            <a:pPr>
              <a:lnSpc>
                <a:spcPct val="90000"/>
              </a:lnSpc>
            </a:pPr>
            <a:r>
              <a:t>Destacam-se Isaac Newton, Leibniz e Lagrange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O que é uma derivad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 que é uma derivada?</a:t>
            </a:r>
          </a:p>
        </p:txBody>
      </p:sp>
      <p:sp>
        <p:nvSpPr>
          <p:cNvPr id="249" name="É a taxa de variação de uma variável y em relação a x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É a taxa de variação de uma variável y em relação a x</a:t>
            </a:r>
          </a:p>
          <a:p>
            <a:pPr lvl="1" marL="972343" indent="-527843">
              <a:spcBef>
                <a:spcPts val="0"/>
              </a:spcBef>
              <a:defRPr sz="3800"/>
            </a:pPr>
          </a:p>
          <a:p>
            <a:pPr lvl="1" marL="972343" indent="-527843">
              <a:spcBef>
                <a:spcPts val="0"/>
              </a:spcBef>
            </a:pPr>
            <a:r>
              <a:t>A velocidade instantânea é a derivada da posição em relação ao tempo</a:t>
            </a:r>
          </a:p>
          <a:p>
            <a:pPr lvl="1" marL="972343" indent="-527843">
              <a:spcBef>
                <a:spcPts val="0"/>
              </a:spcBef>
            </a:pPr>
          </a:p>
          <a:p>
            <a:pPr lvl="1" marL="972343" indent="-527843">
              <a:spcBef>
                <a:spcPts val="0"/>
              </a:spcBef>
            </a:pPr>
            <a:r>
              <a:t>A aceleração instantânea é a derivada da velocidade em relação ao tempo…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ara que servem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Para que servem?</a:t>
            </a:r>
          </a:p>
        </p:txBody>
      </p:sp>
      <p:sp>
        <p:nvSpPr>
          <p:cNvPr id="252" name="No dia-a-dia, é comum lidar com variáveis que apresentam constantes alterações ao longo do tempo, como por exemplo, a temperatura de uma cidade, ou até mesmo a velocidade de um carro em uma estrad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87270" indent="-387270" defTabSz="479044">
              <a:spcBef>
                <a:spcPts val="600"/>
              </a:spcBef>
              <a:defRPr sz="2788"/>
            </a:pPr>
            <a:r>
              <a:t>No dia-a-dia, é comum lidar com variáveis que apresentam constantes </a:t>
            </a:r>
            <a:r>
              <a:rPr b="1"/>
              <a:t>alterações ao longo do tempo</a:t>
            </a:r>
            <a:r>
              <a:t>, como por exemplo, a temperatura de uma cidade, ou até mesmo a velocidade de um carro em uma estrada</a:t>
            </a:r>
          </a:p>
          <a:p>
            <a:pPr marL="387270" indent="-387270" defTabSz="479044">
              <a:spcBef>
                <a:spcPts val="600"/>
              </a:spcBef>
              <a:defRPr sz="2788"/>
            </a:pPr>
          </a:p>
          <a:p>
            <a:pPr marL="387270" indent="-387270" defTabSz="479044">
              <a:spcBef>
                <a:spcPts val="600"/>
              </a:spcBef>
              <a:defRPr sz="2788"/>
            </a:pPr>
            <a:r>
              <a:t>Muitas vezes, é de interesse descobrir </a:t>
            </a:r>
            <a:r>
              <a:rPr b="1"/>
              <a:t>como uma propriedade varia com a outra</a:t>
            </a:r>
            <a:r>
              <a:t>, isto é, obter a resposta para a seguinte pergunta:</a:t>
            </a:r>
          </a:p>
          <a:p>
            <a:pPr lvl="1" marL="751760" indent="-387270" defTabSz="479044">
              <a:spcBef>
                <a:spcPts val="600"/>
              </a:spcBef>
              <a:defRPr sz="2788"/>
            </a:pPr>
            <a:r>
              <a:t>se eu variar a propriedade x em tantas unidades, qual será a variação observada na outra variável y, que é uma função de x? </a:t>
            </a:r>
          </a:p>
          <a:p>
            <a:pPr marL="387270" indent="-387270" defTabSz="479044">
              <a:spcBef>
                <a:spcPts val="600"/>
              </a:spcBef>
              <a:defRPr sz="2788"/>
            </a:pPr>
          </a:p>
          <a:p>
            <a:pPr marL="387270" indent="-387270" defTabSz="479044">
              <a:spcBef>
                <a:spcPts val="600"/>
              </a:spcBef>
              <a:defRPr sz="2788"/>
            </a:pPr>
            <a:r>
              <a:t>Ou seja, existe algum modo de expressar a </a:t>
            </a:r>
            <a:r>
              <a:rPr b="1"/>
              <a:t>taxa de variação de y de acordo com x</a:t>
            </a:r>
            <a:r>
              <a:t>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oeficiente Angular - Revis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7360"/>
            </a:lvl1pPr>
          </a:lstStyle>
          <a:p>
            <a:pPr/>
            <a:r>
              <a:t>Coeficiente Angular - Revisão</a:t>
            </a:r>
          </a:p>
        </p:txBody>
      </p:sp>
      <p:sp>
        <p:nvSpPr>
          <p:cNvPr id="255" name="O coeficiente angular, também chamado de declividade de uma reta, determina a inclinação de uma reta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 coeficiente angular, também chamado de declividade de uma reta, determina a inclinação de uma reta:</a:t>
            </a:r>
          </a:p>
          <a:p>
            <a:pPr marL="487680" indent="-487680" algn="ctr">
              <a:buSzTx/>
              <a:buNone/>
              <a:defRPr b="1"/>
            </a:pPr>
            <a:r>
              <a:t>m</a:t>
            </a:r>
            <a:r>
              <a:rPr baseline="-5999" sz="2800"/>
              <a:t>t</a:t>
            </a:r>
            <a:r>
              <a:t> = tg </a:t>
            </a:r>
            <a:r>
              <a:t>α</a:t>
            </a:r>
          </a:p>
          <a:p>
            <a:pPr lvl="1" marL="972343" indent="-527843">
              <a:spcBef>
                <a:spcPts val="0"/>
              </a:spcBef>
            </a:pPr>
          </a:p>
          <a:p>
            <a:pPr lvl="1" marL="972343" indent="-527843">
              <a:spcBef>
                <a:spcPts val="0"/>
              </a:spcBef>
            </a:pPr>
            <a:r>
              <a:t>Sendo </a:t>
            </a:r>
            <a:r>
              <a:rPr i="1"/>
              <a:t>m </a:t>
            </a:r>
            <a:r>
              <a:t>um número real e </a:t>
            </a:r>
            <a:r>
              <a:rPr i="1"/>
              <a:t>α</a:t>
            </a:r>
            <a:r>
              <a:t> o ângulo de inclinação da reta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oeficiente Angular - Revis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7360"/>
            </a:lvl1pPr>
          </a:lstStyle>
          <a:p>
            <a:pPr/>
            <a:r>
              <a:t>Coeficiente Angular - Revisão</a:t>
            </a:r>
          </a:p>
        </p:txBody>
      </p:sp>
      <p:sp>
        <p:nvSpPr>
          <p:cNvPr id="258" name="Atenção!…"/>
          <p:cNvSpPr txBox="1"/>
          <p:nvPr>
            <p:ph type="body" sz="half" idx="1"/>
          </p:nvPr>
        </p:nvSpPr>
        <p:spPr>
          <a:xfrm>
            <a:off x="952500" y="2590800"/>
            <a:ext cx="11099800" cy="3711678"/>
          </a:xfrm>
          <a:prstGeom prst="rect">
            <a:avLst/>
          </a:prstGeom>
        </p:spPr>
        <p:txBody>
          <a:bodyPr/>
          <a:lstStyle/>
          <a:p>
            <a:pPr marL="0" indent="0" defTabSz="490727">
              <a:spcBef>
                <a:spcPts val="800"/>
              </a:spcBef>
              <a:buSzTx/>
              <a:buNone/>
              <a:defRPr b="1" sz="319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Atenção!</a:t>
            </a:r>
          </a:p>
          <a:p>
            <a:pPr marL="443388" indent="-443388" defTabSz="490727">
              <a:spcBef>
                <a:spcPts val="800"/>
              </a:spcBef>
              <a:defRPr sz="3191"/>
            </a:pPr>
            <a:r>
              <a:t>Quando o ângulo é igual a 0º: m = tg 0 = 0</a:t>
            </a:r>
          </a:p>
          <a:p>
            <a:pPr marL="443388" indent="-443388" defTabSz="490727">
              <a:spcBef>
                <a:spcPts val="800"/>
              </a:spcBef>
              <a:defRPr sz="3191"/>
            </a:pPr>
            <a:r>
              <a:t>Quando o ângulo </a:t>
            </a:r>
            <a:r>
              <a:rPr i="1"/>
              <a:t>α</a:t>
            </a:r>
            <a:r>
              <a:t> é agudo (menor que 90º): m = tg α &gt; 0</a:t>
            </a:r>
          </a:p>
          <a:p>
            <a:pPr marL="443388" indent="-443388" defTabSz="490727">
              <a:spcBef>
                <a:spcPts val="800"/>
              </a:spcBef>
              <a:defRPr sz="3191"/>
            </a:pPr>
            <a:r>
              <a:t>Quando o ângulo </a:t>
            </a:r>
            <a:r>
              <a:rPr i="1"/>
              <a:t>α </a:t>
            </a:r>
            <a:r>
              <a:t>é reto (90º): não é possível calcular o coeficiente angular, pois não existe a tangente de 90º</a:t>
            </a:r>
          </a:p>
          <a:p>
            <a:pPr marL="443388" indent="-443388" defTabSz="490727">
              <a:spcBef>
                <a:spcPts val="800"/>
              </a:spcBef>
              <a:defRPr sz="3191"/>
            </a:pPr>
            <a:r>
              <a:t>Quando o ângulo </a:t>
            </a:r>
            <a:r>
              <a:rPr i="1"/>
              <a:t>α </a:t>
            </a:r>
            <a:r>
              <a:t>é obtuso (maior que 90º) : m = tg α</a:t>
            </a:r>
          </a:p>
        </p:txBody>
      </p:sp>
      <p:pic>
        <p:nvPicPr>
          <p:cNvPr id="259" name="Retas" descr="Retas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33599" y="6677476"/>
            <a:ext cx="8737601" cy="28041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ara calcular o coeficiente angular de uma reta a partir de dois pontos devemos dividir a variação entre os eixos x e y:"/>
          <p:cNvSpPr txBox="1"/>
          <p:nvPr/>
        </p:nvSpPr>
        <p:spPr>
          <a:xfrm>
            <a:off x="607341" y="1057863"/>
            <a:ext cx="12397461" cy="1686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l" defTabSz="1300480">
              <a:defRPr b="0" sz="3400">
                <a:latin typeface="Droid Serif"/>
                <a:ea typeface="Droid Serif"/>
                <a:cs typeface="Droid Serif"/>
                <a:sym typeface="Droid Serif"/>
              </a:defRPr>
            </a:pPr>
            <a:r>
              <a:t>Para calcular o coeficiente angular de uma reta a partir de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/>
              <a:t>dois pontos</a:t>
            </a:r>
            <a:r>
              <a:rPr>
                <a:latin typeface="Arial"/>
                <a:ea typeface="Arial"/>
                <a:cs typeface="Arial"/>
                <a:sym typeface="Arial"/>
              </a:rPr>
              <a:t> </a:t>
            </a:r>
            <a:r>
              <a:t>devemos dividir a varia</a:t>
            </a:r>
            <a:r>
              <a:rPr>
                <a:latin typeface="Arial"/>
                <a:ea typeface="Arial"/>
                <a:cs typeface="Arial"/>
                <a:sym typeface="Arial"/>
              </a:rPr>
              <a:t>ç</a:t>
            </a:r>
            <a:r>
              <a:t>ão entre os eixos</a:t>
            </a:r>
            <a:r>
              <a:rPr>
                <a:latin typeface="Arial"/>
                <a:ea typeface="Arial"/>
                <a:cs typeface="Arial"/>
                <a:sym typeface="Arial"/>
              </a:rPr>
              <a:t> </a:t>
            </a:r>
            <a:r>
              <a:rPr i="1"/>
              <a:t>x</a:t>
            </a:r>
            <a:r>
              <a:rPr>
                <a:latin typeface="Arial"/>
                <a:ea typeface="Arial"/>
                <a:cs typeface="Arial"/>
                <a:sym typeface="Arial"/>
              </a:rPr>
              <a:t> </a:t>
            </a:r>
            <a:r>
              <a:t>e</a:t>
            </a:r>
            <a:r>
              <a:rPr>
                <a:latin typeface="Arial"/>
                <a:ea typeface="Arial"/>
                <a:cs typeface="Arial"/>
                <a:sym typeface="Arial"/>
              </a:rPr>
              <a:t> </a:t>
            </a:r>
            <a:r>
              <a:rPr i="1"/>
              <a:t>y</a:t>
            </a:r>
            <a:r>
              <a:t>:</a:t>
            </a:r>
            <a:endParaRPr sz="1600"/>
          </a:p>
          <a:p>
            <a:pPr algn="l" defTabSz="1300480">
              <a:defRPr sz="2200">
                <a:latin typeface="Droid Serif"/>
                <a:ea typeface="Droid Serif"/>
                <a:cs typeface="Droid Serif"/>
                <a:sym typeface="Droid Serif"/>
              </a:defRPr>
            </a:pPr>
            <a:r>
              <a:t>  </a:t>
            </a:r>
            <a:r>
              <a:rPr sz="4400">
                <a:latin typeface="Arial"/>
                <a:ea typeface="Arial"/>
                <a:cs typeface="Arial"/>
                <a:sym typeface="Arial"/>
              </a:rPr>
              <a:t> </a:t>
            </a:r>
            <a:r>
              <a:rPr>
                <a:latin typeface="Arial"/>
                <a:ea typeface="Arial"/>
                <a:cs typeface="Arial"/>
                <a:sym typeface="Arial"/>
              </a:rPr>
              <a:t>                                                      </a:t>
            </a:r>
          </a:p>
        </p:txBody>
      </p:sp>
      <p:sp>
        <p:nvSpPr>
          <p:cNvPr id="262" name="Uma reta que passa por A (xa,ya) e B (xb,yb) temos a relação:"/>
          <p:cNvSpPr txBox="1"/>
          <p:nvPr/>
        </p:nvSpPr>
        <p:spPr>
          <a:xfrm>
            <a:off x="607342" y="4242364"/>
            <a:ext cx="10972801" cy="610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1300480">
              <a:defRPr b="0" sz="2800">
                <a:latin typeface="Droid Serif"/>
                <a:ea typeface="Droid Serif"/>
                <a:cs typeface="Droid Serif"/>
                <a:sym typeface="Droid Serif"/>
              </a:defRPr>
            </a:pPr>
            <a:r>
              <a:t>Uma reta que passa por A (x</a:t>
            </a:r>
            <a:r>
              <a:rPr baseline="-19571"/>
              <a:t>a</a:t>
            </a:r>
            <a:r>
              <a:t>,y</a:t>
            </a:r>
            <a:r>
              <a:rPr baseline="-19571"/>
              <a:t>a</a:t>
            </a:r>
            <a:r>
              <a:t>) e B (x</a:t>
            </a:r>
            <a:r>
              <a:rPr baseline="-19571"/>
              <a:t>b</a:t>
            </a:r>
            <a:r>
              <a:t>,y</a:t>
            </a:r>
            <a:r>
              <a:rPr baseline="-19571"/>
              <a:t>b</a:t>
            </a:r>
            <a:r>
              <a:t>) temos a relação:</a:t>
            </a:r>
          </a:p>
        </p:txBody>
      </p:sp>
      <p:sp>
        <p:nvSpPr>
          <p:cNvPr id="263" name="Essa relação pode ser escrita da seguinte forma:…"/>
          <p:cNvSpPr txBox="1"/>
          <p:nvPr/>
        </p:nvSpPr>
        <p:spPr>
          <a:xfrm>
            <a:off x="562186" y="6330511"/>
            <a:ext cx="10695323" cy="315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algn="l" defTabSz="1300480">
              <a:defRPr b="0" sz="3400">
                <a:latin typeface="Droid Serif"/>
                <a:ea typeface="Droid Serif"/>
                <a:cs typeface="Droid Serif"/>
                <a:sym typeface="Droid Serif"/>
              </a:defRPr>
            </a:pPr>
            <a:r>
              <a:t>Essa rela</a:t>
            </a:r>
            <a:r>
              <a:rPr>
                <a:latin typeface="Arial"/>
                <a:ea typeface="Arial"/>
                <a:cs typeface="Arial"/>
                <a:sym typeface="Arial"/>
              </a:rPr>
              <a:t>ç</a:t>
            </a:r>
            <a:r>
              <a:t>ão pode ser escrita da seguinte forma:</a:t>
            </a:r>
            <a:endParaRPr sz="1600"/>
          </a:p>
          <a:p>
            <a:pPr algn="l" defTabSz="1300480">
              <a:defRPr b="0" sz="3400">
                <a:latin typeface="Droid Serif"/>
                <a:ea typeface="Droid Serif"/>
                <a:cs typeface="Droid Serif"/>
                <a:sym typeface="Droid Serif"/>
              </a:defRPr>
            </a:pPr>
            <a:r>
              <a:t>  </a:t>
            </a:r>
            <a:endParaRPr sz="1600"/>
          </a:p>
          <a:p>
            <a:pPr algn="l" defTabSz="1300480">
              <a:defRPr b="0" sz="3400">
                <a:latin typeface="Droid Serif"/>
                <a:ea typeface="Droid Serif"/>
                <a:cs typeface="Droid Serif"/>
                <a:sym typeface="Droid Serif"/>
              </a:defRPr>
            </a:pPr>
          </a:p>
          <a:p>
            <a:pPr algn="l" defTabSz="1300480">
              <a:defRPr b="0" sz="3400">
                <a:latin typeface="Droid Serif"/>
                <a:ea typeface="Droid Serif"/>
                <a:cs typeface="Droid Serif"/>
                <a:sym typeface="Droid Serif"/>
              </a:defRPr>
            </a:pPr>
            <a:r>
              <a:t>Onde,</a:t>
            </a:r>
            <a:endParaRPr sz="1600"/>
          </a:p>
          <a:p>
            <a:pPr algn="l" defTabSz="1300480">
              <a:defRPr sz="3400">
                <a:latin typeface="Droid Serif"/>
                <a:ea typeface="Droid Serif"/>
                <a:cs typeface="Droid Serif"/>
                <a:sym typeface="Droid Serif"/>
              </a:defRPr>
            </a:pPr>
            <a:r>
              <a:t>Δy</a:t>
            </a:r>
            <a:r>
              <a:rPr b="0"/>
              <a:t>: representa a diferen</a:t>
            </a:r>
            <a:r>
              <a:rPr b="0">
                <a:latin typeface="Arial"/>
                <a:ea typeface="Arial"/>
                <a:cs typeface="Arial"/>
                <a:sym typeface="Arial"/>
              </a:rPr>
              <a:t>ç</a:t>
            </a:r>
            <a:r>
              <a:rPr b="0"/>
              <a:t>a entre as ordenadas de A e B</a:t>
            </a:r>
            <a:br>
              <a:rPr b="0"/>
            </a:br>
            <a:r>
              <a:t>Δx</a:t>
            </a:r>
            <a:r>
              <a:rPr b="0"/>
              <a:t>: representa a diferen</a:t>
            </a:r>
            <a:r>
              <a:rPr b="0">
                <a:latin typeface="Arial"/>
                <a:ea typeface="Arial"/>
                <a:cs typeface="Arial"/>
                <a:sym typeface="Arial"/>
              </a:rPr>
              <a:t>ç</a:t>
            </a:r>
            <a:r>
              <a:rPr b="0"/>
              <a:t>a entre as abcissas de A e B</a:t>
            </a:r>
          </a:p>
        </p:txBody>
      </p:sp>
      <p:sp>
        <p:nvSpPr>
          <p:cNvPr id="264" name="Equação"/>
          <p:cNvSpPr txBox="1"/>
          <p:nvPr/>
        </p:nvSpPr>
        <p:spPr>
          <a:xfrm>
            <a:off x="4056360" y="2838235"/>
            <a:ext cx="4892080" cy="64861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algn="l" defTabSz="914400" latinLnBrk="1">
              <a:defRPr b="0"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g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u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num>
                    <m:den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</m:oMath>
              </m:oMathPara>
            </a14:m>
            <a:endParaRPr sz="2400"/>
          </a:p>
        </p:txBody>
      </p:sp>
      <p:sp>
        <p:nvSpPr>
          <p:cNvPr id="265" name="Equação"/>
          <p:cNvSpPr txBox="1"/>
          <p:nvPr/>
        </p:nvSpPr>
        <p:spPr>
          <a:xfrm>
            <a:off x="5758046" y="5383261"/>
            <a:ext cx="1488707" cy="65990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algn="l" defTabSz="914400" latinLnBrk="1">
              <a:defRPr b="0"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b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num>
                    <m:den>
                      <m:sSub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b>
                        <m:e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</m:den>
                  </m:f>
                </m:oMath>
              </m:oMathPara>
            </a14:m>
            <a:endParaRPr sz="2400"/>
          </a:p>
        </p:txBody>
      </p:sp>
      <p:sp>
        <p:nvSpPr>
          <p:cNvPr id="266" name="Equação"/>
          <p:cNvSpPr txBox="1"/>
          <p:nvPr/>
        </p:nvSpPr>
        <p:spPr>
          <a:xfrm>
            <a:off x="5983393" y="7338124"/>
            <a:ext cx="1038014" cy="65257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algn="l" defTabSz="914400" latinLnBrk="1">
              <a:defRPr b="0" sz="1800"/>
            </a:pPr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24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</m:oMath>
              </m:oMathPara>
            </a14:m>
            <a:endParaRPr sz="24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Exemp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Exemplo</a:t>
            </a:r>
          </a:p>
        </p:txBody>
      </p:sp>
      <p:sp>
        <p:nvSpPr>
          <p:cNvPr id="269" name="Exemplo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03097">
              <a:spcBef>
                <a:spcPts val="500"/>
              </a:spcBef>
              <a:buSzTx/>
              <a:buNone/>
              <a:defRPr b="1" sz="234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Exemplo</a:t>
            </a:r>
            <a:r>
              <a:rPr b="0"/>
              <a:t>:</a:t>
            </a:r>
          </a:p>
          <a:p>
            <a:pPr marL="0" indent="0" defTabSz="403097">
              <a:spcBef>
                <a:spcPts val="500"/>
              </a:spcBef>
              <a:buSzTx/>
              <a:buNone/>
              <a:defRPr sz="2346"/>
            </a:pPr>
            <a:r>
              <a:t>Para compreender melhor vamos calcular o coeficiente angular da reta que passa por A (– 5; 4) e B (3,2):</a:t>
            </a:r>
          </a:p>
          <a:p>
            <a:pPr lvl="1" marL="336499" indent="-336499" defTabSz="403097">
              <a:spcBef>
                <a:spcPts val="500"/>
              </a:spcBef>
              <a:buSzTx/>
              <a:buNone/>
              <a:defRPr sz="2346"/>
            </a:pPr>
            <a:r>
              <a:t>	 m = Δy/Δx</a:t>
            </a:r>
            <a:br/>
            <a:r>
              <a:t>	m = 4 – 2 / –5 – 3</a:t>
            </a:r>
            <a:br/>
            <a:r>
              <a:t>	m = 2/–8</a:t>
            </a:r>
            <a:br/>
            <a:r>
              <a:t>	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m = –1/4</a:t>
            </a:r>
          </a:p>
          <a:p>
            <a:pPr marL="336499" indent="-336499" defTabSz="403097">
              <a:spcBef>
                <a:spcPts val="500"/>
              </a:spcBef>
              <a:buSzTx/>
              <a:buNone/>
              <a:defRPr sz="2346"/>
            </a:pPr>
            <a:r>
              <a:t>Esse valor é referente ao cálculo de diferença de 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 para 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B</a:t>
            </a:r>
            <a:r>
              <a:t>.</a:t>
            </a:r>
          </a:p>
          <a:p>
            <a:pPr marL="336499" indent="-336499" defTabSz="403097">
              <a:spcBef>
                <a:spcPts val="2800"/>
              </a:spcBef>
              <a:buSzTx/>
              <a:buNone/>
              <a:defRPr sz="2346"/>
            </a:pPr>
          </a:p>
          <a:p>
            <a:pPr marL="0" indent="0" defTabSz="403097">
              <a:spcBef>
                <a:spcPts val="500"/>
              </a:spcBef>
              <a:buSzTx/>
              <a:buNone/>
              <a:defRPr sz="2346"/>
            </a:pPr>
            <a:r>
              <a:t>Da mesma forma, poderíamos calcular a diferença de 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B</a:t>
            </a:r>
            <a:r>
              <a:t> para 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 e o valor seria o mesmo:</a:t>
            </a:r>
          </a:p>
          <a:p>
            <a:pPr marL="336499" indent="-336499" defTabSz="403097">
              <a:spcBef>
                <a:spcPts val="500"/>
              </a:spcBef>
              <a:buSzTx/>
              <a:buNone/>
              <a:defRPr sz="2346"/>
            </a:pPr>
            <a:r>
              <a:t>	 m = Δy/Δx</a:t>
            </a:r>
            <a:br/>
            <a:r>
              <a:t>	m = 2 – 4 / –3 –(– 5)</a:t>
            </a:r>
            <a:br/>
            <a:r>
              <a:t>	m = –2/8</a:t>
            </a:r>
            <a:br/>
            <a:r>
              <a:t>	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m = –1/4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1000"/>
                                        <p:tgtEl>
                                          <p:spTgt spid="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0" dur="1000"/>
                                        <p:tgtEl>
                                          <p:spTgt spid="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4" dur="1000"/>
                                        <p:tgtEl>
                                          <p:spTgt spid="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26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oeficiente Angular e Linear - Revis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5727"/>
            </a:lvl1pPr>
          </a:lstStyle>
          <a:p>
            <a:pPr/>
            <a:r>
              <a:t>Coeficiente Angular e Linear - Revisão</a:t>
            </a:r>
          </a:p>
        </p:txBody>
      </p:sp>
      <p:sp>
        <p:nvSpPr>
          <p:cNvPr id="272" name="Na função de primeiro grau é representada da seguinte maneira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14095">
              <a:spcBef>
                <a:spcPts val="700"/>
              </a:spcBef>
              <a:buSzTx/>
              <a:buNone/>
              <a:defRPr sz="2816"/>
            </a:pPr>
            <a:r>
              <a:t>Na função de primeiro grau é representada da seguinte maneira:</a:t>
            </a:r>
          </a:p>
          <a:p>
            <a:pPr marL="429158" indent="-429158" defTabSz="514095">
              <a:spcBef>
                <a:spcPts val="700"/>
              </a:spcBef>
              <a:buSzTx/>
              <a:buNone/>
              <a:defRPr b="1" sz="2816"/>
            </a:pPr>
            <a:r>
              <a:t>			f(x) = ax + b</a:t>
            </a:r>
          </a:p>
          <a:p>
            <a:pPr marL="429158" indent="-429158" defTabSz="514095">
              <a:spcBef>
                <a:spcPts val="3600"/>
              </a:spcBef>
              <a:buSzTx/>
              <a:buNone/>
              <a:defRPr sz="2816"/>
            </a:pPr>
          </a:p>
          <a:p>
            <a:pPr marL="429158" indent="-429158" defTabSz="514095">
              <a:spcBef>
                <a:spcPts val="500"/>
              </a:spcBef>
              <a:buSzTx/>
              <a:buNone/>
              <a:defRPr sz="2816"/>
            </a:pPr>
            <a:r>
              <a:t>Onde </a:t>
            </a:r>
            <a:r>
              <a:rPr i="1"/>
              <a:t>a</a:t>
            </a:r>
            <a:r>
              <a:t> e </a:t>
            </a:r>
            <a:r>
              <a:rPr i="1"/>
              <a:t>b </a:t>
            </a:r>
            <a:r>
              <a:t>são números reais e </a:t>
            </a:r>
            <a:r>
              <a:rPr i="1"/>
              <a:t>a≠0</a:t>
            </a:r>
            <a:r>
              <a:t> e </a:t>
            </a:r>
          </a:p>
          <a:p>
            <a:pPr marL="429158" indent="-429158" defTabSz="514095">
              <a:spcBef>
                <a:spcPts val="700"/>
              </a:spcBef>
              <a:buSzTx/>
              <a:buNone/>
              <a:defRPr b="1" sz="2816"/>
            </a:pPr>
            <a:r>
              <a:t>		</a:t>
            </a:r>
            <a:r>
              <a:rPr>
                <a:solidFill>
                  <a:srgbClr val="FF0000"/>
                </a:solidFill>
              </a:rPr>
              <a:t>a</a:t>
            </a:r>
            <a:r>
              <a:rPr b="0"/>
              <a:t>: coeficiente angular (eixo x)</a:t>
            </a:r>
            <a:br>
              <a:rPr b="0"/>
            </a:br>
            <a:r>
              <a:rPr b="0"/>
              <a:t> </a:t>
            </a:r>
            <a:r>
              <a:t>b</a:t>
            </a:r>
            <a:r>
              <a:rPr b="0"/>
              <a:t>: coeficiente linear (eixo y)</a:t>
            </a:r>
          </a:p>
          <a:p>
            <a:pPr marL="429158" indent="-429158" defTabSz="514095">
              <a:spcBef>
                <a:spcPts val="3600"/>
              </a:spcBef>
              <a:buSzTx/>
              <a:buNone/>
              <a:defRPr sz="2816"/>
            </a:pPr>
          </a:p>
          <a:p>
            <a:pPr marL="0" indent="0" defTabSz="514095">
              <a:spcBef>
                <a:spcPts val="700"/>
              </a:spcBef>
              <a:buSzTx/>
              <a:buNone/>
              <a:defRPr sz="2816"/>
            </a:pPr>
            <a:r>
              <a:t>Como vimos acima, o </a:t>
            </a:r>
            <a:r>
              <a:rPr>
                <a:solidFill>
                  <a:srgbClr val="FF0000"/>
                </a:solidFill>
              </a:rPr>
              <a:t>coeficiente angular </a:t>
            </a:r>
            <a:r>
              <a:t>é dado pelo valor da </a:t>
            </a:r>
            <a:r>
              <a:rPr b="1"/>
              <a:t>tangente do ângulo que a reta forma com o eixo de </a:t>
            </a:r>
            <a:r>
              <a:rPr b="1" i="1"/>
              <a:t>x</a:t>
            </a:r>
            <a:endParaRPr b="1"/>
          </a:p>
          <a:p>
            <a:pPr marL="0" indent="0" defTabSz="514095">
              <a:spcBef>
                <a:spcPts val="700"/>
              </a:spcBef>
              <a:buSzTx/>
              <a:buNone/>
              <a:defRPr sz="2816"/>
            </a:pPr>
            <a:r>
              <a:t>Já o </a:t>
            </a:r>
            <a:r>
              <a:rPr>
                <a:solidFill>
                  <a:srgbClr val="FF0000"/>
                </a:solidFill>
              </a:rPr>
              <a:t>coeficiente linear </a:t>
            </a:r>
            <a:r>
              <a:t>é aquele que </a:t>
            </a:r>
            <a:r>
              <a:rPr b="1"/>
              <a:t>corta o eixo </a:t>
            </a:r>
            <a:r>
              <a:rPr b="1" i="1"/>
              <a:t>y</a:t>
            </a:r>
            <a:r>
              <a:rPr b="1"/>
              <a:t> do plano cartesiano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E a Função Polinomial como Representa o Coeficiente Angular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5152"/>
            </a:lvl1pPr>
          </a:lstStyle>
          <a:p>
            <a:pPr/>
            <a:r>
              <a:t>E a Função Polinomial como Representa o Coeficiente Angular? </a:t>
            </a:r>
          </a:p>
        </p:txBody>
      </p:sp>
      <p:sp>
        <p:nvSpPr>
          <p:cNvPr id="275" name="Através da derivada que é o cálculo do limite da diferença de dois pontos numa função quando a diferença entre as abcissas (x2 e x1) tende a um valor muito, muito pequen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Através da </a:t>
            </a:r>
            <a:r>
              <a:rPr b="1"/>
              <a:t>derivada</a:t>
            </a:r>
            <a:r>
              <a:t> que é o cálculo do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limite</a:t>
            </a:r>
            <a:r>
              <a:t> da diferença de dois pontos numa função quando a diferença entre as abcissas (x</a:t>
            </a:r>
            <a:r>
              <a:rPr sz="2200"/>
              <a:t>2</a:t>
            </a:r>
            <a:r>
              <a:t> e x</a:t>
            </a:r>
            <a:r>
              <a:rPr sz="2200"/>
              <a:t>1</a:t>
            </a:r>
            <a:r>
              <a:t>) tende a um valor muito, muito pequeno</a:t>
            </a:r>
          </a:p>
          <a:p>
            <a:pPr/>
            <a:r>
              <a:t>Esse valor (m</a:t>
            </a:r>
            <a:r>
              <a:rPr sz="2200"/>
              <a:t>t</a:t>
            </a:r>
            <a:r>
              <a:t>) representa a inclinação da reta em relação ao eixo 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Coeficiente Angular entre Dois Pont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20624">
              <a:defRPr sz="5760"/>
            </a:lvl1pPr>
          </a:lstStyle>
          <a:p>
            <a:pPr/>
            <a:r>
              <a:t>Coeficiente Angular entre Dois Pontos</a:t>
            </a:r>
          </a:p>
        </p:txBody>
      </p:sp>
      <p:sp>
        <p:nvSpPr>
          <p:cNvPr id="278" name="Considere uma função f(x) e sejam x0 e x1 dois pontos de seu domínio…"/>
          <p:cNvSpPr txBox="1"/>
          <p:nvPr>
            <p:ph type="body" sz="half" idx="1"/>
          </p:nvPr>
        </p:nvSpPr>
        <p:spPr>
          <a:xfrm>
            <a:off x="952500" y="2590800"/>
            <a:ext cx="5334000" cy="4911461"/>
          </a:xfrm>
          <a:prstGeom prst="rect">
            <a:avLst/>
          </a:prstGeom>
        </p:spPr>
        <p:txBody>
          <a:bodyPr anchor="t"/>
          <a:lstStyle/>
          <a:p>
            <a:pPr marL="349757" indent="-349757" defTabSz="490727">
              <a:spcBef>
                <a:spcPts val="600"/>
              </a:spcBef>
              <a:defRPr sz="2856"/>
            </a:pPr>
            <a:r>
              <a:t>Considere uma função f(x) e sejam x</a:t>
            </a:r>
            <a:r>
              <a:rPr baseline="-21966"/>
              <a:t>0</a:t>
            </a:r>
            <a:r>
              <a:t> e x</a:t>
            </a:r>
            <a:r>
              <a:rPr baseline="-21966"/>
              <a:t>1</a:t>
            </a:r>
            <a:r>
              <a:t> dois pontos de seu domínio</a:t>
            </a:r>
          </a:p>
          <a:p>
            <a:pPr marL="349757" indent="-349757" defTabSz="490727">
              <a:spcBef>
                <a:spcPts val="600"/>
              </a:spcBef>
              <a:defRPr sz="2856"/>
            </a:pPr>
          </a:p>
          <a:p>
            <a:pPr marL="349757" indent="-349757" defTabSz="490727">
              <a:spcBef>
                <a:spcPts val="600"/>
              </a:spcBef>
              <a:defRPr sz="2856"/>
            </a:pPr>
            <a:r>
              <a:t>Sejam f(x</a:t>
            </a:r>
            <a:r>
              <a:rPr baseline="-21966"/>
              <a:t>0</a:t>
            </a:r>
            <a:r>
              <a:t>) e f(x</a:t>
            </a:r>
            <a:r>
              <a:rPr baseline="-21966"/>
              <a:t>1</a:t>
            </a:r>
            <a:r>
              <a:t>) as correspondente imagens</a:t>
            </a:r>
          </a:p>
          <a:p>
            <a:pPr marL="373379" indent="-373379" defTabSz="490727">
              <a:spcBef>
                <a:spcPts val="1000"/>
              </a:spcBef>
              <a:defRPr sz="2688"/>
            </a:pPr>
          </a:p>
          <a:p>
            <a:pPr marL="373379" indent="-373379" defTabSz="490727">
              <a:spcBef>
                <a:spcPts val="1000"/>
              </a:spcBef>
              <a:defRPr sz="2688"/>
            </a:pPr>
            <a:r>
              <a:t>Chamamos de </a:t>
            </a:r>
            <a:r>
              <a:rPr i="1" u="sng">
                <a:solidFill>
                  <a:srgbClr val="FF0000"/>
                </a:solidFill>
              </a:rPr>
              <a:t>taxa média de variação</a:t>
            </a:r>
            <a:r>
              <a:t> de f, para x variando de x</a:t>
            </a:r>
            <a:r>
              <a:rPr baseline="-5999"/>
              <a:t>0</a:t>
            </a:r>
            <a:r>
              <a:t> até x</a:t>
            </a:r>
            <a:r>
              <a:rPr baseline="-5999"/>
              <a:t>1</a:t>
            </a:r>
            <a:r>
              <a:t>, ao quociente</a:t>
            </a:r>
          </a:p>
        </p:txBody>
      </p:sp>
      <p:grpSp>
        <p:nvGrpSpPr>
          <p:cNvPr id="296" name="Grupo"/>
          <p:cNvGrpSpPr/>
          <p:nvPr/>
        </p:nvGrpSpPr>
        <p:grpSpPr>
          <a:xfrm>
            <a:off x="6449059" y="3168409"/>
            <a:ext cx="6380482" cy="3756242"/>
            <a:chOff x="0" y="0"/>
            <a:chExt cx="6380480" cy="3756240"/>
          </a:xfrm>
        </p:grpSpPr>
        <p:sp>
          <p:nvSpPr>
            <p:cNvPr id="279" name="Linha"/>
            <p:cNvSpPr/>
            <p:nvPr/>
          </p:nvSpPr>
          <p:spPr>
            <a:xfrm flipV="1">
              <a:off x="950524" y="69289"/>
              <a:ext cx="1" cy="3686952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0" name="Linha"/>
            <p:cNvSpPr/>
            <p:nvPr/>
          </p:nvSpPr>
          <p:spPr>
            <a:xfrm>
              <a:off x="336408" y="3245982"/>
              <a:ext cx="604407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1" name="Linha"/>
            <p:cNvSpPr/>
            <p:nvPr/>
          </p:nvSpPr>
          <p:spPr>
            <a:xfrm flipH="1" rot="10800000">
              <a:off x="29350" y="0"/>
              <a:ext cx="4948804" cy="23225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9521" y="0"/>
                    <a:pt x="18081" y="8558"/>
                    <a:pt x="21600" y="21600"/>
                  </a:cubicBezTo>
                </a:path>
              </a:pathLst>
            </a:custGeom>
            <a:noFill/>
            <a:ln w="12700" cap="flat">
              <a:solidFill>
                <a:srgbClr val="CCCCE6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2" name="Linha"/>
            <p:cNvSpPr/>
            <p:nvPr/>
          </p:nvSpPr>
          <p:spPr>
            <a:xfrm>
              <a:off x="950524" y="2015493"/>
              <a:ext cx="3379894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dashDot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3" name="Linha"/>
            <p:cNvSpPr/>
            <p:nvPr/>
          </p:nvSpPr>
          <p:spPr>
            <a:xfrm>
              <a:off x="950524" y="787262"/>
              <a:ext cx="348375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dashDot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4" name="Linha"/>
            <p:cNvSpPr/>
            <p:nvPr/>
          </p:nvSpPr>
          <p:spPr>
            <a:xfrm flipH="1">
              <a:off x="4330417" y="789520"/>
              <a:ext cx="1" cy="245646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dashDot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5" name="Linha"/>
            <p:cNvSpPr/>
            <p:nvPr/>
          </p:nvSpPr>
          <p:spPr>
            <a:xfrm flipH="1">
              <a:off x="2077155" y="2017750"/>
              <a:ext cx="1" cy="122823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dashDot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86" name="x0"/>
            <p:cNvSpPr txBox="1"/>
            <p:nvPr/>
          </p:nvSpPr>
          <p:spPr>
            <a:xfrm>
              <a:off x="1873955" y="3133093"/>
              <a:ext cx="1126632" cy="493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spAutoFit/>
            </a:bodyPr>
            <a:lstStyle/>
            <a:p>
              <a:pPr algn="l" defTabSz="1300480">
                <a:spcBef>
                  <a:spcPts val="1500"/>
                </a:spcBef>
                <a:defRPr b="0">
                  <a:latin typeface="Arial"/>
                  <a:ea typeface="Arial"/>
                  <a:cs typeface="Arial"/>
                  <a:sym typeface="Arial"/>
                </a:defRPr>
              </a:pPr>
              <a:r>
                <a:t>x</a:t>
              </a:r>
              <a:r>
                <a:rPr baseline="-20777" sz="1800"/>
                <a:t>0</a:t>
              </a:r>
            </a:p>
          </p:txBody>
        </p:sp>
        <p:sp>
          <p:nvSpPr>
            <p:cNvPr id="287" name="Δx"/>
            <p:cNvSpPr txBox="1"/>
            <p:nvPr/>
          </p:nvSpPr>
          <p:spPr>
            <a:xfrm>
              <a:off x="2887697" y="2211920"/>
              <a:ext cx="498746" cy="4756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>
              <a:lvl1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Δx</a:t>
              </a:r>
            </a:p>
          </p:txBody>
        </p:sp>
        <p:sp>
          <p:nvSpPr>
            <p:cNvPr id="288" name="Δy"/>
            <p:cNvSpPr txBox="1"/>
            <p:nvPr/>
          </p:nvSpPr>
          <p:spPr>
            <a:xfrm>
              <a:off x="4535875" y="1186888"/>
              <a:ext cx="1025032" cy="4756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spAutoFit/>
            </a:bodyPr>
            <a:lstStyle>
              <a:lvl1pPr algn="l" defTabSz="1300480">
                <a:spcBef>
                  <a:spcPts val="1500"/>
                </a:spcBef>
                <a:defRPr b="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Δy</a:t>
              </a:r>
            </a:p>
          </p:txBody>
        </p:sp>
        <p:sp>
          <p:nvSpPr>
            <p:cNvPr id="289" name="Linha"/>
            <p:cNvSpPr/>
            <p:nvPr/>
          </p:nvSpPr>
          <p:spPr>
            <a:xfrm>
              <a:off x="2077155" y="2220951"/>
              <a:ext cx="2253263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0" name="Linha"/>
            <p:cNvSpPr/>
            <p:nvPr/>
          </p:nvSpPr>
          <p:spPr>
            <a:xfrm>
              <a:off x="4535875" y="785004"/>
              <a:ext cx="1" cy="123049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sp>
          <p:nvSpPr>
            <p:cNvPr id="291" name="x1"/>
            <p:cNvSpPr txBox="1"/>
            <p:nvPr/>
          </p:nvSpPr>
          <p:spPr>
            <a:xfrm>
              <a:off x="4127217" y="3133093"/>
              <a:ext cx="1025032" cy="493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spAutoFit/>
            </a:bodyPr>
            <a:lstStyle/>
            <a:p>
              <a:pPr algn="l" defTabSz="1300480">
                <a:spcBef>
                  <a:spcPts val="1500"/>
                </a:spcBef>
                <a:defRPr b="0">
                  <a:latin typeface="Arial"/>
                  <a:ea typeface="Arial"/>
                  <a:cs typeface="Arial"/>
                  <a:sym typeface="Arial"/>
                </a:defRPr>
              </a:pPr>
              <a:r>
                <a:t>x</a:t>
              </a:r>
              <a:r>
                <a:rPr baseline="-20777" sz="1800"/>
                <a:t>1</a:t>
              </a:r>
            </a:p>
          </p:txBody>
        </p:sp>
        <p:sp>
          <p:nvSpPr>
            <p:cNvPr id="292" name="f(x0)"/>
            <p:cNvSpPr txBox="1"/>
            <p:nvPr/>
          </p:nvSpPr>
          <p:spPr>
            <a:xfrm>
              <a:off x="31608" y="1699404"/>
              <a:ext cx="1228233" cy="493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spAutoFit/>
            </a:bodyPr>
            <a:lstStyle/>
            <a:p>
              <a:pPr algn="l" defTabSz="1300480">
                <a:spcBef>
                  <a:spcPts val="1500"/>
                </a:spcBef>
                <a:defRPr b="0">
                  <a:latin typeface="Arial"/>
                  <a:ea typeface="Arial"/>
                  <a:cs typeface="Arial"/>
                  <a:sym typeface="Arial"/>
                </a:defRPr>
              </a:pPr>
              <a:r>
                <a:t>f(x</a:t>
              </a:r>
              <a:r>
                <a:rPr baseline="-20777" sz="1800"/>
                <a:t>0</a:t>
              </a:r>
              <a:r>
                <a:t>)</a:t>
              </a:r>
            </a:p>
          </p:txBody>
        </p:sp>
        <p:sp>
          <p:nvSpPr>
            <p:cNvPr id="293" name="f(x1)"/>
            <p:cNvSpPr txBox="1"/>
            <p:nvPr/>
          </p:nvSpPr>
          <p:spPr>
            <a:xfrm>
              <a:off x="0" y="471173"/>
              <a:ext cx="1155983" cy="4933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spAutoFit/>
            </a:bodyPr>
            <a:lstStyle/>
            <a:p>
              <a: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pPr>
              <a:r>
                <a:t>f(x</a:t>
              </a:r>
              <a:r>
                <a:rPr baseline="-20777" sz="1800"/>
                <a:t>1</a:t>
              </a:r>
              <a:r>
                <a:t>)</a:t>
              </a:r>
            </a:p>
          </p:txBody>
        </p:sp>
        <p:sp>
          <p:nvSpPr>
            <p:cNvPr id="294" name="●"/>
            <p:cNvSpPr txBox="1"/>
            <p:nvPr/>
          </p:nvSpPr>
          <p:spPr>
            <a:xfrm>
              <a:off x="1871697" y="1699404"/>
              <a:ext cx="512517" cy="4756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spAutoFit/>
            </a:bodyPr>
            <a:lstStyle>
              <a:lvl1pPr algn="l" defTabSz="1300480">
                <a:spcBef>
                  <a:spcPts val="1500"/>
                </a:spcBef>
                <a:defRPr b="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●</a:t>
              </a:r>
            </a:p>
          </p:txBody>
        </p:sp>
        <p:sp>
          <p:nvSpPr>
            <p:cNvPr id="295" name="●"/>
            <p:cNvSpPr txBox="1"/>
            <p:nvPr/>
          </p:nvSpPr>
          <p:spPr>
            <a:xfrm>
              <a:off x="4127217" y="471173"/>
              <a:ext cx="326850" cy="4756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>
              <a:lvl1pPr algn="l" defTabSz="1300480">
                <a:defRPr b="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●</a:t>
              </a:r>
            </a:p>
          </p:txBody>
        </p:sp>
      </p:grpSp>
      <p:pic>
        <p:nvPicPr>
          <p:cNvPr id="297" name="image.pdf" descr="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55352" y="7903851"/>
            <a:ext cx="4494096" cy="1559827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Conceito de…"/>
          <p:cNvSpPr txBox="1"/>
          <p:nvPr/>
        </p:nvSpPr>
        <p:spPr>
          <a:xfrm>
            <a:off x="10075744" y="8093952"/>
            <a:ext cx="1760246" cy="779296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Conceito de </a:t>
            </a:r>
          </a:p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Derivada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Imagem" descr="Imagem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2929" t="0" r="2929" b="0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301" name="DERIVADAS"/>
          <p:cNvSpPr txBox="1"/>
          <p:nvPr/>
        </p:nvSpPr>
        <p:spPr>
          <a:xfrm>
            <a:off x="4619625" y="4447859"/>
            <a:ext cx="3765551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/>
            <a:r>
              <a:t>DERIVADAS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Derivadas e Taxas de Vari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25779">
              <a:defRPr sz="7200"/>
            </a:lvl1pPr>
          </a:lstStyle>
          <a:p>
            <a:pPr/>
            <a:r>
              <a:t>Derivadas e Taxas de Variação</a:t>
            </a:r>
          </a:p>
        </p:txBody>
      </p:sp>
      <p:sp>
        <p:nvSpPr>
          <p:cNvPr id="304" name="O problema de encontrar a reta tangente a uma curva e o problema para encontrar a velocidade de um objeto, envolvem determinar o mesmo tipo de limit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 problema de encontrar a reta tangente a uma curva e o problema para encontrar a velocidade de um objeto, envolvem determinar o mesmo tipo de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limite</a:t>
            </a:r>
          </a:p>
          <a:p>
            <a:pPr>
              <a:lnSpc>
                <a:spcPct val="125000"/>
              </a:lnSpc>
            </a:pPr>
          </a:p>
          <a:p>
            <a:pPr/>
            <a:r>
              <a:t>Este tipo especial de limite é chamado </a:t>
            </a:r>
            <a:r>
              <a:rPr b="1" i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rial"/>
                <a:ea typeface="Arial"/>
                <a:cs typeface="Arial"/>
                <a:sym typeface="Arial"/>
              </a:rPr>
              <a:t>derivada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 </a:t>
            </a:r>
            <a:r>
              <a:t> e veremos que pode ser interpretado como uma taxa de variação tanto nas ciências quanto na engenharia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angent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Tangentes</a:t>
            </a:r>
          </a:p>
        </p:txBody>
      </p:sp>
      <p:sp>
        <p:nvSpPr>
          <p:cNvPr id="307" name="Se uma curva C tiver uma equação y = f (x) e quisermos encontrar a reta tangente a C em um ponto P (a, f (a)), consideramos um ponto próximo Q (x, f (x)), onde x ≠ a, e calculamos a inclinação da reta secante PQ: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326707" indent="-326707" defTabSz="490727">
              <a:lnSpc>
                <a:spcPct val="110000"/>
              </a:lnSpc>
              <a:spcBef>
                <a:spcPts val="2600"/>
              </a:spcBef>
              <a:defRPr sz="2351"/>
            </a:pPr>
            <a:r>
              <a:t>Se uma curva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t> tiver uma equação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419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 e quisermos encontrar a reta tangente 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t> em um ponto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rPr i="1" sz="419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,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419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)), consideramos um ponto próximo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Q</a:t>
            </a:r>
            <a:r>
              <a:rPr i="1" sz="419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,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419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)), onde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¹</a:t>
            </a:r>
            <a:r>
              <a:t>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, e calculamos a inclinação da reta secante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PQ</a:t>
            </a:r>
            <a:r>
              <a:t>:</a:t>
            </a:r>
          </a:p>
          <a:p>
            <a:pPr marL="0" indent="0" algn="ctr" defTabSz="490727">
              <a:lnSpc>
                <a:spcPct val="110000"/>
              </a:lnSpc>
              <a:spcBef>
                <a:spcPts val="2600"/>
              </a:spcBef>
              <a:buSzTx/>
              <a:buNone/>
              <a:defRPr sz="2351"/>
            </a:pPr>
            <a14:m>
              <m:oMath>
                <m:sSub>
                  <m:e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Q</m:t>
                    </m:r>
                  </m:sub>
                </m:sSub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den>
                </m:f>
              </m:oMath>
            </a14:m>
            <a:r>
              <a:t> </a:t>
            </a:r>
          </a:p>
          <a:p>
            <a:pPr marL="0" indent="0" defTabSz="490727">
              <a:lnSpc>
                <a:spcPct val="110000"/>
              </a:lnSpc>
              <a:spcBef>
                <a:spcPts val="2600"/>
              </a:spcBef>
              <a:buSzTx/>
              <a:buNone/>
              <a:defRPr sz="2351"/>
            </a:pPr>
          </a:p>
          <a:p>
            <a:pPr marL="326707" indent="-326707" defTabSz="490727">
              <a:lnSpc>
                <a:spcPct val="110000"/>
              </a:lnSpc>
              <a:spcBef>
                <a:spcPts val="2600"/>
              </a:spcBef>
              <a:defRPr sz="2351"/>
            </a:pPr>
            <a:r>
              <a:t>Então fazemos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Q </a:t>
            </a:r>
            <a:r>
              <a:t>aproximar-se 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t> ao longo da curva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t> ao obrigar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tender 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</a:p>
        </p:txBody>
      </p:sp>
      <p:sp>
        <p:nvSpPr>
          <p:cNvPr id="308" name="."/>
          <p:cNvSpPr txBox="1"/>
          <p:nvPr/>
        </p:nvSpPr>
        <p:spPr>
          <a:xfrm>
            <a:off x="7261013" y="4985173"/>
            <a:ext cx="227432" cy="475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>
            <a:lvl1pPr algn="l" defTabSz="1300480">
              <a:spcBef>
                <a:spcPts val="600"/>
              </a:spcBef>
              <a:defRPr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.</a:t>
            </a:r>
          </a:p>
        </p:txBody>
      </p:sp>
      <p:pic>
        <p:nvPicPr>
          <p:cNvPr id="309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21786" y="3992174"/>
            <a:ext cx="4486206" cy="34837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angent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Tangentes</a:t>
            </a:r>
          </a:p>
        </p:txBody>
      </p:sp>
      <p:sp>
        <p:nvSpPr>
          <p:cNvPr id="312" name="Se mPQ tender a um número m, então definimos a tangente t como a reta que passa por P e tem inclinação m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388937" indent="-388937"/>
            <a:r>
              <a:t>Se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m</a:t>
            </a:r>
            <a:r>
              <a:rPr baseline="-22285" i="1">
                <a:latin typeface="Arial"/>
                <a:ea typeface="Arial"/>
                <a:cs typeface="Arial"/>
                <a:sym typeface="Arial"/>
              </a:rPr>
              <a:t>PQ</a:t>
            </a:r>
            <a:r>
              <a:t> tender a um número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m</a:t>
            </a:r>
            <a:r>
              <a:t>, então definimos 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tangente t </a:t>
            </a:r>
            <a:r>
              <a:t>como a reta que passa por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t> e tem inclinação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m</a:t>
            </a:r>
            <a:endParaRPr i="1">
              <a:latin typeface="Arial"/>
              <a:ea typeface="Arial"/>
              <a:cs typeface="Arial"/>
              <a:sym typeface="Arial"/>
            </a:endParaRPr>
          </a:p>
          <a:p>
            <a:pPr marL="388937" indent="-388937"/>
            <a:endParaRPr i="1">
              <a:latin typeface="Arial"/>
              <a:ea typeface="Arial"/>
              <a:cs typeface="Arial"/>
              <a:sym typeface="Arial"/>
            </a:endParaRPr>
          </a:p>
          <a:p>
            <a:pPr marL="388937" indent="-388937"/>
            <a:r>
              <a:t>Isso implica dizer que a reta tangente é a posição-limite da reta secante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PQ</a:t>
            </a:r>
            <a:r>
              <a:t> quando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Q</a:t>
            </a:r>
            <a:r>
              <a:t> tende 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</a:t>
            </a:r>
          </a:p>
        </p:txBody>
      </p:sp>
      <p:pic>
        <p:nvPicPr>
          <p:cNvPr id="313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99866" y="1995734"/>
            <a:ext cx="4486206" cy="348375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99866" y="5811520"/>
            <a:ext cx="4486206" cy="38630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angent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Tangentes</a:t>
            </a:r>
          </a:p>
        </p:txBody>
      </p:sp>
      <p:sp>
        <p:nvSpPr>
          <p:cNvPr id="317" name="A reta tangente à curva  y = f(x) em um ponto  P(a, f(a)) é a reta passando por P com a inclinação…"/>
          <p:cNvSpPr txBox="1"/>
          <p:nvPr>
            <p:ph type="body" sz="half" idx="1"/>
          </p:nvPr>
        </p:nvSpPr>
        <p:spPr>
          <a:prstGeom prst="rect">
            <a:avLst/>
          </a:prstGeom>
          <a:ln w="9525">
            <a:round/>
          </a:ln>
        </p:spPr>
        <p:txBody>
          <a:bodyPr/>
          <a:lstStyle/>
          <a:p>
            <a:pPr marL="444500" indent="-444500">
              <a:spcBef>
                <a:spcPts val="4200"/>
              </a:spcBef>
              <a:defRPr sz="3100"/>
            </a:pPr>
            <a:r>
              <a:t>A reta tangente à curva </a:t>
            </a:r>
            <a:br/>
            <a:r>
              <a:t>y = f(x) em um ponto </a:t>
            </a:r>
            <a:br/>
            <a:r>
              <a:t>P(a, f(a)) é a reta passando por P com a inclinação</a:t>
            </a:r>
          </a:p>
          <a:p>
            <a:pPr marL="0" indent="0">
              <a:spcBef>
                <a:spcPts val="4200"/>
              </a:spcBef>
              <a:buSzTx/>
              <a:buNone/>
              <a:defRPr sz="3100"/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37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37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7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37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sSub>
                    <m:e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sub>
                  </m:sSub>
                  <m:f>
                    <m:fPr>
                      <m:ctrlP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3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den>
                  </m:f>
                </m:oMath>
              </m:oMathPara>
            </a14:m>
          </a:p>
          <a:p>
            <a:pPr marL="0" indent="0">
              <a:spcBef>
                <a:spcPts val="4200"/>
              </a:spcBef>
              <a:buSzTx/>
              <a:buNone/>
              <a:defRPr sz="3100"/>
            </a:pPr>
            <a:r>
              <a:t>desde que esse limite </a:t>
            </a:r>
            <a:r>
              <a:rPr b="1"/>
              <a:t>exista</a:t>
            </a:r>
          </a:p>
        </p:txBody>
      </p:sp>
      <p:pic>
        <p:nvPicPr>
          <p:cNvPr id="318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99866" y="1995734"/>
            <a:ext cx="4486206" cy="348375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9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399866" y="5811520"/>
            <a:ext cx="4486206" cy="38630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Exercíci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1</a:t>
            </a:r>
          </a:p>
        </p:txBody>
      </p:sp>
      <p:sp>
        <p:nvSpPr>
          <p:cNvPr id="322" name="Exemplo: Encontre uma equação da reta tangente à parábola y = x2 no ponto que P(1, 1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Exemplo: </a:t>
            </a:r>
            <a:r>
              <a:t>Encontre uma equação da reta tangente à parábola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30500"/>
              <a:t>2</a:t>
            </a:r>
            <a:r>
              <a:t> no ponto que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t>(1, 1)</a:t>
            </a:r>
          </a:p>
          <a:p>
            <a:pPr marL="0" indent="0">
              <a:buSzTx/>
              <a:buNone/>
              <a:defRPr sz="1600"/>
            </a:pPr>
          </a:p>
          <a:p>
            <a:pPr marL="0" indent="0">
              <a:buSzTx/>
              <a:buNone/>
              <a:defRPr>
                <a:solidFill>
                  <a:srgbClr val="00ADEF"/>
                </a:solidFill>
              </a:defRPr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Solução: </a:t>
            </a:r>
            <a:r>
              <a:rPr>
                <a:solidFill>
                  <a:srgbClr val="000000"/>
                </a:solidFill>
              </a:rPr>
              <a:t>Temos aqui 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>
                <a:solidFill>
                  <a:srgbClr val="000000"/>
                </a:solidFill>
              </a:rPr>
              <a:t> = 1 e 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>
                <a:solidFill>
                  <a:srgbClr val="000000"/>
                </a:solidFill>
              </a:rPr>
              <a:t>(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>
                <a:solidFill>
                  <a:srgbClr val="000000"/>
                </a:solidFill>
              </a:rPr>
              <a:t>) = 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30500">
                <a:solidFill>
                  <a:srgbClr val="000000"/>
                </a:solidFill>
              </a:rPr>
              <a:t>2</a:t>
            </a:r>
            <a:r>
              <a:rPr>
                <a:solidFill>
                  <a:srgbClr val="000000"/>
                </a:solidFill>
              </a:rPr>
              <a:t>, então a inclinação é</a:t>
            </a:r>
          </a:p>
        </p:txBody>
      </p:sp>
      <p:pic>
        <p:nvPicPr>
          <p:cNvPr id="323" name="pg-131_2" descr="pg-131_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38879" y="5877130"/>
            <a:ext cx="5527042" cy="31947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22" grpId="1"/>
      <p:bldP build="whole" bldLvl="1" animBg="1" rev="0" advAuto="0" spid="323" grpId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Usando a forma ponto-inclinação da reta, encontramos que uma equação da reta tangente em (1, 1) é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Usando a forma ponto-inclinação da reta, encontramos que uma equação da reta tangente em (1, 1) é</a:t>
            </a:r>
            <a:endParaRPr i="1"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buSzTx/>
              <a:buNone/>
              <a:defRPr i="1">
                <a:latin typeface="Arial"/>
                <a:ea typeface="Arial"/>
                <a:cs typeface="Arial"/>
                <a:sym typeface="Arial"/>
              </a:defRPr>
            </a:pPr>
            <a:r>
              <a:t>                        </a:t>
            </a:r>
            <a:r>
              <a:t>y</a:t>
            </a:r>
            <a:r>
              <a:rPr i="0"/>
              <a:t> – 1 = 2(</a:t>
            </a:r>
            <a:r>
              <a:t>x</a:t>
            </a:r>
            <a:r>
              <a:rPr i="0"/>
              <a:t> – 1) 	ou 	   </a:t>
            </a:r>
            <a:r>
              <a:t>y </a:t>
            </a:r>
            <a:r>
              <a:rPr i="0"/>
              <a:t>= 2</a:t>
            </a:r>
            <a:r>
              <a:t>x</a:t>
            </a:r>
            <a:r>
              <a:rPr i="0"/>
              <a:t> – 1</a:t>
            </a:r>
          </a:p>
        </p:txBody>
      </p:sp>
      <p:sp>
        <p:nvSpPr>
          <p:cNvPr id="326" name="Exercíci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1</a:t>
            </a:r>
          </a:p>
        </p:txBody>
      </p:sp>
      <p:sp>
        <p:nvSpPr>
          <p:cNvPr id="327" name="A forma ponto-inclinação da equação da reta por um ponto 􏰭x1, y1􏰮 com uma inclinação m é:…"/>
          <p:cNvSpPr txBox="1"/>
          <p:nvPr/>
        </p:nvSpPr>
        <p:spPr>
          <a:xfrm>
            <a:off x="3639485" y="2755818"/>
            <a:ext cx="5725829" cy="1498764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A forma ponto-inclinação da equação da reta por um ponto 􏰭x</a:t>
            </a:r>
            <a:r>
              <a:rPr baseline="-5999"/>
              <a:t>1</a:t>
            </a:r>
            <a:r>
              <a:t>, y</a:t>
            </a:r>
            <a:r>
              <a:rPr baseline="-5999"/>
              <a:t>1</a:t>
            </a:r>
            <a:r>
              <a:t>􏰮 com uma inclinação m é: </a:t>
            </a:r>
          </a:p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y-􏰅y</a:t>
            </a:r>
            <a:r>
              <a:rPr baseline="-5999"/>
              <a:t>1</a:t>
            </a:r>
            <a:r>
              <a:t> 􏰀= m(x -x</a:t>
            </a:r>
            <a:r>
              <a:rPr baseline="-5999"/>
              <a:t>1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angent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Tangentes</a:t>
            </a:r>
          </a:p>
        </p:txBody>
      </p:sp>
      <p:sp>
        <p:nvSpPr>
          <p:cNvPr id="330" name="Algumas vezes nos referimos à inclinação da reta tangente como a inclinação da curva no ponto…"/>
          <p:cNvSpPr txBox="1"/>
          <p:nvPr>
            <p:ph type="body" sz="half" idx="1"/>
          </p:nvPr>
        </p:nvSpPr>
        <p:spPr>
          <a:xfrm>
            <a:off x="952500" y="2590800"/>
            <a:ext cx="11099800" cy="3890963"/>
          </a:xfrm>
          <a:prstGeom prst="rect">
            <a:avLst/>
          </a:prstGeom>
        </p:spPr>
        <p:txBody>
          <a:bodyPr anchor="t"/>
          <a:lstStyle/>
          <a:p>
            <a:pPr/>
            <a:r>
              <a:t>Algumas vezes nos referimos à inclinação da reta tangente como a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rial"/>
                <a:ea typeface="Arial"/>
                <a:cs typeface="Arial"/>
                <a:sym typeface="Arial"/>
              </a:rPr>
              <a:t>inclinação da curva </a:t>
            </a:r>
            <a:r>
              <a:t>no ponto</a:t>
            </a:r>
          </a:p>
          <a:p>
            <a:pPr/>
            <a:r>
              <a:t>Quanto maior for 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zoom</a:t>
            </a:r>
            <a:r>
              <a:t>, mais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indistinguível</a:t>
            </a:r>
            <a:r>
              <a:t> da reta tangente será a parábola</a:t>
            </a:r>
          </a:p>
        </p:txBody>
      </p:sp>
      <p:sp>
        <p:nvSpPr>
          <p:cNvPr id="331" name="Um zoom cada vez maior da parábola y = x2  em torno do ponto (1, 1)"/>
          <p:cNvSpPr txBox="1"/>
          <p:nvPr/>
        </p:nvSpPr>
        <p:spPr>
          <a:xfrm>
            <a:off x="2197946" y="8082818"/>
            <a:ext cx="8608908" cy="38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defTabSz="1300480">
              <a:defRPr b="0" sz="1800">
                <a:latin typeface="Arial"/>
                <a:ea typeface="Arial"/>
                <a:cs typeface="Arial"/>
                <a:sym typeface="Arial"/>
              </a:defRPr>
            </a:pPr>
            <a:r>
              <a:t>Um </a:t>
            </a:r>
            <a:r>
              <a:rPr i="1"/>
              <a:t>zoom</a:t>
            </a:r>
            <a:r>
              <a:t> cada vez maior da parábola </a:t>
            </a:r>
            <a:r>
              <a:rPr i="1"/>
              <a:t>y</a:t>
            </a:r>
            <a:r>
              <a:t> = </a:t>
            </a:r>
            <a:r>
              <a:rPr i="1"/>
              <a:t>x</a:t>
            </a:r>
            <a:r>
              <a:rPr baseline="30444"/>
              <a:t>2 </a:t>
            </a:r>
            <a:r>
              <a:t> em torno do ponto (1, 1)</a:t>
            </a:r>
          </a:p>
        </p:txBody>
      </p:sp>
      <p:pic>
        <p:nvPicPr>
          <p:cNvPr id="332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217" y="5869499"/>
            <a:ext cx="11862366" cy="22148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Quando x tende a a, h tende a 0 (pois, h = x – a); assim, a expressão para a inclinação da reta tangente fica"/>
          <p:cNvGrpSpPr/>
          <p:nvPr/>
        </p:nvGrpSpPr>
        <p:grpSpPr>
          <a:xfrm>
            <a:off x="901700" y="7127081"/>
            <a:ext cx="11201400" cy="2537743"/>
            <a:chOff x="0" y="0"/>
            <a:chExt cx="11201400" cy="2537742"/>
          </a:xfrm>
        </p:grpSpPr>
        <p:sp>
          <p:nvSpPr>
            <p:cNvPr id="335" name="Quando x tende a a, h tende a 0 (pois, h = x – a); assim, a expressão para a inclinação da reta tangente fica"/>
            <p:cNvSpPr txBox="1"/>
            <p:nvPr/>
          </p:nvSpPr>
          <p:spPr>
            <a:xfrm>
              <a:off x="50800" y="50800"/>
              <a:ext cx="11099800" cy="24361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rmAutofit fontScale="100000" lnSpcReduction="0"/>
            </a:bodyPr>
            <a:lstStyle/>
            <a:p>
              <a:pPr algn="l" defTabSz="502412">
                <a:spcBef>
                  <a:spcPts val="3600"/>
                </a:spcBef>
                <a:defRPr b="0" sz="2752"/>
              </a:pPr>
              <a:r>
                <a:t>Quando </a:t>
              </a:r>
              <a:r>
                <a:rPr i="1"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t> tende a </a:t>
              </a:r>
              <a:r>
                <a:rPr i="1"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t>, </a:t>
              </a:r>
              <a:r>
                <a:rPr i="1">
                  <a:latin typeface="Arial"/>
                  <a:ea typeface="Arial"/>
                  <a:cs typeface="Arial"/>
                  <a:sym typeface="Arial"/>
                </a:rPr>
                <a:t>h</a:t>
              </a:r>
              <a:r>
                <a:t> tende a 0 (pois, h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 = </a:t>
              </a:r>
              <a:r>
                <a:t>x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 – </a:t>
              </a:r>
              <a:r>
                <a:t>a</a:t>
              </a:r>
              <a:r>
                <a:rPr>
                  <a:latin typeface="Arial"/>
                  <a:ea typeface="Arial"/>
                  <a:cs typeface="Arial"/>
                  <a:sym typeface="Arial"/>
                </a:rPr>
                <a:t>); assim, a expressão para a inclinação da reta tangente fica</a:t>
              </a:r>
              <a:endParaRPr>
                <a:latin typeface="Arial"/>
                <a:ea typeface="Arial"/>
                <a:cs typeface="Arial"/>
                <a:sym typeface="Arial"/>
              </a:endParaRPr>
            </a:p>
            <a:p>
              <a:pPr defTabSz="502412">
                <a:spcBef>
                  <a:spcPts val="3600"/>
                </a:spcBef>
                <a:defRPr b="0" sz="2752"/>
              </a:pPr>
              <a14:m>
                <m:oMath>
                  <m:r>
                    <a:rPr xmlns:a="http://schemas.openxmlformats.org/drawingml/2006/main" sz="3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m</m:t>
                  </m:r>
                  <m:r>
                    <a:rPr xmlns:a="http://schemas.openxmlformats.org/drawingml/2006/main" sz="3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3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sSub>
                    <m:e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f>
                    <m:fPr>
                      <m:ctrlP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3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den>
                  </m:f>
                </m:oMath>
              </a14:m>
              <a:r>
                <a:rPr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3200"/>
            </a:p>
          </p:txBody>
        </p:sp>
        <p:pic>
          <p:nvPicPr>
            <p:cNvPr id="334" name="Quando x tende a a, h tende a 0 (pois, h = x – a); assim, a expressão para a inclinação da reta tangente fica Quando x tende a a, h tende a 0 (pois, h = x – a); assim, a expressão para a inclinação da reta tangente fica&#10; Equação  " descr="Quando x tende a a, h tende a 0 (pois, h = x – a); assim, a expressão para a inclinação da reta tangente fica Quando x tende a a, h tende a 0 (pois, h = x – a); assim, a expressão para a inclinação da reta tangente fica Equação  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1201400" cy="2537743"/>
            </a:xfrm>
            <a:prstGeom prst="rect">
              <a:avLst/>
            </a:prstGeom>
            <a:effectLst/>
          </p:spPr>
        </p:pic>
      </p:grpSp>
      <p:sp>
        <p:nvSpPr>
          <p:cNvPr id="337" name="Tangent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Tangentes</a:t>
            </a:r>
          </a:p>
        </p:txBody>
      </p:sp>
      <p:sp>
        <p:nvSpPr>
          <p:cNvPr id="338" name="Se h = x – a, então x = a + h e, a inclinação da reta secante PQ é"/>
          <p:cNvSpPr txBox="1"/>
          <p:nvPr>
            <p:ph type="body" sz="quarter" idx="1"/>
          </p:nvPr>
        </p:nvSpPr>
        <p:spPr>
          <a:xfrm>
            <a:off x="952500" y="2065866"/>
            <a:ext cx="11099800" cy="2102116"/>
          </a:xfrm>
          <a:prstGeom prst="rect">
            <a:avLst/>
          </a:prstGeom>
          <a:ln w="9525">
            <a:round/>
          </a:ln>
        </p:spPr>
        <p:txBody>
          <a:bodyPr anchor="t"/>
          <a:lstStyle/>
          <a:p>
            <a:pPr marL="0" indent="0" algn="ctr" defTabSz="519937">
              <a:spcBef>
                <a:spcPts val="3700"/>
              </a:spcBef>
              <a:buSzTx/>
              <a:buNone/>
              <a:defRPr sz="2848"/>
            </a:pPr>
            <a:r>
              <a:t>Se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–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, então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 +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t> e, a inclinação da reta secante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PQ</a:t>
            </a:r>
            <a:r>
              <a:t> é</a:t>
            </a:r>
          </a:p>
          <a:p>
            <a:pPr marL="0" indent="0" algn="ctr" defTabSz="519937">
              <a:spcBef>
                <a:spcPts val="3700"/>
              </a:spcBef>
              <a:buSzTx/>
              <a:buNone/>
              <a:defRPr sz="2848"/>
            </a:pPr>
            <a14:m>
              <m:oMath>
                <m:sSub>
                  <m:e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Q</m:t>
                    </m:r>
                  </m:sub>
                </m:sSub>
                <m:r>
                  <a:rPr xmlns:a="http://schemas.openxmlformats.org/drawingml/2006/main" sz="34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3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</m:oMath>
            </a14:m>
            <a:r>
              <a:t> </a:t>
            </a:r>
            <a:endParaRPr sz="3200"/>
          </a:p>
        </p:txBody>
      </p:sp>
      <p:pic>
        <p:nvPicPr>
          <p:cNvPr id="339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75858" y="4404060"/>
            <a:ext cx="3653085" cy="25377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Exemplo: Velocidad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Exemplo: Velocidades</a:t>
            </a:r>
          </a:p>
        </p:txBody>
      </p:sp>
      <p:sp>
        <p:nvSpPr>
          <p:cNvPr id="342" name="Suponha que um objeto se mova sobre uma reta de acordo com a equação s = f (t), na qual s é o deslocamento do objeto a partir da origem no instante 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334486" indent="-334486" defTabSz="502412">
              <a:spcBef>
                <a:spcPts val="2700"/>
              </a:spcBef>
              <a:defRPr sz="2408"/>
            </a:pPr>
            <a:r>
              <a:t>Suponha que um objeto se mova sobre uma reta de acordo com a equação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430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t</a:t>
            </a:r>
            <a:r>
              <a:t>), na qual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t> é o deslocamento do objeto a partir da origem no instante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t</a:t>
            </a:r>
            <a:endParaRPr i="1">
              <a:latin typeface="Arial"/>
              <a:ea typeface="Arial"/>
              <a:cs typeface="Arial"/>
              <a:sym typeface="Arial"/>
            </a:endParaRPr>
          </a:p>
          <a:p>
            <a:pPr marL="334486" indent="-334486" defTabSz="502412">
              <a:spcBef>
                <a:spcPts val="2700"/>
              </a:spcBef>
              <a:defRPr sz="2408"/>
            </a:pPr>
            <a:endParaRPr i="1">
              <a:latin typeface="Arial"/>
              <a:ea typeface="Arial"/>
              <a:cs typeface="Arial"/>
              <a:sym typeface="Arial"/>
            </a:endParaRPr>
          </a:p>
          <a:p>
            <a:pPr marL="334486" indent="-334486" defTabSz="502412">
              <a:spcBef>
                <a:spcPts val="2700"/>
              </a:spcBef>
              <a:defRPr sz="2408"/>
            </a:pPr>
            <a:r>
              <a:t>A função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t> que descreve o movimento é chamada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função posição </a:t>
            </a:r>
            <a:r>
              <a:t>do objeto</a:t>
            </a:r>
          </a:p>
          <a:p>
            <a:pPr marL="334486" indent="-334486" defTabSz="502412">
              <a:spcBef>
                <a:spcPts val="2700"/>
              </a:spcBef>
              <a:defRPr sz="2408"/>
            </a:pPr>
          </a:p>
          <a:p>
            <a:pPr marL="334486" indent="-334486" defTabSz="502412">
              <a:spcBef>
                <a:spcPts val="2700"/>
              </a:spcBef>
              <a:defRPr sz="2408"/>
            </a:pPr>
            <a:r>
              <a:t>No intervalo de tempo entre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t</a:t>
            </a:r>
            <a:r>
              <a:t>=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 </a:t>
            </a:r>
            <a:r>
              <a:t>e </a:t>
            </a:r>
            <a:br/>
            <a:r>
              <a:rPr i="1">
                <a:latin typeface="Arial"/>
                <a:ea typeface="Arial"/>
                <a:cs typeface="Arial"/>
                <a:sym typeface="Arial"/>
              </a:rPr>
              <a:t>t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 +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h,</a:t>
            </a:r>
            <a:r>
              <a:t> a variação na posição será 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430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 +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t>) –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430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)</a:t>
            </a:r>
          </a:p>
        </p:txBody>
      </p:sp>
      <p:pic>
        <p:nvPicPr>
          <p:cNvPr id="34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84150" y="3548520"/>
            <a:ext cx="6276624" cy="43710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Exemplo: Velocidad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Exemplo: Velocidades</a:t>
            </a:r>
          </a:p>
        </p:txBody>
      </p:sp>
      <p:sp>
        <p:nvSpPr>
          <p:cNvPr id="346" name="A velocidade média nesse intervalo é…"/>
          <p:cNvSpPr txBox="1"/>
          <p:nvPr>
            <p:ph type="body" sz="half" idx="1"/>
          </p:nvPr>
        </p:nvSpPr>
        <p:spPr>
          <a:xfrm>
            <a:off x="952500" y="2590800"/>
            <a:ext cx="11099800" cy="2735858"/>
          </a:xfrm>
          <a:prstGeom prst="rect">
            <a:avLst/>
          </a:prstGeom>
        </p:spPr>
        <p:txBody>
          <a:bodyPr anchor="t"/>
          <a:lstStyle/>
          <a:p>
            <a:pPr marL="360045" indent="-360045" defTabSz="473201">
              <a:spcBef>
                <a:spcPts val="3400"/>
              </a:spcBef>
              <a:defRPr sz="2592"/>
            </a:pPr>
            <a:r>
              <a:t>A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velocidade média</a:t>
            </a:r>
            <a:r>
              <a:t> nesse intervalo é</a:t>
            </a:r>
          </a:p>
          <a:p>
            <a:pPr marL="0" indent="0" algn="ctr" defTabSz="473201">
              <a:spcBef>
                <a:spcPts val="3400"/>
              </a:spcBef>
              <a:buSzTx/>
              <a:buNone/>
              <a:defRPr sz="2592"/>
            </a:pPr>
            <a14:m>
              <m:oMath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c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m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e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d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</m:num>
                  <m:den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</m:den>
                </m:f>
                <m:r>
                  <a:rPr xmlns:a="http://schemas.openxmlformats.org/drawingml/2006/main" sz="31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</m:oMath>
            </a14:m>
            <a:r>
              <a:t> </a:t>
            </a:r>
          </a:p>
          <a:p>
            <a:pPr marL="0" indent="0" defTabSz="473201">
              <a:spcBef>
                <a:spcPts val="3400"/>
              </a:spcBef>
              <a:buSzTx/>
              <a:buNone/>
              <a:defRPr sz="2592"/>
            </a:pPr>
            <a:r>
              <a:t>que é o mesmo que a </a:t>
            </a:r>
            <a:r>
              <a:rPr b="1"/>
              <a:t>inclinação da reta secante</a:t>
            </a:r>
            <a:r>
              <a:t>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PQ</a:t>
            </a:r>
          </a:p>
        </p:txBody>
      </p:sp>
      <p:pic>
        <p:nvPicPr>
          <p:cNvPr id="347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00693" y="5505873"/>
            <a:ext cx="3603414" cy="37659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Exemplo: Velocidad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Exemplo: Velocidades</a:t>
            </a:r>
          </a:p>
        </p:txBody>
      </p:sp>
      <p:sp>
        <p:nvSpPr>
          <p:cNvPr id="350" name="Suponha agora que a velocidade média seja calculada em intervalos cada vez menores [a, a + h] —&gt; fazemos h tender a 0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82270" indent="-382270" defTabSz="502412">
              <a:spcBef>
                <a:spcPts val="3600"/>
              </a:spcBef>
              <a:defRPr sz="2752"/>
            </a:pPr>
            <a:r>
              <a:t>Suponha agora que a velocidade média seja calculada em intervalos cada vez menores [</a:t>
            </a:r>
            <a:r>
              <a:rPr i="1"/>
              <a:t>a</a:t>
            </a:r>
            <a:r>
              <a:t>, </a:t>
            </a:r>
            <a:r>
              <a:rPr i="1"/>
              <a:t>a</a:t>
            </a:r>
            <a:r>
              <a:t> + </a:t>
            </a:r>
            <a:r>
              <a:rPr i="1"/>
              <a:t>h</a:t>
            </a:r>
            <a:r>
              <a:t>] —&gt; fazemos </a:t>
            </a:r>
            <a:r>
              <a:rPr i="1"/>
              <a:t>h</a:t>
            </a:r>
            <a:r>
              <a:t> tender a 0</a:t>
            </a:r>
          </a:p>
          <a:p>
            <a:pPr marL="382270" indent="-382270" defTabSz="502412">
              <a:spcBef>
                <a:spcPts val="3600"/>
              </a:spcBef>
              <a:defRPr sz="2752"/>
            </a:pPr>
          </a:p>
          <a:p>
            <a:pPr marL="382270" indent="-382270" defTabSz="502412">
              <a:spcBef>
                <a:spcPts val="3600"/>
              </a:spcBef>
              <a:defRPr sz="2752"/>
            </a:pPr>
            <a:r>
              <a:t>Como no exemplo da queda da bola, definimos </a:t>
            </a:r>
            <a:r>
              <a:rPr b="1"/>
              <a:t>velocidade </a:t>
            </a:r>
            <a:r>
              <a:t>(ou </a:t>
            </a:r>
            <a:r>
              <a:rPr b="1"/>
              <a:t>velocidade instantânea</a:t>
            </a:r>
            <a:r>
              <a:t>) </a:t>
            </a:r>
            <a:r>
              <a:rPr i="1"/>
              <a:t>v</a:t>
            </a:r>
            <a:r>
              <a:rPr i="1" sz="430"/>
              <a:t> </a:t>
            </a:r>
            <a:r>
              <a:t>(</a:t>
            </a:r>
            <a:r>
              <a:rPr i="1"/>
              <a:t>a</a:t>
            </a:r>
            <a:r>
              <a:t>) no instante </a:t>
            </a:r>
            <a:r>
              <a:rPr i="1"/>
              <a:t>t</a:t>
            </a:r>
            <a:r>
              <a:t> = </a:t>
            </a:r>
            <a:r>
              <a:rPr i="1"/>
              <a:t>a</a:t>
            </a:r>
            <a:r>
              <a:t> como o limite dessas velocidades médias:</a:t>
            </a:r>
          </a:p>
          <a:p>
            <a:pPr marL="0" indent="0" algn="ctr" defTabSz="502412">
              <a:spcBef>
                <a:spcPts val="3600"/>
              </a:spcBef>
              <a:buSzTx/>
              <a:buNone/>
              <a:defRPr sz="2752"/>
            </a:pPr>
            <a14:m>
              <m:oMath>
                <m:r>
                  <a:rPr xmlns:a="http://schemas.openxmlformats.org/drawingml/2006/main" sz="3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3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3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3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3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3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3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</m:oMath>
            </a14:m>
            <a:r>
              <a:t> </a:t>
            </a:r>
          </a:p>
          <a:p>
            <a:pPr marL="382270" indent="-382270" defTabSz="502412">
              <a:spcBef>
                <a:spcPts val="3600"/>
              </a:spcBef>
              <a:defRPr sz="2752"/>
            </a:pPr>
            <a:r>
              <a:t>Isso significa que a velocidade no instante </a:t>
            </a:r>
            <a:r>
              <a:rPr i="1"/>
              <a:t>t</a:t>
            </a:r>
            <a:r>
              <a:t> = </a:t>
            </a:r>
            <a:r>
              <a:rPr i="1"/>
              <a:t>a</a:t>
            </a:r>
            <a:r>
              <a:t> é igual à inclinação da reta tangente em </a:t>
            </a:r>
            <a:r>
              <a:rPr i="1"/>
              <a:t>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Exercício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2</a:t>
            </a:r>
          </a:p>
        </p:txBody>
      </p:sp>
      <p:sp>
        <p:nvSpPr>
          <p:cNvPr id="353" name="Exemplo: Suponha que uma bola foi deixada cair do ponto de observação da torre, 450 m acima do solo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90727">
              <a:spcBef>
                <a:spcPts val="3500"/>
              </a:spcBef>
              <a:buSzTx/>
              <a:buNone/>
              <a:defRPr sz="2688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Exemplo:</a:t>
            </a:r>
            <a:r>
              <a:t> Suponha que uma bola foi deixada cair do ponto de observação da torre, 450 m acima do solo.</a:t>
            </a:r>
            <a:endParaRPr sz="924"/>
          </a:p>
          <a:p>
            <a:pPr marL="0" indent="0" defTabSz="490727">
              <a:lnSpc>
                <a:spcPct val="125000"/>
              </a:lnSpc>
              <a:spcBef>
                <a:spcPts val="3500"/>
              </a:spcBef>
              <a:buSzTx/>
              <a:buNone/>
              <a:defRPr sz="2688"/>
            </a:pPr>
            <a:r>
              <a:t>(a) Qual a velocidade da bola após 5 segundos?</a:t>
            </a:r>
          </a:p>
          <a:p>
            <a:pPr marL="0" indent="0" defTabSz="490727">
              <a:lnSpc>
                <a:spcPct val="125000"/>
              </a:lnSpc>
              <a:spcBef>
                <a:spcPts val="3500"/>
              </a:spcBef>
              <a:buSzTx/>
              <a:buNone/>
              <a:defRPr sz="2688"/>
            </a:pPr>
            <a:r>
              <a:t>(b) Com qual velocidade a bola chega ao solo?</a:t>
            </a:r>
          </a:p>
          <a:p>
            <a:pPr marL="0" indent="0" defTabSz="490727">
              <a:lnSpc>
                <a:spcPct val="125000"/>
              </a:lnSpc>
              <a:spcBef>
                <a:spcPts val="3500"/>
              </a:spcBef>
              <a:buSzTx/>
              <a:buNone/>
              <a:defRPr sz="2688"/>
            </a:pPr>
          </a:p>
          <a:p>
            <a:pPr marL="0" indent="0" defTabSz="490727">
              <a:lnSpc>
                <a:spcPct val="125000"/>
              </a:lnSpc>
              <a:spcBef>
                <a:spcPts val="3500"/>
              </a:spcBef>
              <a:buSzTx/>
              <a:buNone/>
              <a:defRPr sz="2688">
                <a:solidFill>
                  <a:srgbClr val="00ADEF"/>
                </a:solidFill>
              </a:defRPr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Solução: </a:t>
            </a:r>
            <a:r>
              <a:rPr>
                <a:solidFill>
                  <a:srgbClr val="000000"/>
                </a:solidFill>
              </a:rPr>
              <a:t>Precisaremos encontrar a velocidade quando 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>
                <a:solidFill>
                  <a:srgbClr val="000000"/>
                </a:solidFill>
              </a:rPr>
              <a:t> = 5 quanto a bola atinge o solo, de modo que é eficiente começar encontrando a velocidade em um instante gera 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b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>
                <a:solidFill>
                  <a:srgbClr val="000000"/>
                </a:solidFill>
              </a:rPr>
              <a:t>Usando a equação de movimento 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>
                <a:solidFill>
                  <a:srgbClr val="000000"/>
                </a:solidFill>
              </a:rPr>
              <a:t> = 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4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>
                <a:solidFill>
                  <a:srgbClr val="000000"/>
                </a:solidFill>
              </a:rPr>
              <a:t>(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>
                <a:solidFill>
                  <a:srgbClr val="000000"/>
                </a:solidFill>
              </a:rPr>
              <a:t>) = 4,9</a:t>
            </a:r>
            <a:r>
              <a:rPr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i="1" sz="41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aseline="30214">
                <a:solidFill>
                  <a:srgbClr val="000000"/>
                </a:solidFill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3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353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Exercício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2</a:t>
            </a:r>
          </a:p>
        </p:txBody>
      </p:sp>
      <p:sp>
        <p:nvSpPr>
          <p:cNvPr id="356" name="Temo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b"/>
          <a:lstStyle/>
          <a:p>
            <a:pPr marL="0" indent="0">
              <a:buSzTx/>
              <a:buNone/>
            </a:pPr>
            <a:r>
              <a:t>Temos</a:t>
            </a: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(a) A velocidade após 5 s é 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v</a:t>
            </a:r>
            <a:r>
              <a:t>(5) = (9,8)(5) = 49 m/s.</a:t>
            </a:r>
          </a:p>
        </p:txBody>
      </p:sp>
      <p:pic>
        <p:nvPicPr>
          <p:cNvPr id="357" name="pg-133_2" descr="pg-133_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63039" y="4080933"/>
            <a:ext cx="10078722" cy="36034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Exercício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2</a:t>
            </a:r>
          </a:p>
        </p:txBody>
      </p:sp>
      <p:sp>
        <p:nvSpPr>
          <p:cNvPr id="360" name="(b) Uma vez que o posto de observação está 450 m acima do solo, a bola vai atingir o chão em t1 quando   s(t1) = 450, isto é,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  <a:tabLst>
                <a:tab pos="647700" algn="l"/>
              </a:tabLst>
            </a:pPr>
            <a:r>
              <a:t>(b) Uma vez que o posto de observação está 450 m acima do solo, a bola vai atingir o chão em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0250"/>
              <a:t>1</a:t>
            </a:r>
            <a:r>
              <a:t> quando </a:t>
            </a:r>
            <a:br/>
            <a:r>
              <a:t>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s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0250"/>
              <a:t>1</a:t>
            </a:r>
            <a:r>
              <a:t>) = 450, isto é,</a:t>
            </a:r>
          </a:p>
          <a:p>
            <a:pPr marL="0" indent="0">
              <a:buSzTx/>
              <a:buNone/>
              <a:tabLst>
                <a:tab pos="647700" algn="l"/>
              </a:tabLst>
            </a:pPr>
            <a:r>
              <a:t> 4,9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0250"/>
              <a:t>1</a:t>
            </a:r>
            <a:r>
              <a:rPr baseline="30500"/>
              <a:t>2</a:t>
            </a:r>
            <a:r>
              <a:t> = 450</a:t>
            </a:r>
          </a:p>
          <a:p>
            <a:pPr marL="0" indent="0">
              <a:buSzTx/>
              <a:buNone/>
              <a:tabLst>
                <a:tab pos="647700" algn="l"/>
              </a:tabLst>
            </a:pPr>
            <a:r>
              <a:t> Isso fornece</a:t>
            </a:r>
          </a:p>
          <a:p>
            <a:pPr marL="0" indent="0">
              <a:buSzTx/>
              <a:buNone/>
              <a:tabLst>
                <a:tab pos="647700" algn="l"/>
              </a:tabLst>
            </a:pPr>
            <a:r>
              <a:t>A velocidade com que a bola atinge o chão é, portanto,</a:t>
            </a:r>
            <a:endParaRPr sz="1600"/>
          </a:p>
          <a:p>
            <a:pPr marL="0" indent="0">
              <a:buSzTx/>
              <a:buNone/>
              <a:tabLst>
                <a:tab pos="647700" algn="l"/>
              </a:tabLst>
            </a:pPr>
            <a:r>
              <a:t>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v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0250"/>
              <a:t>1</a:t>
            </a:r>
            <a:r>
              <a:t>) = 9,8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t</a:t>
            </a:r>
            <a:r>
              <a:rPr baseline="-20250"/>
              <a:t>1</a:t>
            </a:r>
          </a:p>
        </p:txBody>
      </p:sp>
      <p:pic>
        <p:nvPicPr>
          <p:cNvPr id="361" name="pg-133B_2" descr="pg-133B_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87706" y="5277979"/>
            <a:ext cx="7586135" cy="1420143"/>
          </a:xfrm>
          <a:prstGeom prst="rect">
            <a:avLst/>
          </a:prstGeom>
          <a:ln w="12700">
            <a:miter lim="400000"/>
          </a:ln>
        </p:spPr>
      </p:pic>
      <p:sp>
        <p:nvSpPr>
          <p:cNvPr id="362" name="."/>
          <p:cNvSpPr txBox="1"/>
          <p:nvPr/>
        </p:nvSpPr>
        <p:spPr>
          <a:xfrm>
            <a:off x="10187093" y="7044266"/>
            <a:ext cx="227432" cy="475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>
            <a:lvl1pPr algn="l" defTabSz="1300480">
              <a:spcBef>
                <a:spcPts val="600"/>
              </a:spcBef>
              <a:defRPr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.</a:t>
            </a:r>
          </a:p>
        </p:txBody>
      </p:sp>
      <p:sp>
        <p:nvSpPr>
          <p:cNvPr id="363" name="= 9,8"/>
          <p:cNvSpPr txBox="1"/>
          <p:nvPr/>
        </p:nvSpPr>
        <p:spPr>
          <a:xfrm>
            <a:off x="3711744" y="7872969"/>
            <a:ext cx="829145" cy="475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>
            <a:lvl1pPr algn="l" defTabSz="1300480">
              <a:defRPr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= 9,8</a:t>
            </a:r>
          </a:p>
        </p:txBody>
      </p:sp>
      <p:sp>
        <p:nvSpPr>
          <p:cNvPr id="364" name="≈ 94 m/s."/>
          <p:cNvSpPr txBox="1"/>
          <p:nvPr/>
        </p:nvSpPr>
        <p:spPr>
          <a:xfrm>
            <a:off x="6231425" y="7909094"/>
            <a:ext cx="1394095" cy="502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/>
          <a:p>
            <a:pPr algn="l" defTabSz="1300480">
              <a:defRPr>
                <a:latin typeface="Arial"/>
                <a:ea typeface="Arial"/>
                <a:cs typeface="Arial"/>
                <a:sym typeface="Arial"/>
              </a:defRPr>
            </a:pPr>
            <a:r>
              <a:rPr b="0">
                <a:latin typeface="Symbol"/>
                <a:ea typeface="Symbol"/>
                <a:cs typeface="Symbol"/>
                <a:sym typeface="Symbol"/>
              </a:rPr>
              <a:t>»</a:t>
            </a:r>
            <a:r>
              <a:rPr b="0"/>
              <a:t> 94 m/s.</a:t>
            </a:r>
          </a:p>
        </p:txBody>
      </p:sp>
      <p:pic>
        <p:nvPicPr>
          <p:cNvPr id="365" name="pg-133C_2" descr="pg-133C_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9655" y="7635903"/>
            <a:ext cx="1300481" cy="12304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Derivad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Derivadas</a:t>
            </a:r>
          </a:p>
        </p:txBody>
      </p:sp>
      <p:sp>
        <p:nvSpPr>
          <p:cNvPr id="368" name="Vimos que o mesmo tipo de limite aparece ao encontrar a inclinação de uma reta tangente ou a velocidade de um objet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24485" indent="-324485" defTabSz="426466">
              <a:spcBef>
                <a:spcPts val="3000"/>
              </a:spcBef>
              <a:defRPr sz="2336"/>
            </a:pPr>
            <a:r>
              <a:t>Vimos que o mesmo tipo de limite aparece ao encontrar a inclinação de uma reta tangente ou a velocidade de um objeto</a:t>
            </a:r>
          </a:p>
          <a:p>
            <a:pPr marL="324485" indent="-324485" defTabSz="426466">
              <a:spcBef>
                <a:spcPts val="3000"/>
              </a:spcBef>
              <a:defRPr sz="2336"/>
            </a:pPr>
            <a:r>
              <a:t>Os limites do tipo</a:t>
            </a:r>
          </a:p>
          <a:p>
            <a:pPr marL="324485" indent="-324485" defTabSz="426466">
              <a:spcBef>
                <a:spcPts val="3000"/>
              </a:spcBef>
              <a:defRPr sz="2336"/>
            </a:pPr>
          </a:p>
          <a:p>
            <a:pPr marL="324485" indent="-324485" defTabSz="426466">
              <a:spcBef>
                <a:spcPts val="3000"/>
              </a:spcBef>
              <a:defRPr sz="2336"/>
            </a:pPr>
          </a:p>
          <a:p>
            <a:pPr marL="162242" indent="-162242" defTabSz="426466">
              <a:spcBef>
                <a:spcPts val="3000"/>
              </a:spcBef>
              <a:defRPr sz="1168"/>
            </a:pPr>
          </a:p>
          <a:p>
            <a:pPr marL="0" indent="0" defTabSz="426466">
              <a:spcBef>
                <a:spcPts val="3000"/>
              </a:spcBef>
              <a:buSzTx/>
              <a:buNone/>
              <a:defRPr sz="2336"/>
            </a:pPr>
            <a:r>
              <a:t>surgem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sempre</a:t>
            </a:r>
            <a:r>
              <a:t> que calculamos uma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taxa de variação</a:t>
            </a:r>
            <a:r>
              <a:t> em qualquer ramo das ciências ou engenharia, tais como a taxa de uma reação química ou o custo marginal em economia</a:t>
            </a:r>
          </a:p>
          <a:p>
            <a:pPr marL="324485" indent="-324485" defTabSz="426466">
              <a:spcBef>
                <a:spcPts val="3000"/>
              </a:spcBef>
              <a:defRPr sz="2336"/>
            </a:pPr>
            <a:r>
              <a:t>Uma vez que esse tipo de limite ocorre amplamente, ele recebe </a:t>
            </a:r>
            <a:r>
              <a:rPr b="1"/>
              <a:t>nome e notação especiais</a:t>
            </a:r>
          </a:p>
        </p:txBody>
      </p:sp>
      <p:pic>
        <p:nvPicPr>
          <p:cNvPr id="369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10382" y="4816263"/>
            <a:ext cx="3784036" cy="9889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Definição de Deriva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Definição de Derivada</a:t>
            </a:r>
          </a:p>
        </p:txBody>
      </p:sp>
      <p:sp>
        <p:nvSpPr>
          <p:cNvPr id="372" name="A derivada de uma função f em um número a, denotada por f’(a), é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377825" indent="-377825" defTabSz="496570">
              <a:spcBef>
                <a:spcPts val="3500"/>
              </a:spcBef>
              <a:defRPr sz="2720"/>
            </a:pPr>
            <a:r>
              <a:t>A derivada de uma função f em um número a, denotada por f’(a), é</a:t>
            </a:r>
          </a:p>
          <a:p>
            <a:pPr marL="0" indent="0" algn="ctr" defTabSz="496570">
              <a:spcBef>
                <a:spcPts val="3500"/>
              </a:spcBef>
              <a:buSzTx/>
              <a:buNone/>
              <a:defRPr sz="2720"/>
            </a:pPr>
            <a14:m>
              <m:oMath>
                <m:sSup>
                  <m:e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</m:oMath>
            </a14:m>
            <a:r>
              <a:t> </a:t>
            </a:r>
          </a:p>
          <a:p>
            <a:pPr marL="0" indent="0" defTabSz="496570">
              <a:spcBef>
                <a:spcPts val="3500"/>
              </a:spcBef>
              <a:buSzTx/>
              <a:buNone/>
              <a:defRPr sz="2720"/>
            </a:pPr>
            <a:r>
              <a:t>se o limite </a:t>
            </a:r>
            <a:r>
              <a:rPr b="1"/>
              <a:t>existir</a:t>
            </a:r>
          </a:p>
          <a:p>
            <a:pPr marL="377825" indent="-377825" defTabSz="496570">
              <a:spcBef>
                <a:spcPts val="3500"/>
              </a:spcBef>
              <a:defRPr sz="2720"/>
            </a:pPr>
            <a:r>
              <a:t>Se escrevermos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 +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t>, então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–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 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h</a:t>
            </a:r>
            <a:r>
              <a:t> tende a 0 se, e somente se,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tende 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. Consequentemente, uma maneira equivalente de enunciar a definição da derivada, como vimos na determinação das retas tangentes, é</a:t>
            </a:r>
          </a:p>
          <a:p>
            <a:pPr marL="0" indent="0" algn="ctr" defTabSz="496570">
              <a:spcBef>
                <a:spcPts val="3500"/>
              </a:spcBef>
              <a:buSzTx/>
              <a:buNone/>
              <a:defRPr sz="2720"/>
            </a:pPr>
            <a14:m>
              <m:oMath>
                <m:sSup>
                  <m:e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3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sub>
                </m:sSub>
                <m:f>
                  <m:fPr>
                    <m:ctrlP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</m:den>
                </m:f>
              </m:oMath>
            </a14:m>
            <a:r>
              <a:t> </a:t>
            </a:r>
            <a:endParaRPr sz="32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Exercício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3</a:t>
            </a:r>
          </a:p>
        </p:txBody>
      </p:sp>
      <p:sp>
        <p:nvSpPr>
          <p:cNvPr id="375" name="Exercício: Encontre a derivada da função  f (x) = x2 – 8x + 9 em um número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 </a:t>
            </a:r>
            <a:r>
              <a:t>Encontre a derivada da função </a:t>
            </a:r>
            <a:br/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500"/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30500"/>
              <a:t>2</a:t>
            </a:r>
            <a:r>
              <a:t> – 8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+ 9 em um número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endParaRPr sz="1100"/>
          </a:p>
          <a:p>
            <a:pPr marL="0" indent="0">
              <a:buSzTx/>
              <a:buNone/>
              <a:defRPr>
                <a:solidFill>
                  <a:srgbClr val="00ADEF"/>
                </a:solidFill>
              </a:defRPr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Solução:</a:t>
            </a:r>
            <a:r>
              <a:t> </a:t>
            </a:r>
            <a:r>
              <a:rPr>
                <a:solidFill>
                  <a:srgbClr val="000000"/>
                </a:solidFill>
              </a:rPr>
              <a:t>Temos</a:t>
            </a:r>
          </a:p>
        </p:txBody>
      </p:sp>
      <p:grpSp>
        <p:nvGrpSpPr>
          <p:cNvPr id="382" name="Grupo"/>
          <p:cNvGrpSpPr/>
          <p:nvPr/>
        </p:nvGrpSpPr>
        <p:grpSpPr>
          <a:xfrm>
            <a:off x="1653822" y="4917080"/>
            <a:ext cx="9717476" cy="4619415"/>
            <a:chOff x="0" y="0"/>
            <a:chExt cx="9717475" cy="4619413"/>
          </a:xfrm>
        </p:grpSpPr>
        <p:pic>
          <p:nvPicPr>
            <p:cNvPr id="376" name="image.tif" descr="image.ti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4714241" cy="9076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7" name="image.tif" descr="image.ti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53439" y="1300479"/>
              <a:ext cx="8283788" cy="9144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8" name="image.tif" descr="image.tif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894079" y="2492587"/>
              <a:ext cx="8803077" cy="9279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9" name="image.png" descr="image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873759" y="3698240"/>
              <a:ext cx="3621477" cy="9211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0" name="image.tif" descr="image.tif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4870025" y="3858543"/>
              <a:ext cx="3187984" cy="59831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1" name="image.png" descr="imag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8141546" y="3899183"/>
              <a:ext cx="1575930" cy="3228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82" grpId="2"/>
      <p:bldP build="p" bldLvl="5" animBg="1" rev="0" advAuto="0" spid="375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Derivad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Derivadas</a:t>
            </a:r>
          </a:p>
        </p:txBody>
      </p:sp>
      <p:sp>
        <p:nvSpPr>
          <p:cNvPr id="385" name="A reta tangente a y=f(x) em (a, f(a)) é a reta que passa em (a, f(a)), cuja inclinação é igual a f’(a), a derivada de f em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0" indent="0">
              <a:buSzTx/>
              <a:buNone/>
            </a:pPr>
            <a:r>
              <a:t>A reta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tangente</a:t>
            </a:r>
            <a:r>
              <a:t> a y=f(x) em (a, f(a)) é a reta que passa em (a, f(a)), cuja inclinação é igual a f’(a), a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derivada</a:t>
            </a:r>
            <a:r>
              <a:t> de f em a</a:t>
            </a:r>
          </a:p>
          <a:p>
            <a:pPr marL="0" indent="0">
              <a:buSzTx/>
              <a:buNone/>
            </a:pPr>
            <a:r>
              <a:t>Se usarmos a forma </a:t>
            </a:r>
            <a:r>
              <a:rPr u="sng"/>
              <a:t>ponto-inclinação</a:t>
            </a:r>
            <a:r>
              <a:t> da equação de uma reta, poderemos escrever uma equação da reta tangente à curva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500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 no ponto 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,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500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)):</a:t>
            </a:r>
          </a:p>
          <a:p>
            <a:pPr marL="0" indent="0" algn="ctr">
              <a:buSzTx/>
              <a:buNone/>
            </a:pPr>
            <a:r>
              <a:t>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–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500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)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100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)(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–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)</a:t>
            </a:r>
          </a:p>
        </p:txBody>
      </p:sp>
      <p:sp>
        <p:nvSpPr>
          <p:cNvPr id="386" name="A forma ponto-inclinação da equação da reta por um ponto 􏰭x1, y1􏰮 com uma inclinação m é:…"/>
          <p:cNvSpPr txBox="1"/>
          <p:nvPr/>
        </p:nvSpPr>
        <p:spPr>
          <a:xfrm>
            <a:off x="3639485" y="7734218"/>
            <a:ext cx="5725829" cy="1498764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A forma ponto-inclinação da equação da reta por um ponto 􏰭x</a:t>
            </a:r>
            <a:r>
              <a:rPr baseline="-5999"/>
              <a:t>1</a:t>
            </a:r>
            <a:r>
              <a:t>, y</a:t>
            </a:r>
            <a:r>
              <a:rPr baseline="-5999"/>
              <a:t>1</a:t>
            </a:r>
            <a:r>
              <a:t>􏰮 com uma inclinação m é: </a:t>
            </a:r>
          </a:p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y-􏰅y</a:t>
            </a:r>
            <a:r>
              <a:rPr baseline="-5999"/>
              <a:t>1</a:t>
            </a:r>
            <a:r>
              <a:t> 􏰀= m(x -x</a:t>
            </a:r>
            <a:r>
              <a:rPr baseline="-5999"/>
              <a:t>1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axas de Vari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Taxas de Variação</a:t>
            </a:r>
          </a:p>
        </p:txBody>
      </p:sp>
      <p:sp>
        <p:nvSpPr>
          <p:cNvPr id="389" name="Suponha que y seja uma quantidade que depende de outra quantidade x. Assim, y é uma função de x e escrevemos y = f (x). Se x variar de x1 a x2, então a variação em x (também chamada incremento de x) será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Suponha que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seja uma quantidade que depende de outra quantidade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. Assim,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é uma função 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e escrevemos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500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). Se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variar 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0250"/>
              <a:t>1</a:t>
            </a:r>
            <a:r>
              <a:t> 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0250"/>
              <a:t>2</a:t>
            </a:r>
            <a:r>
              <a:t>, então a variação em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(também chamada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incremento </a:t>
            </a:r>
            <a:r>
              <a:t>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 será</a:t>
            </a:r>
          </a:p>
          <a:p>
            <a:pPr marL="0" indent="0" algn="ctr">
              <a:buSzTx/>
              <a:buNone/>
            </a:pPr>
            <a:r>
              <a:rPr>
                <a:latin typeface="Symbol"/>
                <a:ea typeface="Symbol"/>
                <a:cs typeface="Symbol"/>
                <a:sym typeface="Symbol"/>
              </a:rPr>
              <a:t> D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 </a:t>
            </a:r>
            <a:r>
              <a:t>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0250"/>
              <a:t>2 </a:t>
            </a:r>
            <a:r>
              <a:t>–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0250"/>
              <a:t>1</a:t>
            </a:r>
            <a:endParaRPr sz="1600"/>
          </a:p>
          <a:p>
            <a:pPr marL="0" indent="0">
              <a:lnSpc>
                <a:spcPct val="125000"/>
              </a:lnSpc>
              <a:buSzTx/>
              <a:buNone/>
            </a:pPr>
            <a:r>
              <a:t>e a variação correspondente em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será</a:t>
            </a:r>
          </a:p>
          <a:p>
            <a:pPr marL="0" indent="0" algn="ctr">
              <a:lnSpc>
                <a:spcPct val="125000"/>
              </a:lnSpc>
              <a:buSzTx/>
              <a:buNone/>
            </a:pPr>
            <a:r>
              <a:rPr>
                <a:latin typeface="Symbol"/>
                <a:ea typeface="Symbol"/>
                <a:cs typeface="Symbol"/>
                <a:sym typeface="Symbol"/>
              </a:rPr>
              <a:t> D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500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0250"/>
              <a:t>2</a:t>
            </a:r>
            <a:r>
              <a:t>) –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500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0250"/>
              <a:t>1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axas de Vari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Taxas de Variação</a:t>
            </a:r>
          </a:p>
        </p:txBody>
      </p:sp>
      <p:sp>
        <p:nvSpPr>
          <p:cNvPr id="392" name="O quociente da diferença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388937" indent="-388937"/>
            <a:r>
              <a:t>O quociente da diferença</a:t>
            </a:r>
          </a:p>
          <a:p>
            <a:pPr marL="0" indent="0" algn="ctr">
              <a:buSzTx/>
              <a:buNone/>
            </a:pPr>
            <a14:m>
              <m:oMath>
                <m:f>
                  <m:fPr>
                    <m:ctrlP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m:rPr>
                        <m:sty m:val="p"/>
                      </m:rP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num>
                  <m:den>
                    <m:r>
                      <m:rPr>
                        <m:sty m:val="p"/>
                      </m:rP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den>
                </m:f>
                <m:r>
                  <a:rPr xmlns:a="http://schemas.openxmlformats.org/drawingml/2006/main" sz="33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xmlns:a="http://schemas.openxmlformats.org/drawingml/2006/main" sz="3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3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xmlns:a="http://schemas.openxmlformats.org/drawingml/2006/main" sz="3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3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sSub>
                      <m:e>
                        <m:r>
                          <a:rPr xmlns:a="http://schemas.openxmlformats.org/drawingml/2006/main" sz="3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3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xmlns:a="http://schemas.openxmlformats.org/drawingml/2006/main" sz="3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sSub>
                      <m:e>
                        <m:r>
                          <a:rPr xmlns:a="http://schemas.openxmlformats.org/drawingml/2006/main" sz="3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3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den>
                </m:f>
              </m:oMath>
            </a14:m>
            <a:r>
              <a:t> </a:t>
            </a:r>
          </a:p>
          <a:p>
            <a:pPr marL="0" indent="0">
              <a:buSzTx/>
              <a:buNone/>
            </a:pPr>
            <a:r>
              <a:t>é denominado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taxa média de </a:t>
            </a:r>
            <a:br>
              <a:rPr b="1">
                <a:latin typeface="Arial"/>
                <a:ea typeface="Arial"/>
                <a:cs typeface="Arial"/>
                <a:sym typeface="Arial"/>
              </a:rPr>
            </a:br>
            <a:r>
              <a:rPr b="1">
                <a:latin typeface="Arial"/>
                <a:ea typeface="Arial"/>
                <a:cs typeface="Arial"/>
                <a:sym typeface="Arial"/>
              </a:rPr>
              <a:t>variação de </a:t>
            </a:r>
            <a:r>
              <a:rPr b="1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em relação a </a:t>
            </a:r>
            <a:r>
              <a:rPr b="1" i="1">
                <a:latin typeface="Arial"/>
                <a:ea typeface="Arial"/>
                <a:cs typeface="Arial"/>
                <a:sym typeface="Arial"/>
              </a:rPr>
              <a:t>x </a:t>
            </a:r>
            <a:r>
              <a:t>no intervalo [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2285"/>
              <a:t>1</a:t>
            </a:r>
            <a:r>
              <a:t>,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2285"/>
              <a:t>2</a:t>
            </a:r>
            <a:r>
              <a:t>] e pode ser interpretado como a inclinação da reta secante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PQ</a:t>
            </a:r>
            <a:r>
              <a:t> </a:t>
            </a:r>
          </a:p>
        </p:txBody>
      </p:sp>
      <p:pic>
        <p:nvPicPr>
          <p:cNvPr id="39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25979"/>
          <a:stretch>
            <a:fillRect/>
          </a:stretch>
        </p:blipFill>
        <p:spPr>
          <a:xfrm>
            <a:off x="7288106" y="3765973"/>
            <a:ext cx="4836161" cy="3711787"/>
          </a:xfrm>
          <a:prstGeom prst="rect">
            <a:avLst/>
          </a:prstGeom>
          <a:ln w="12700">
            <a:miter lim="400000"/>
          </a:ln>
        </p:spPr>
      </p:pic>
      <p:sp>
        <p:nvSpPr>
          <p:cNvPr id="394" name="taxa média de variação = mPQ…"/>
          <p:cNvSpPr txBox="1"/>
          <p:nvPr/>
        </p:nvSpPr>
        <p:spPr>
          <a:xfrm>
            <a:off x="7745307" y="7677574"/>
            <a:ext cx="4985174" cy="956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1300480">
              <a:defRPr b="0" sz="1800">
                <a:latin typeface="Arial"/>
                <a:ea typeface="Arial"/>
                <a:cs typeface="Arial"/>
                <a:sym typeface="Arial"/>
              </a:defRPr>
            </a:pPr>
            <a:r>
              <a:t>taxa média de variação = </a:t>
            </a:r>
            <a:r>
              <a:rPr i="1"/>
              <a:t>m</a:t>
            </a:r>
            <a:r>
              <a:rPr baseline="-20777" i="1"/>
              <a:t>PQ </a:t>
            </a:r>
            <a:endParaRPr baseline="-20777" i="1"/>
          </a:p>
          <a:p>
            <a:pPr algn="l" defTabSz="1300480">
              <a:defRPr b="0" sz="1800">
                <a:latin typeface="Arial"/>
                <a:ea typeface="Arial"/>
                <a:cs typeface="Arial"/>
                <a:sym typeface="Arial"/>
              </a:defRPr>
            </a:pPr>
            <a:r>
              <a:t>taxa instantânea de variação</a:t>
            </a:r>
            <a:r>
              <a:rPr i="1"/>
              <a:t> = </a:t>
            </a:r>
            <a:endParaRPr i="1"/>
          </a:p>
          <a:p>
            <a:pPr algn="l" defTabSz="1300480">
              <a:defRPr b="0" sz="1800">
                <a:latin typeface="Arial"/>
                <a:ea typeface="Arial"/>
                <a:cs typeface="Arial"/>
                <a:sym typeface="Arial"/>
              </a:defRPr>
            </a:pPr>
            <a:r>
              <a:t>inclinação da tangente em </a:t>
            </a:r>
            <a:r>
              <a:rPr i="1"/>
              <a:t>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axas de Vari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Taxas de Variação</a:t>
            </a:r>
          </a:p>
        </p:txBody>
      </p:sp>
      <p:sp>
        <p:nvSpPr>
          <p:cNvPr id="397" name="Por analogia com a velocidade, consideramos a taxa média de variação em intervalos cada vez menores fazendo x2 tender a x1 e, portanto, fazendo Δx tender a 0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25779">
              <a:spcBef>
                <a:spcPts val="3700"/>
              </a:spcBef>
              <a:buSzTx/>
              <a:buNone/>
              <a:defRPr sz="2880"/>
            </a:pPr>
            <a:r>
              <a:t>Por analogia com a velocidade, consideramos a taxa média de variação em intervalos cada vez menores fazendo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1833"/>
              <a:t>2</a:t>
            </a:r>
            <a:r>
              <a:t> tender 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1833"/>
              <a:t>1</a:t>
            </a:r>
            <a:r>
              <a:t> e, portanto, fazendo Δ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tender a 0</a:t>
            </a:r>
          </a:p>
          <a:p>
            <a:pPr marL="0" indent="0" defTabSz="525779">
              <a:spcBef>
                <a:spcPts val="3700"/>
              </a:spcBef>
              <a:buSzTx/>
              <a:buNone/>
              <a:defRPr sz="2880"/>
            </a:pPr>
            <a:r>
              <a:t>O limite dessas taxas médias de variação é chamado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 taxa </a:t>
            </a:r>
            <a:r>
              <a:t>(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instantânea</a:t>
            </a:r>
            <a:r>
              <a:t>)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de variação de </a:t>
            </a:r>
            <a:r>
              <a:rPr b="1" i="1"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em relação a </a:t>
            </a:r>
            <a:r>
              <a:rPr b="1" i="1">
                <a:latin typeface="Arial"/>
                <a:ea typeface="Arial"/>
                <a:cs typeface="Arial"/>
                <a:sym typeface="Arial"/>
              </a:rPr>
              <a:t>x </a:t>
            </a:r>
            <a:r>
              <a:t>em x</a:t>
            </a:r>
            <a:r>
              <a:rPr>
                <a:latin typeface="Arial"/>
                <a:ea typeface="Arial"/>
                <a:cs typeface="Arial"/>
                <a:sym typeface="Arial"/>
              </a:rPr>
              <a:t> = </a:t>
            </a:r>
            <a:r>
              <a:t>x</a:t>
            </a:r>
            <a:r>
              <a:rPr baseline="-21833">
                <a:latin typeface="Arial"/>
                <a:ea typeface="Arial"/>
                <a:cs typeface="Arial"/>
                <a:sym typeface="Arial"/>
              </a:rPr>
              <a:t>1</a:t>
            </a:r>
            <a:r>
              <a:rPr>
                <a:latin typeface="Arial"/>
                <a:ea typeface="Arial"/>
                <a:cs typeface="Arial"/>
                <a:sym typeface="Arial"/>
              </a:rPr>
              <a:t>, que é interpretada como a inclinação da tangente à curva </a:t>
            </a:r>
            <a:r>
              <a:t>y</a:t>
            </a:r>
            <a:r>
              <a:rPr>
                <a:latin typeface="Arial"/>
                <a:ea typeface="Arial"/>
                <a:cs typeface="Arial"/>
                <a:sym typeface="Arial"/>
              </a:rPr>
              <a:t> = </a:t>
            </a:r>
            <a:r>
              <a:t>f</a:t>
            </a:r>
            <a:r>
              <a:rPr sz="450"/>
              <a:t> </a:t>
            </a:r>
            <a:r>
              <a:rPr>
                <a:latin typeface="Arial"/>
                <a:ea typeface="Arial"/>
                <a:cs typeface="Arial"/>
                <a:sym typeface="Arial"/>
              </a:rPr>
              <a:t>(</a:t>
            </a:r>
            <a:r>
              <a:t>x</a:t>
            </a:r>
            <a:r>
              <a:rPr>
                <a:latin typeface="Arial"/>
                <a:ea typeface="Arial"/>
                <a:cs typeface="Arial"/>
                <a:sym typeface="Arial"/>
              </a:rPr>
              <a:t>) em </a:t>
            </a:r>
            <a:r>
              <a:t>P</a:t>
            </a:r>
            <a:r>
              <a:rPr>
                <a:latin typeface="Arial"/>
                <a:ea typeface="Arial"/>
                <a:cs typeface="Arial"/>
                <a:sym typeface="Arial"/>
              </a:rPr>
              <a:t>(</a:t>
            </a:r>
            <a:r>
              <a:t>x</a:t>
            </a:r>
            <a:r>
              <a:rPr baseline="-21833">
                <a:latin typeface="Arial"/>
                <a:ea typeface="Arial"/>
                <a:cs typeface="Arial"/>
                <a:sym typeface="Arial"/>
              </a:rPr>
              <a:t>1</a:t>
            </a:r>
            <a:r>
              <a:rPr>
                <a:latin typeface="Arial"/>
                <a:ea typeface="Arial"/>
                <a:cs typeface="Arial"/>
                <a:sym typeface="Arial"/>
              </a:rPr>
              <a:t>, </a:t>
            </a:r>
            <a:r>
              <a:t>f</a:t>
            </a:r>
            <a:r>
              <a:rPr sz="450"/>
              <a:t> </a:t>
            </a:r>
            <a:r>
              <a:rPr>
                <a:latin typeface="Arial"/>
                <a:ea typeface="Arial"/>
                <a:cs typeface="Arial"/>
                <a:sym typeface="Arial"/>
              </a:rPr>
              <a:t>(</a:t>
            </a:r>
            <a:r>
              <a:t>x</a:t>
            </a:r>
            <a:r>
              <a:rPr baseline="-21833">
                <a:latin typeface="Arial"/>
                <a:ea typeface="Arial"/>
                <a:cs typeface="Arial"/>
                <a:sym typeface="Arial"/>
              </a:rPr>
              <a:t>1</a:t>
            </a:r>
            <a:r>
              <a:rPr>
                <a:latin typeface="Arial"/>
                <a:ea typeface="Arial"/>
                <a:cs typeface="Arial"/>
                <a:sym typeface="Arial"/>
              </a:rPr>
              <a:t>)):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indent="0" defTabSz="525779">
              <a:spcBef>
                <a:spcPts val="3700"/>
              </a:spcBef>
              <a:buSzTx/>
              <a:buNone/>
              <a:defRPr i="1" sz="2880">
                <a:latin typeface="Arial"/>
                <a:ea typeface="Arial"/>
                <a:cs typeface="Arial"/>
                <a:sym typeface="Arial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s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t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d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e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v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o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sSub>
                    <m:e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sSub>
                    <m:e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sSub>
                        <m:e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e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sub>
                  </m:sSub>
                  <m:f>
                    <m:fPr>
                      <m:ctrl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e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sSub>
                        <m:e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b>
                        <m:e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den>
                  </m:f>
                </m:oMath>
              </m:oMathPara>
            </a14:m>
            <a:endParaRPr sz="989"/>
          </a:p>
          <a:p>
            <a:pPr marL="0" indent="0" defTabSz="525779">
              <a:spcBef>
                <a:spcPts val="3700"/>
              </a:spcBef>
              <a:buSzTx/>
              <a:buNone/>
              <a:defRPr sz="2880"/>
            </a:pPr>
            <a:r>
              <a:t>Reconhecemos este limite como a </a:t>
            </a:r>
            <a:r>
              <a:rPr b="1"/>
              <a:t>derivada</a:t>
            </a:r>
            <a:r>
              <a:t>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989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1833"/>
              <a:t>1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axas de Vari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Taxas de Variação</a:t>
            </a:r>
          </a:p>
        </p:txBody>
      </p:sp>
      <p:sp>
        <p:nvSpPr>
          <p:cNvPr id="400" name="Sabemos que uma das interpretações da derivada f ′(a) é a inclinação da reta tangente à curva y = f (x) quando x = a.  Agora temos uma segunda interpretação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40055" indent="-440055" defTabSz="578358">
              <a:spcBef>
                <a:spcPts val="4100"/>
              </a:spcBef>
              <a:defRPr sz="3168"/>
            </a:pPr>
            <a:r>
              <a:t>Sabemos que uma das interpretações da derivada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089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) é a </a:t>
            </a:r>
            <a:r>
              <a:rPr b="1"/>
              <a:t>inclinação</a:t>
            </a:r>
            <a:r>
              <a:t> da reta tangente à curva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494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 quando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r>
              <a:t>. </a:t>
            </a:r>
            <a:br/>
            <a:r>
              <a:t>Agora temos uma segunda interpretação:</a:t>
            </a:r>
          </a:p>
          <a:p>
            <a:pPr lvl="1" marL="880110" indent="-440055" defTabSz="578358">
              <a:lnSpc>
                <a:spcPct val="110000"/>
              </a:lnSpc>
              <a:spcBef>
                <a:spcPts val="4100"/>
              </a:spcBef>
              <a:defRPr sz="3168"/>
            </a:pPr>
            <a:r>
              <a:t>A derivada f’(a) é a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taxa instantânea de variação</a:t>
            </a:r>
            <a:r>
              <a:t> de y=f(x) em relação a x quando x=a</a:t>
            </a:r>
            <a:br/>
          </a:p>
          <a:p>
            <a:pPr marL="440055" indent="-440055" defTabSz="578358">
              <a:spcBef>
                <a:spcPts val="4100"/>
              </a:spcBef>
              <a:defRPr sz="3168"/>
            </a:pPr>
            <a:r>
              <a:t>Se esboçarmos a curva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494"/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), então a </a:t>
            </a:r>
            <a:r>
              <a:rPr b="1"/>
              <a:t>taxa instantânea da variação será a inclinação da tangente</a:t>
            </a:r>
            <a:r>
              <a:t> a essa curva no ponto onde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a</a:t>
            </a:r>
            <a:br>
              <a:rPr i="1">
                <a:latin typeface="Arial"/>
                <a:ea typeface="Arial"/>
                <a:cs typeface="Arial"/>
                <a:sym typeface="Arial"/>
              </a:rPr>
            </a:b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axas de Varia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Taxas de Variação</a:t>
            </a:r>
          </a:p>
        </p:txBody>
      </p:sp>
      <p:sp>
        <p:nvSpPr>
          <p:cNvPr id="403" name="Quando a derivada for grande (curva for íngreme no ponto P), os valores de y mudarão rapidament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388937" indent="-388937"/>
            <a:r>
              <a:t>Quando a derivada for grande (curva for íngreme no ponto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P</a:t>
            </a:r>
            <a:r>
              <a:t>), os valores 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mudarão rapidamente</a:t>
            </a:r>
          </a:p>
          <a:p>
            <a:pPr marL="388937" indent="-388937"/>
            <a:r>
              <a:t>Quando a derivada for pequena, a curva será relativamente achatada (ponto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Q</a:t>
            </a:r>
            <a:r>
              <a:t>) e os valores 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y</a:t>
            </a:r>
            <a:r>
              <a:t> mudarão lentamente </a:t>
            </a:r>
          </a:p>
        </p:txBody>
      </p:sp>
      <p:pic>
        <p:nvPicPr>
          <p:cNvPr id="404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03066" y="2842542"/>
            <a:ext cx="4147539" cy="4068516"/>
          </a:xfrm>
          <a:prstGeom prst="rect">
            <a:avLst/>
          </a:prstGeom>
          <a:ln w="12700">
            <a:miter lim="400000"/>
          </a:ln>
        </p:spPr>
      </p:pic>
      <p:sp>
        <p:nvSpPr>
          <p:cNvPr id="405" name="Os valores de y estão variando rapidamente em P e…"/>
          <p:cNvSpPr txBox="1"/>
          <p:nvPr/>
        </p:nvSpPr>
        <p:spPr>
          <a:xfrm>
            <a:off x="7264400" y="7433733"/>
            <a:ext cx="6502401" cy="655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1300480">
              <a:defRPr b="0" sz="1800">
                <a:latin typeface="Arial"/>
                <a:ea typeface="Arial"/>
                <a:cs typeface="Arial"/>
                <a:sym typeface="Arial"/>
              </a:defRPr>
            </a:pPr>
            <a:r>
              <a:t>Os valores de </a:t>
            </a:r>
            <a:r>
              <a:rPr i="1"/>
              <a:t>y </a:t>
            </a:r>
            <a:r>
              <a:t>estão variando rapidamente em </a:t>
            </a:r>
            <a:r>
              <a:rPr i="1"/>
              <a:t>P </a:t>
            </a:r>
            <a:r>
              <a:t>e</a:t>
            </a:r>
          </a:p>
          <a:p>
            <a:pPr algn="l" defTabSz="1300480">
              <a:defRPr b="0" sz="1800">
                <a:latin typeface="Arial"/>
                <a:ea typeface="Arial"/>
                <a:cs typeface="Arial"/>
                <a:sym typeface="Arial"/>
              </a:defRPr>
            </a:pPr>
            <a:r>
              <a:t>de modo lento em </a:t>
            </a:r>
            <a:r>
              <a:rPr i="1"/>
              <a:t>Q</a:t>
            </a:r>
            <a:r>
              <a:t>.</a:t>
            </a:r>
          </a:p>
        </p:txBody>
      </p:sp>
      <p:sp>
        <p:nvSpPr>
          <p:cNvPr id="406" name="Velocidade!"/>
          <p:cNvSpPr txBox="1"/>
          <p:nvPr/>
        </p:nvSpPr>
        <p:spPr>
          <a:xfrm>
            <a:off x="2445156" y="7469162"/>
            <a:ext cx="2348688" cy="585113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Velocidade!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Exercício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4</a:t>
            </a:r>
          </a:p>
        </p:txBody>
      </p:sp>
      <p:sp>
        <p:nvSpPr>
          <p:cNvPr id="409" name="Exercício: Um fabricante produz peças de tecido com tamanho fixo. O custo, em dólares, da produção de x metros de certo tecido é  C = f (x)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tabLst>
                <a:tab pos="647700" algn="l"/>
              </a:tabLst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 </a:t>
            </a:r>
            <a:r>
              <a:t>Um fabricante produz peças de tecido com tamanho fixo. O custo, em dólares, da produção 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 </a:t>
            </a:r>
            <a:r>
              <a:t>metros de certo tecido é 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500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). </a:t>
            </a:r>
          </a:p>
          <a:p>
            <a:pPr marL="0" indent="0">
              <a:buSzTx/>
              <a:buNone/>
              <a:tabLst>
                <a:tab pos="647700" algn="l"/>
              </a:tabLst>
            </a:pPr>
            <a:r>
              <a:t>(a) Qual o significado da derivada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100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)? Quais são suas unidades?</a:t>
            </a:r>
          </a:p>
          <a:p>
            <a:pPr marL="0" indent="0">
              <a:buSzTx/>
              <a:buNone/>
              <a:tabLst>
                <a:tab pos="647700" algn="l"/>
              </a:tabLst>
            </a:pPr>
            <a:r>
              <a:t>(b) Em termos práticos, o que significa dizer que </a:t>
            </a:r>
          </a:p>
          <a:p>
            <a:pPr marL="0" indent="0">
              <a:buSzTx/>
              <a:buNone/>
              <a:tabLst>
                <a:tab pos="647700" algn="l"/>
              </a:tabLst>
              <a:defRPr i="1">
                <a:latin typeface="Arial"/>
                <a:ea typeface="Arial"/>
                <a:cs typeface="Arial"/>
                <a:sym typeface="Arial"/>
              </a:defRPr>
            </a:pPr>
            <a:r>
              <a:t>f</a:t>
            </a:r>
            <a:r>
              <a:rPr i="0" sz="1100"/>
              <a:t>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¢</a:t>
            </a:r>
            <a:r>
              <a:rPr i="0"/>
              <a:t>(1.000) = 9?</a:t>
            </a:r>
            <a:endParaRPr i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Exercício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4</a:t>
            </a:r>
          </a:p>
        </p:txBody>
      </p:sp>
      <p:sp>
        <p:nvSpPr>
          <p:cNvPr id="412" name="Exercício: Um fabricante produz peças de tecido com tamanho fixo. O custo, em dólares, da produção de x metros de certo tecido é  C = f (x)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43305">
              <a:spcBef>
                <a:spcPts val="3900"/>
              </a:spcBef>
              <a:buSzTx/>
              <a:buNone/>
              <a:tabLst>
                <a:tab pos="596900" algn="l"/>
              </a:tabLst>
              <a:defRPr sz="2976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 </a:t>
            </a:r>
            <a:r>
              <a:t>Um fabricante produz peças de tecido com tamanho fixo. O custo, em dólares, da produção 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 </a:t>
            </a:r>
            <a:r>
              <a:t>metros de certo tecido é 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t> =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z="465">
                <a:latin typeface="Arial"/>
                <a:ea typeface="Arial"/>
                <a:cs typeface="Arial"/>
                <a:sym typeface="Arial"/>
              </a:rPr>
              <a:t> 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). </a:t>
            </a:r>
          </a:p>
          <a:p>
            <a:pPr marL="0" indent="0" defTabSz="543305">
              <a:spcBef>
                <a:spcPts val="3900"/>
              </a:spcBef>
              <a:buSzTx/>
              <a:buNone/>
              <a:tabLst>
                <a:tab pos="596900" algn="l"/>
              </a:tabLst>
              <a:defRPr sz="2976"/>
            </a:pPr>
            <a:r>
              <a:t>(a) Qual o significado da derivada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023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)? Quais são suas unidades?</a:t>
            </a:r>
          </a:p>
          <a:p>
            <a:pPr marL="0" indent="0" defTabSz="543305">
              <a:spcBef>
                <a:spcPts val="3900"/>
              </a:spcBef>
              <a:buSzTx/>
              <a:buNone/>
              <a:tabLst>
                <a:tab pos="596900" algn="l"/>
              </a:tabLst>
              <a:defRPr sz="2976"/>
            </a:pPr>
            <a:r>
              <a:t>(b) Em termos práticos, o que significa dizer que </a:t>
            </a:r>
          </a:p>
          <a:p>
            <a:pPr marL="0" indent="0" defTabSz="543305">
              <a:spcBef>
                <a:spcPts val="3900"/>
              </a:spcBef>
              <a:buSzTx/>
              <a:buNone/>
              <a:tabLst>
                <a:tab pos="596900" algn="l"/>
              </a:tabLst>
              <a:defRPr i="1" sz="2976">
                <a:latin typeface="Arial"/>
                <a:ea typeface="Arial"/>
                <a:cs typeface="Arial"/>
                <a:sym typeface="Arial"/>
              </a:defRPr>
            </a:pPr>
            <a:r>
              <a:t>f</a:t>
            </a:r>
            <a:r>
              <a:rPr i="0" sz="1023"/>
              <a:t> </a:t>
            </a:r>
            <a:r>
              <a:rPr i="0">
                <a:latin typeface="Symbol"/>
                <a:ea typeface="Symbol"/>
                <a:cs typeface="Symbol"/>
                <a:sym typeface="Symbol"/>
              </a:rPr>
              <a:t>¢</a:t>
            </a:r>
            <a:r>
              <a:rPr i="0"/>
              <a:t>(1.000) = 9?</a:t>
            </a:r>
            <a:endParaRPr i="0"/>
          </a:p>
          <a:p>
            <a:pPr marL="0" indent="0" defTabSz="543305">
              <a:spcBef>
                <a:spcPts val="3900"/>
              </a:spcBef>
              <a:buSzTx/>
              <a:buNone/>
              <a:tabLst>
                <a:tab pos="596900" algn="l"/>
              </a:tabLst>
              <a:defRPr sz="2976"/>
            </a:pPr>
            <a:r>
              <a:t>(c) O que você acha que é maior,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023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(50) ou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023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(500)?</a:t>
            </a:r>
            <a:br/>
            <a:r>
              <a:t>E quanto 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023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(5.000)?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Exercício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4</a:t>
            </a:r>
          </a:p>
        </p:txBody>
      </p:sp>
      <p:sp>
        <p:nvSpPr>
          <p:cNvPr id="415" name="(a) A derivada f ′(x) é a taxa de variação instantânea de C em relação a x; isto é, f ′(x) significa a taxa de variação do custo de produção em relação ao número de metros produzido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43305">
              <a:spcBef>
                <a:spcPts val="3900"/>
              </a:spcBef>
              <a:buSzTx/>
              <a:buNone/>
              <a:defRPr sz="2976"/>
            </a:pPr>
            <a:r>
              <a:t>(a) A derivada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023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 é a taxa de variação instantânea de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C </a:t>
            </a:r>
            <a:r>
              <a:t>em relação 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; isto é,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023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 significa a taxa de variação do custo de produção em relação ao número de metros produzidos. </a:t>
            </a:r>
            <a:endParaRPr sz="1488"/>
          </a:p>
          <a:p>
            <a:pPr marL="0" indent="0" defTabSz="543305">
              <a:spcBef>
                <a:spcPts val="3900"/>
              </a:spcBef>
              <a:buSzTx/>
              <a:buNone/>
              <a:defRPr sz="2976"/>
            </a:pPr>
            <a:r>
              <a:t>Como</a:t>
            </a:r>
          </a:p>
          <a:p>
            <a:pPr marL="0" indent="0" algn="ctr" defTabSz="543305">
              <a:spcBef>
                <a:spcPts val="3900"/>
              </a:spcBef>
              <a:buSzTx/>
              <a:buNone/>
              <a:defRPr sz="2976"/>
            </a:pPr>
            <a14:m>
              <m:oMath>
                <m:sSup>
                  <m:e>
                    <m: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3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3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3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3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35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m:rPr>
                        <m:sty m:val="p"/>
                      </m:rP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m:rPr>
                        <m:sty m:val="p"/>
                      </m:rP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num>
                  <m:den>
                    <m:r>
                      <m:rPr>
                        <m:sty m:val="p"/>
                      </m:rP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3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den>
                </m:f>
              </m:oMath>
            </a14:m>
            <a:r>
              <a:t> </a:t>
            </a:r>
          </a:p>
          <a:p>
            <a:pPr marL="0" indent="0" defTabSz="543305">
              <a:spcBef>
                <a:spcPts val="3900"/>
              </a:spcBef>
              <a:buSzTx/>
              <a:buNone/>
              <a:defRPr sz="2976"/>
            </a:pPr>
            <a:r>
              <a:t>as unidades para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023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 são iguais àquelas do quociente de diferenças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D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t>/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D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. Uma vez que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D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C</a:t>
            </a:r>
            <a:r>
              <a:t> é medida em dólares e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D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em metros, segue que a unidade para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1023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 é dólares por metro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Exercício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4</a:t>
            </a:r>
          </a:p>
        </p:txBody>
      </p:sp>
      <p:sp>
        <p:nvSpPr>
          <p:cNvPr id="418" name="(b) A afirmação que f ′(1.000) = 9 significa que, depois de 1.000 metros da peça terem sido fabricados, a taxa segundo a qual o custo de produção está aumentando é $ 9/m.  (quando x = 1.000, C está aumentando 9 vezes mais rápido que x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14095">
              <a:spcBef>
                <a:spcPts val="3600"/>
              </a:spcBef>
              <a:buSzTx/>
              <a:buNone/>
              <a:defRPr sz="2816"/>
            </a:pPr>
            <a:r>
              <a:t>(b) A afirmação que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968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(1.000) = 9 significa que, depois de 1.000 metros da peça terem sido fabricados, a taxa segundo a qual o custo de produção está aumentando é $ 9/m. </a:t>
            </a:r>
            <a:br/>
            <a:r>
              <a:t>(quando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= 1.000,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C </a:t>
            </a:r>
            <a:r>
              <a:t>está aumentando 9 vezes mais rápido que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)</a:t>
            </a:r>
            <a:endParaRPr sz="1760"/>
          </a:p>
          <a:p>
            <a:pPr marL="0" indent="0" defTabSz="514095">
              <a:spcBef>
                <a:spcPts val="3600"/>
              </a:spcBef>
              <a:buSzTx/>
              <a:buNone/>
              <a:defRPr sz="2816"/>
            </a:pPr>
            <a:r>
              <a:t>Uma vez que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D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= 1 é pequeno comparado com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= 1.000, podemos usar a aproximação</a:t>
            </a:r>
          </a:p>
          <a:p>
            <a:pPr marL="0" indent="0" algn="ctr" defTabSz="514095">
              <a:spcBef>
                <a:spcPts val="3600"/>
              </a:spcBef>
              <a:buSzTx/>
              <a:buNone/>
              <a:defRPr sz="2816"/>
            </a:pPr>
            <a14:m>
              <m:oMathPara>
                <m:oMathParaPr>
                  <m:jc m:val="center"/>
                </m:oMathParaPr>
                <m:oMath>
                  <m:sSup>
                    <m:e>
                      <m: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p>
                      <m: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3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1000</m:t>
                  </m:r>
                  <m:r>
                    <a:rPr xmlns:a="http://schemas.openxmlformats.org/drawingml/2006/main" sz="3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≈</m:t>
                  </m:r>
                  <m:f>
                    <m:fPr>
                      <m:ctrlP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  <m:r>
                    <a:rPr xmlns:a="http://schemas.openxmlformats.org/drawingml/2006/main" sz="3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num>
                    <m:den>
                      <m:r>
                        <a:rPr xmlns:a="http://schemas.openxmlformats.org/drawingml/2006/main" sz="33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den>
                  </m:f>
                  <m:r>
                    <a:rPr xmlns:a="http://schemas.openxmlformats.org/drawingml/2006/main" sz="3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m:rPr>
                      <m:sty m:val="p"/>
                    </m:rPr>
                    <a:rPr xmlns:a="http://schemas.openxmlformats.org/drawingml/2006/main" sz="3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33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</m:oMath>
              </m:oMathPara>
            </a14:m>
          </a:p>
          <a:p>
            <a:pPr marL="0" indent="0" defTabSz="514095">
              <a:spcBef>
                <a:spcPts val="3600"/>
              </a:spcBef>
              <a:buSzTx/>
              <a:buNone/>
              <a:defRPr sz="2816"/>
            </a:pPr>
            <a:r>
              <a:t>e dizer que o custo de fabricação do milésimo metro </a:t>
            </a:r>
            <a:br/>
            <a:r>
              <a:t>(ou do 1001º) está em torno de $ 9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Exercício 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4</a:t>
            </a:r>
          </a:p>
        </p:txBody>
      </p:sp>
      <p:sp>
        <p:nvSpPr>
          <p:cNvPr id="421" name="(c) A taxa segundo a qual o custo de produção está crescendo (por metro) é provavelmente menor quando x = 500 do que quando x = 50 (o custo de fabricação do 500º metro é menor que o custo do 50º metro), em virtude da economia de escala. (O fabricante usa mais eficientemente os custos fixos de produção.) Entã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02412">
              <a:spcBef>
                <a:spcPts val="3600"/>
              </a:spcBef>
              <a:buSzTx/>
              <a:buNone/>
              <a:defRPr sz="2752"/>
            </a:pPr>
            <a:r>
              <a:t>(c) A taxa segundo a qual o custo de produção está crescendo (por metro) é provavelmente menor quando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= 500 do que quando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x</a:t>
            </a:r>
            <a:r>
              <a:t> = 50 (o custo de fabricação do 500º metro é menor que o custo do 50º metro), em virtude da economia de escala. (O fabricante usa mais eficientemente os custos fixos de produção.) Então</a:t>
            </a:r>
          </a:p>
          <a:p>
            <a:pPr marL="0" indent="0" algn="ctr" defTabSz="502412">
              <a:spcBef>
                <a:spcPts val="3600"/>
              </a:spcBef>
              <a:buSzTx/>
              <a:buNone/>
              <a:defRPr sz="2752"/>
            </a:pP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946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(50) &gt; </a:t>
            </a:r>
            <a:r>
              <a:rPr i="1">
                <a:latin typeface="Arial"/>
                <a:ea typeface="Arial"/>
                <a:cs typeface="Arial"/>
                <a:sym typeface="Arial"/>
              </a:rPr>
              <a:t>f</a:t>
            </a:r>
            <a:r>
              <a:rPr sz="946"/>
              <a:t> </a:t>
            </a:r>
            <a:r>
              <a:rPr>
                <a:latin typeface="Symbol"/>
                <a:ea typeface="Symbol"/>
                <a:cs typeface="Symbol"/>
                <a:sym typeface="Symbol"/>
              </a:rPr>
              <a:t>¢</a:t>
            </a:r>
            <a:r>
              <a:t>(500)</a:t>
            </a:r>
          </a:p>
          <a:p>
            <a:pPr marL="0" indent="0" defTabSz="502412">
              <a:spcBef>
                <a:spcPts val="3600"/>
              </a:spcBef>
              <a:buSzTx/>
              <a:buNone/>
              <a:defRPr sz="2752"/>
            </a:pPr>
            <a:r>
              <a:t>Mas, à medida que a produção expande, a operação de larga escala resultante pode se tornar ineficiente, e poderiam ocorrer custos de horas extras. Logo, é possível que a taxa de crescimento dos custos possa crescer no futuro. Assim, pode ocorrer que</a:t>
            </a:r>
          </a:p>
          <a:p>
            <a:pPr marL="0" indent="0" algn="ctr" defTabSz="502412">
              <a:spcBef>
                <a:spcPts val="3600"/>
              </a:spcBef>
              <a:buSzTx/>
              <a:buNone/>
              <a:defRPr sz="2752"/>
            </a:pPr>
            <a:r>
              <a:t>f ′(5.000) &gt; f ′(500)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Definição da Função Derivada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73887">
              <a:defRPr sz="5119"/>
            </a:pPr>
            <a:r>
              <a:t>Definição da Função Derivada</a:t>
            </a:r>
          </a:p>
          <a:p>
            <a:pPr defTabSz="373887">
              <a:defRPr sz="5119"/>
            </a:pPr>
            <a:r>
              <a:t>Ponto</a:t>
            </a:r>
          </a:p>
        </p:txBody>
      </p:sp>
      <p:sp>
        <p:nvSpPr>
          <p:cNvPr id="424" name="Definição: Seja a derivada de uma função f em um ponto x0 dada pelo limit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Definição:</a:t>
            </a:r>
            <a:r>
              <a:t> Seja a derivada de uma função f em um ponto x</a:t>
            </a:r>
            <a:r>
              <a:rPr baseline="-5999"/>
              <a:t>0</a:t>
            </a:r>
            <a:r>
              <a:t> dada pelo limite</a:t>
            </a:r>
          </a:p>
          <a:p>
            <a:pPr marL="0" indent="0" algn="ctr">
              <a:buSzTx/>
              <a:buNone/>
              <a:defRPr sz="1900"/>
            </a:pPr>
            <a14:m>
              <m:oMath>
                <m:sSup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xmlns:a="http://schemas.openxmlformats.org/drawingml/2006/ma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sub>
                </m:sSub>
                <m:f>
                  <m:f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xmlns:a="http://schemas.openxmlformats.org/drawingml/2006/ma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sSub>
                      <m:e>
                        <m:r>
                          <a:rPr xmlns:a="http://schemas.openxmlformats.org/drawingml/2006/ma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den>
                </m:f>
              </m:oMath>
            </a14:m>
            <a:r>
              <a:t>  </a:t>
            </a:r>
            <a:r>
              <a:rPr sz="3200"/>
              <a:t>ou</a:t>
            </a:r>
            <a:r>
              <a:t>  </a:t>
            </a:r>
            <a14:m>
              <m:oMath>
                <m:sSup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m:rPr>
                        <m:sty m:val="p"/>
                      </m:r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m:rPr>
                        <m:sty m:val="p"/>
                      </m:r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num>
                  <m:den>
                    <m:r>
                      <m:rPr>
                        <m:sty m:val="p"/>
                      </m:r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den>
                </m:f>
              </m:oMath>
            </a14:m>
            <a:r>
              <a:t>  </a:t>
            </a:r>
            <a:r>
              <a:rPr sz="3200"/>
              <a:t>ou</a:t>
            </a:r>
            <a:r>
              <a:t>  </a:t>
            </a:r>
            <a14:m>
              <m:oMath>
                <m:sSup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sSub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xmlns:a="http://schemas.openxmlformats.org/drawingml/2006/ma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xmlns:a="http://schemas.openxmlformats.org/drawingml/2006/ma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xmlns:a="http://schemas.openxmlformats.org/drawingml/2006/main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</m:oMath>
            </a14:m>
          </a:p>
          <a:p>
            <a:pPr marL="0" indent="0">
              <a:buSzTx/>
              <a:buNone/>
            </a:pPr>
            <a:r>
              <a:t>Se o limite existir e for finito, dizemos que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f é derivável</a:t>
            </a:r>
            <a:r>
              <a:t> em x</a:t>
            </a:r>
            <a:r>
              <a:rPr baseline="-5999"/>
              <a:t>0</a:t>
            </a:r>
          </a:p>
        </p:txBody>
      </p:sp>
      <p:sp>
        <p:nvSpPr>
          <p:cNvPr id="425" name="Tangente…"/>
          <p:cNvSpPr txBox="1"/>
          <p:nvPr/>
        </p:nvSpPr>
        <p:spPr>
          <a:xfrm>
            <a:off x="4808474" y="7915877"/>
            <a:ext cx="3387853" cy="1575712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Tangente</a:t>
            </a:r>
          </a:p>
          <a:p>
            <a:pPr>
              <a:defRPr sz="3200">
                <a:solidFill>
                  <a:srgbClr val="FFFFFF"/>
                </a:solidFill>
              </a:defRPr>
            </a:pPr>
            <a:r>
              <a:t>Taxa de Variação</a:t>
            </a:r>
          </a:p>
          <a:p>
            <a:pPr>
              <a:defRPr sz="3200">
                <a:solidFill>
                  <a:srgbClr val="FFFFFF"/>
                </a:solidFill>
              </a:defRPr>
            </a:pPr>
            <a:r>
              <a:t>Velocidade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Exercício 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5</a:t>
            </a:r>
          </a:p>
        </p:txBody>
      </p:sp>
      <p:sp>
        <p:nvSpPr>
          <p:cNvPr id="428" name="Exercício: Qual a derivada de f(x)=x2  no ponto x0=3?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lvl="1" marL="0" indent="0">
              <a:spcBef>
                <a:spcPts val="0"/>
              </a:spcBef>
              <a:buSzTx/>
              <a:buNone/>
              <a:defRPr b="1"/>
            </a:pP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</a:t>
            </a:r>
            <a:r>
              <a:t> </a:t>
            </a:r>
            <a:r>
              <a:rPr b="0"/>
              <a:t>Qual a derivada de f(x)=x</a:t>
            </a:r>
            <a:r>
              <a:rPr b="0" baseline="30000"/>
              <a:t>2</a:t>
            </a:r>
            <a:r>
              <a:rPr b="0" baseline="-25000"/>
              <a:t> </a:t>
            </a:r>
            <a:r>
              <a:rPr b="0"/>
              <a:t> no ponto x</a:t>
            </a:r>
            <a:r>
              <a:rPr b="0" baseline="-25000"/>
              <a:t>0</a:t>
            </a:r>
            <a:r>
              <a:rPr b="0"/>
              <a:t>=3?</a:t>
            </a:r>
          </a:p>
        </p:txBody>
      </p:sp>
      <p:grpSp>
        <p:nvGrpSpPr>
          <p:cNvPr id="431" name="Grupo"/>
          <p:cNvGrpSpPr/>
          <p:nvPr/>
        </p:nvGrpSpPr>
        <p:grpSpPr>
          <a:xfrm>
            <a:off x="911013" y="3656188"/>
            <a:ext cx="9151472" cy="3093862"/>
            <a:chOff x="0" y="0"/>
            <a:chExt cx="9151470" cy="3093861"/>
          </a:xfrm>
        </p:grpSpPr>
        <p:pic>
          <p:nvPicPr>
            <p:cNvPr id="429" name="image.pdf" descr="image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4666" y="0"/>
              <a:ext cx="4378977" cy="1016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30" name="image.pdf" descr="image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1061861"/>
              <a:ext cx="9151471" cy="2032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432" name="Isso significa que um pequeno acréscimo Δx dado a x, a partir de x0=3, acarretará um correspondente acréscimo Δf que é aproximadamente 6 vezes maior que o acréscimo Δx"/>
          <p:cNvSpPr txBox="1"/>
          <p:nvPr/>
        </p:nvSpPr>
        <p:spPr>
          <a:xfrm>
            <a:off x="629919" y="7597140"/>
            <a:ext cx="11744962" cy="1463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1300480">
              <a:defRPr b="0" sz="2800"/>
            </a:pPr>
            <a:r>
              <a:t>Isso significa que um pequeno acréscimo </a:t>
            </a:r>
            <a:r>
              <a:t>Δ</a:t>
            </a:r>
            <a:r>
              <a:t>x dado a x, a partir de x</a:t>
            </a:r>
            <a:r>
              <a:rPr baseline="-19571"/>
              <a:t>0</a:t>
            </a:r>
            <a:r>
              <a:t>=3, acarretará um correspondente acréscimo </a:t>
            </a:r>
            <a:r>
              <a:t>Δ</a:t>
            </a:r>
            <a:r>
              <a:t>f que é aproximadamente 6 vezes maior que o acréscimo </a:t>
            </a:r>
            <a:r>
              <a:t>Δ</a:t>
            </a:r>
            <a:r>
              <a:t>x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31" grpId="1"/>
      <p:bldP build="whole" bldLvl="1" animBg="1" rev="0" advAuto="0" spid="432" grpId="2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Exercíci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Exercícios</a:t>
            </a:r>
          </a:p>
        </p:txBody>
      </p:sp>
      <p:sp>
        <p:nvSpPr>
          <p:cNvPr id="435" name="Exercício: Para cada função f(x), determine a derivada f´(x) no ponto x0 indicado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84886">
              <a:lnSpc>
                <a:spcPct val="90000"/>
              </a:lnSpc>
              <a:spcBef>
                <a:spcPts val="3400"/>
              </a:spcBef>
              <a:buSzTx/>
              <a:buNone/>
              <a:defRPr sz="2656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</a:t>
            </a:r>
            <a:r>
              <a:rPr b="1"/>
              <a:t> </a:t>
            </a:r>
            <a:r>
              <a:t>Para cada função f(x), determine a derivada f´(x) no ponto x</a:t>
            </a:r>
            <a:r>
              <a:rPr baseline="-28891"/>
              <a:t>0</a:t>
            </a:r>
            <a:r>
              <a:t> indicado:</a:t>
            </a:r>
          </a:p>
          <a:p>
            <a:pPr marL="0" indent="0" defTabSz="484886">
              <a:lnSpc>
                <a:spcPct val="90000"/>
              </a:lnSpc>
              <a:spcBef>
                <a:spcPts val="3400"/>
              </a:spcBef>
              <a:buSzTx/>
              <a:buNone/>
              <a:defRPr sz="2656"/>
            </a:pPr>
            <a:r>
              <a:t>	a) f(x)=x</a:t>
            </a:r>
            <a:r>
              <a:rPr baseline="29590"/>
              <a:t>2</a:t>
            </a:r>
            <a:r>
              <a:t>, x</a:t>
            </a:r>
            <a:r>
              <a:rPr baseline="-28891"/>
              <a:t>0</a:t>
            </a:r>
            <a:r>
              <a:t>=4.</a:t>
            </a:r>
          </a:p>
          <a:p>
            <a:pPr marL="0" indent="0" defTabSz="484886">
              <a:lnSpc>
                <a:spcPct val="90000"/>
              </a:lnSpc>
              <a:spcBef>
                <a:spcPts val="3400"/>
              </a:spcBef>
              <a:buSzTx/>
              <a:buNone/>
              <a:defRPr sz="2656"/>
            </a:pPr>
            <a:r>
              <a:t>	b) f(x)= 2x+3, x</a:t>
            </a:r>
            <a:r>
              <a:rPr baseline="-28891"/>
              <a:t>0</a:t>
            </a:r>
            <a:r>
              <a:t>=3.</a:t>
            </a:r>
          </a:p>
          <a:p>
            <a:pPr marL="0" indent="0" defTabSz="484886">
              <a:lnSpc>
                <a:spcPct val="90000"/>
              </a:lnSpc>
              <a:spcBef>
                <a:spcPts val="3400"/>
              </a:spcBef>
              <a:buSzTx/>
              <a:buNone/>
              <a:defRPr sz="2656"/>
            </a:pPr>
            <a:r>
              <a:t>	c) f(x)=-3x, x</a:t>
            </a:r>
            <a:r>
              <a:rPr baseline="-28891"/>
              <a:t>0</a:t>
            </a:r>
            <a:r>
              <a:t>=1.</a:t>
            </a:r>
          </a:p>
          <a:p>
            <a:pPr marL="0" indent="0" defTabSz="484886">
              <a:lnSpc>
                <a:spcPct val="90000"/>
              </a:lnSpc>
              <a:spcBef>
                <a:spcPts val="3400"/>
              </a:spcBef>
              <a:buSzTx/>
              <a:buNone/>
              <a:defRPr sz="2656"/>
            </a:pPr>
            <a:r>
              <a:t>	d) f(x)= x</a:t>
            </a:r>
            <a:r>
              <a:rPr baseline="29590"/>
              <a:t>2</a:t>
            </a:r>
            <a:r>
              <a:t>-3x, x</a:t>
            </a:r>
            <a:r>
              <a:rPr baseline="-28891"/>
              <a:t>0</a:t>
            </a:r>
            <a:r>
              <a:t>=2.</a:t>
            </a:r>
          </a:p>
          <a:p>
            <a:pPr marL="0" indent="0" defTabSz="484886">
              <a:lnSpc>
                <a:spcPct val="90000"/>
              </a:lnSpc>
              <a:spcBef>
                <a:spcPts val="3400"/>
              </a:spcBef>
              <a:buSzTx/>
              <a:buNone/>
              <a:defRPr sz="2656"/>
            </a:pPr>
            <a:r>
              <a:t>	e) f(x)= 1/x, x</a:t>
            </a:r>
            <a:r>
              <a:rPr baseline="-28891"/>
              <a:t>0</a:t>
            </a:r>
            <a:r>
              <a:t>=2.</a:t>
            </a:r>
          </a:p>
          <a:p>
            <a:pPr marL="0" indent="0" defTabSz="484886">
              <a:lnSpc>
                <a:spcPct val="90000"/>
              </a:lnSpc>
              <a:spcBef>
                <a:spcPts val="3400"/>
              </a:spcBef>
              <a:buSzTx/>
              <a:buNone/>
              <a:defRPr sz="2656"/>
            </a:pPr>
            <a:r>
              <a:t>	f)  f(x)= x</a:t>
            </a:r>
            <a:r>
              <a:rPr baseline="29590"/>
              <a:t>2</a:t>
            </a:r>
            <a:r>
              <a:t> – 3x + 4, x</a:t>
            </a:r>
            <a:r>
              <a:rPr baseline="-28891"/>
              <a:t>0</a:t>
            </a:r>
            <a:r>
              <a:t>=6.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Imagem" descr="Imagem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2929" t="0" r="2929" b="0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438" name="A DERIVADA COMO UMA FUNÇÃO"/>
          <p:cNvSpPr txBox="1"/>
          <p:nvPr/>
        </p:nvSpPr>
        <p:spPr>
          <a:xfrm>
            <a:off x="1138555" y="4447859"/>
            <a:ext cx="10727691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/>
            <a:r>
              <a:t>A DERIVADA COMO UMA FUNÇÃO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Até aqui consideramos a derivada de uma função f em um número fixo a:…"/>
          <p:cNvSpPr txBox="1"/>
          <p:nvPr/>
        </p:nvSpPr>
        <p:spPr>
          <a:xfrm>
            <a:off x="647982" y="2079413"/>
            <a:ext cx="11699805" cy="6193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1300480">
              <a:defRPr b="0" sz="3200"/>
            </a:pPr>
            <a:r>
              <a:t>Até aqui consideramos a derivada de uma função </a:t>
            </a:r>
            <a:r>
              <a:rPr i="1"/>
              <a:t>f </a:t>
            </a:r>
            <a:r>
              <a:t>em um número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fixo</a:t>
            </a:r>
            <a:r>
              <a:t> </a:t>
            </a:r>
            <a:r>
              <a:rPr i="1"/>
              <a:t>a</a:t>
            </a:r>
            <a:r>
              <a:t>:</a:t>
            </a:r>
          </a:p>
          <a:p>
            <a:pPr defTabSz="1300480">
              <a:defRPr b="0" sz="3200"/>
            </a:pPr>
            <a:br/>
            <a14:m>
              <m:oMath>
                <m:sSup>
                  <m:e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</m:oMath>
            </a14:m>
            <a:r>
              <a:t> </a:t>
            </a:r>
            <a:br/>
            <a:br/>
          </a:p>
          <a:p>
            <a:pPr algn="l" defTabSz="1300480">
              <a:defRPr b="0" sz="3200"/>
            </a:pPr>
            <a:r>
              <a:t>Aqui mudamos nosso ponto de vista e deixamos o número </a:t>
            </a:r>
            <a:r>
              <a:rPr i="1"/>
              <a:t>a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variar</a:t>
            </a:r>
            <a:r>
              <a:t>. Se substituirmos </a:t>
            </a:r>
            <a:r>
              <a:rPr i="1"/>
              <a:t>a </a:t>
            </a:r>
            <a:r>
              <a:t>por uma variável </a:t>
            </a:r>
            <a:r>
              <a:rPr i="1"/>
              <a:t>x</a:t>
            </a:r>
            <a:r>
              <a:t>, obtemos</a:t>
            </a:r>
          </a:p>
          <a:p>
            <a:pPr defTabSz="1300480">
              <a:defRPr b="0" sz="3200"/>
            </a:pPr>
            <a:br/>
            <a14:m>
              <m:oMath>
                <m:sSup>
                  <m:e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3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3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</m:oMath>
            </a14:m>
            <a:r>
              <a:t> </a:t>
            </a:r>
          </a:p>
        </p:txBody>
      </p:sp>
      <p:sp>
        <p:nvSpPr>
          <p:cNvPr id="441" name="A Derivada como uma Fun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1622">
              <a:defRPr sz="7280"/>
            </a:lvl1pPr>
          </a:lstStyle>
          <a:p>
            <a:pPr/>
            <a:r>
              <a:t>A Derivada como uma Função</a:t>
            </a:r>
          </a:p>
        </p:txBody>
      </p:sp>
      <p:sp>
        <p:nvSpPr>
          <p:cNvPr id="442" name="Qualquer x!"/>
          <p:cNvSpPr txBox="1"/>
          <p:nvPr/>
        </p:nvSpPr>
        <p:spPr>
          <a:xfrm>
            <a:off x="5439238" y="8486824"/>
            <a:ext cx="2126324" cy="535418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900">
                <a:solidFill>
                  <a:srgbClr val="FFFFFF"/>
                </a:solidFill>
              </a:defRPr>
            </a:lvl1pPr>
          </a:lstStyle>
          <a:p>
            <a:pPr/>
            <a:r>
              <a:t>Qualquer x!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4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1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440" grpId="1"/>
      <p:bldP build="whole" bldLvl="1" animBg="1" rev="0" advAuto="0" spid="442" grpId="2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A Derivada como uma Funçã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1622">
              <a:defRPr sz="7280"/>
            </a:lvl1pPr>
          </a:lstStyle>
          <a:p>
            <a:pPr/>
            <a:r>
              <a:t>A Derivada como uma Função</a:t>
            </a:r>
          </a:p>
        </p:txBody>
      </p:sp>
      <p:sp>
        <p:nvSpPr>
          <p:cNvPr id="445" name="Dado qualquer número x para o qual esse limite exista, atribuímos a x o número  f ′(x)…"/>
          <p:cNvSpPr txBox="1"/>
          <p:nvPr>
            <p:ph type="body" idx="1"/>
          </p:nvPr>
        </p:nvSpPr>
        <p:spPr>
          <a:xfrm>
            <a:off x="952500" y="3915700"/>
            <a:ext cx="11099800" cy="4961600"/>
          </a:xfrm>
          <a:prstGeom prst="rect">
            <a:avLst/>
          </a:prstGeom>
        </p:spPr>
        <p:txBody>
          <a:bodyPr/>
          <a:lstStyle/>
          <a:p>
            <a:pPr marL="316428" indent="-316428" defTabSz="871321">
              <a:lnSpc>
                <a:spcPct val="110000"/>
              </a:lnSpc>
              <a:spcBef>
                <a:spcPts val="0"/>
              </a:spcBef>
              <a:defRPr sz="2278"/>
            </a:pPr>
            <a:r>
              <a:t>Dado qualquer número </a:t>
            </a:r>
            <a:r>
              <a:rPr i="1"/>
              <a:t>x </a:t>
            </a:r>
            <a:r>
              <a:t>para o qual esse limite exista, atribuímos a </a:t>
            </a:r>
            <a:r>
              <a:rPr i="1"/>
              <a:t>x </a:t>
            </a:r>
            <a:r>
              <a:t>o número </a:t>
            </a:r>
            <a:br/>
            <a:r>
              <a:rPr i="1"/>
              <a:t>f</a:t>
            </a:r>
            <a:r>
              <a:rPr sz="938"/>
              <a:t> </a:t>
            </a:r>
            <a:r>
              <a:t>′(</a:t>
            </a:r>
            <a:r>
              <a:rPr i="1"/>
              <a:t>x</a:t>
            </a:r>
            <a:r>
              <a:t>)</a:t>
            </a:r>
          </a:p>
          <a:p>
            <a:pPr marL="316428" indent="-316428" defTabSz="871321">
              <a:lnSpc>
                <a:spcPct val="110000"/>
              </a:lnSpc>
              <a:spcBef>
                <a:spcPts val="0"/>
              </a:spcBef>
              <a:defRPr sz="2278"/>
            </a:pPr>
          </a:p>
          <a:p>
            <a:pPr marL="316428" indent="-316428" defTabSz="871321">
              <a:lnSpc>
                <a:spcPct val="110000"/>
              </a:lnSpc>
              <a:spcBef>
                <a:spcPts val="0"/>
              </a:spcBef>
              <a:defRPr sz="2278"/>
            </a:pPr>
            <a:r>
              <a:t>Podemos considerar </a:t>
            </a:r>
            <a:r>
              <a:rPr i="1"/>
              <a:t>f</a:t>
            </a:r>
            <a:r>
              <a:rPr sz="938"/>
              <a:t> </a:t>
            </a:r>
            <a:r>
              <a:t>′ como a nova função, chamada </a:t>
            </a:r>
            <a:r>
              <a:rPr b="1"/>
              <a:t>derivada de </a:t>
            </a:r>
            <a:r>
              <a:rPr b="1" i="1"/>
              <a:t>f</a:t>
            </a:r>
            <a:r>
              <a:rPr b="1" sz="938"/>
              <a:t> </a:t>
            </a:r>
            <a:r>
              <a:rPr b="1"/>
              <a:t> </a:t>
            </a:r>
          </a:p>
          <a:p>
            <a:pPr marL="316428" indent="-316428" defTabSz="871321">
              <a:lnSpc>
                <a:spcPct val="110000"/>
              </a:lnSpc>
              <a:spcBef>
                <a:spcPts val="0"/>
              </a:spcBef>
              <a:defRPr sz="2278"/>
            </a:pPr>
          </a:p>
          <a:p>
            <a:pPr marL="316428" indent="-316428" defTabSz="871321">
              <a:lnSpc>
                <a:spcPct val="110000"/>
              </a:lnSpc>
              <a:spcBef>
                <a:spcPts val="0"/>
              </a:spcBef>
              <a:defRPr sz="2278"/>
            </a:pPr>
            <a:r>
              <a:t>Sabemos que o valor de </a:t>
            </a:r>
            <a:r>
              <a:rPr i="1"/>
              <a:t>f</a:t>
            </a:r>
            <a:r>
              <a:rPr sz="938"/>
              <a:t> </a:t>
            </a:r>
            <a:r>
              <a:t>′ em </a:t>
            </a:r>
            <a:r>
              <a:rPr i="1"/>
              <a:t>x</a:t>
            </a:r>
            <a:r>
              <a:t>, </a:t>
            </a:r>
            <a:r>
              <a:rPr i="1"/>
              <a:t>f</a:t>
            </a:r>
            <a:r>
              <a:rPr sz="938"/>
              <a:t> </a:t>
            </a:r>
            <a:r>
              <a:t>′(</a:t>
            </a:r>
            <a:r>
              <a:rPr i="1"/>
              <a:t>x</a:t>
            </a:r>
            <a:r>
              <a:t>), podem ser interpretado geometricamente como a inclinação da reta tangente ao gráfico de </a:t>
            </a:r>
            <a:r>
              <a:rPr i="1"/>
              <a:t>f</a:t>
            </a:r>
            <a:r>
              <a:t> no ponto (</a:t>
            </a:r>
            <a:r>
              <a:rPr i="1"/>
              <a:t>x</a:t>
            </a:r>
            <a:r>
              <a:t>, </a:t>
            </a:r>
            <a:r>
              <a:rPr i="1"/>
              <a:t>f</a:t>
            </a:r>
            <a:r>
              <a:rPr sz="938"/>
              <a:t> </a:t>
            </a:r>
            <a:r>
              <a:t>(</a:t>
            </a:r>
            <a:r>
              <a:rPr i="1"/>
              <a:t>x</a:t>
            </a:r>
            <a:r>
              <a:t>))</a:t>
            </a:r>
          </a:p>
          <a:p>
            <a:pPr marL="316428" indent="-316428" defTabSz="871321">
              <a:lnSpc>
                <a:spcPct val="110000"/>
              </a:lnSpc>
              <a:spcBef>
                <a:spcPts val="0"/>
              </a:spcBef>
              <a:defRPr sz="2278"/>
            </a:pPr>
          </a:p>
          <a:p>
            <a:pPr marL="316428" indent="-316428" defTabSz="871321">
              <a:lnSpc>
                <a:spcPct val="110000"/>
              </a:lnSpc>
              <a:spcBef>
                <a:spcPts val="0"/>
              </a:spcBef>
              <a:defRPr sz="2278"/>
            </a:pPr>
            <a:r>
              <a:t>A função </a:t>
            </a:r>
            <a:r>
              <a:rPr i="1"/>
              <a:t>f</a:t>
            </a:r>
            <a:r>
              <a:rPr sz="938"/>
              <a:t> </a:t>
            </a:r>
            <a:r>
              <a:t>′ é denominada derivada de </a:t>
            </a:r>
            <a:r>
              <a:rPr i="1"/>
              <a:t>f,</a:t>
            </a:r>
            <a:r>
              <a:t> pois foi “derivada“ a partir de </a:t>
            </a:r>
            <a:r>
              <a:rPr i="1"/>
              <a:t>f</a:t>
            </a:r>
            <a:r>
              <a:t> pela operação-limite</a:t>
            </a:r>
          </a:p>
          <a:p>
            <a:pPr marL="316428" indent="-316428" defTabSz="871321">
              <a:lnSpc>
                <a:spcPct val="110000"/>
              </a:lnSpc>
              <a:spcBef>
                <a:spcPts val="0"/>
              </a:spcBef>
              <a:defRPr sz="2278"/>
            </a:pPr>
          </a:p>
          <a:p>
            <a:pPr marL="316428" indent="-316428" defTabSz="871321">
              <a:lnSpc>
                <a:spcPct val="110000"/>
              </a:lnSpc>
              <a:spcBef>
                <a:spcPts val="0"/>
              </a:spcBef>
              <a:defRPr sz="2278"/>
            </a:pPr>
            <a:r>
              <a:t>O domínio de </a:t>
            </a:r>
            <a:r>
              <a:rPr i="1"/>
              <a:t>f</a:t>
            </a:r>
            <a:r>
              <a:rPr sz="938"/>
              <a:t> </a:t>
            </a:r>
            <a:r>
              <a:t>′ é o conjunto {</a:t>
            </a:r>
            <a:r>
              <a:rPr i="1"/>
              <a:t>x</a:t>
            </a:r>
            <a:r>
              <a:rPr sz="1072"/>
              <a:t> </a:t>
            </a:r>
            <a:r>
              <a:t>|</a:t>
            </a:r>
            <a:r>
              <a:rPr sz="1072"/>
              <a:t> </a:t>
            </a:r>
            <a:r>
              <a:rPr i="1"/>
              <a:t>f</a:t>
            </a:r>
            <a:r>
              <a:rPr sz="938"/>
              <a:t> </a:t>
            </a:r>
            <a:r>
              <a:t>′(</a:t>
            </a:r>
            <a:r>
              <a:rPr i="1"/>
              <a:t>x</a:t>
            </a:r>
            <a:r>
              <a:t>) existe} e pode ser</a:t>
            </a:r>
            <a:r>
              <a:rPr b="1"/>
              <a:t> menor que o domínio </a:t>
            </a:r>
            <a:r>
              <a:t>de </a:t>
            </a:r>
            <a:r>
              <a:rPr i="1"/>
              <a:t>f</a:t>
            </a:r>
            <a:r>
              <a:rPr sz="938"/>
              <a:t> </a:t>
            </a:r>
          </a:p>
        </p:txBody>
      </p:sp>
      <p:sp>
        <p:nvSpPr>
          <p:cNvPr id="446" name="Equação"/>
          <p:cNvSpPr txBox="1"/>
          <p:nvPr/>
        </p:nvSpPr>
        <p:spPr>
          <a:xfrm>
            <a:off x="4135761" y="2528976"/>
            <a:ext cx="4733278" cy="87294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l" defTabSz="914400" latinLnBrk="1">
              <a:defRPr b="0" sz="1800"/>
            </a:pPr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e>
                    <m:sup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sup>
                  </m:sSup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3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sSub>
                    <m:e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f>
                    <m:fPr>
                      <m:ctrlP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den>
                  </m:f>
                </m:oMath>
              </m:oMathPara>
            </a14:m>
            <a:endParaRPr sz="32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Exercício 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6</a:t>
            </a:r>
          </a:p>
        </p:txBody>
      </p:sp>
      <p:sp>
        <p:nvSpPr>
          <p:cNvPr id="449" name="O gráfico de uma função f  é ilustrado na figura; use-o para esboçar o gráfico da derivada f ′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472281" indent="-472281" defTabSz="1300480">
              <a:lnSpc>
                <a:spcPct val="125000"/>
              </a:lnSpc>
              <a:spcBef>
                <a:spcPts val="0"/>
              </a:spcBef>
              <a:defRPr sz="3400"/>
            </a:pPr>
            <a:r>
              <a:t>O gráfico de uma função </a:t>
            </a:r>
            <a:r>
              <a:rPr i="1"/>
              <a:t>f</a:t>
            </a:r>
            <a:r>
              <a:rPr sz="1400"/>
              <a:t> </a:t>
            </a:r>
            <a:r>
              <a:t> é ilustrado na figura; use-o para esboçar o gráfico da derivada </a:t>
            </a:r>
            <a:r>
              <a:rPr i="1"/>
              <a:t>f</a:t>
            </a:r>
            <a:r>
              <a:rPr sz="1400"/>
              <a:t> </a:t>
            </a:r>
            <a:r>
              <a:t>′</a:t>
            </a:r>
          </a:p>
        </p:txBody>
      </p:sp>
      <p:pic>
        <p:nvPicPr>
          <p:cNvPr id="450" name="Picture2" descr="Picture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87413" y="4285262"/>
            <a:ext cx="7829974" cy="45245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Exercício 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6</a:t>
            </a:r>
          </a:p>
        </p:txBody>
      </p:sp>
      <p:sp>
        <p:nvSpPr>
          <p:cNvPr id="453" name="Podemos estimar o valor da derivada para qualquer valor de x traçando a tangente no ponto (x, f (x)) e estimando sua inclinação…"/>
          <p:cNvSpPr txBox="1"/>
          <p:nvPr/>
        </p:nvSpPr>
        <p:spPr>
          <a:xfrm>
            <a:off x="647982" y="2079413"/>
            <a:ext cx="11699805" cy="2550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marL="472281" indent="-472281" algn="l" defTabSz="1300480">
              <a:lnSpc>
                <a:spcPct val="125000"/>
              </a:lnSpc>
              <a:buSzPct val="145000"/>
              <a:buChar char="•"/>
              <a:defRPr b="0" sz="3400"/>
            </a:pPr>
            <a:r>
              <a:t>Podemos estimar o valor da derivada para qualquer valor de </a:t>
            </a:r>
            <a:r>
              <a:rPr i="1"/>
              <a:t>x</a:t>
            </a:r>
            <a:r>
              <a:t> traçando a tangente no ponto (</a:t>
            </a:r>
            <a:r>
              <a:rPr i="1"/>
              <a:t>x</a:t>
            </a:r>
            <a:r>
              <a:t>, </a:t>
            </a:r>
            <a:r>
              <a:rPr i="1"/>
              <a:t>f</a:t>
            </a:r>
            <a:r>
              <a:rPr i="1" sz="500"/>
              <a:t> </a:t>
            </a:r>
            <a:r>
              <a:t>(</a:t>
            </a:r>
            <a:r>
              <a:rPr i="1"/>
              <a:t>x</a:t>
            </a:r>
            <a:r>
              <a:t>)) e estimando sua inclinação</a:t>
            </a:r>
          </a:p>
          <a:p>
            <a:pPr lvl="2" marL="1361281" indent="-472281" algn="l" defTabSz="1300480">
              <a:lnSpc>
                <a:spcPct val="125000"/>
              </a:lnSpc>
              <a:buSzPct val="145000"/>
              <a:buChar char="•"/>
              <a:defRPr b="0" sz="3400"/>
            </a:pPr>
            <a:r>
              <a:rPr i="1"/>
              <a:t>x</a:t>
            </a:r>
            <a:r>
              <a:t>=5 traçamos a tangente em </a:t>
            </a:r>
            <a:r>
              <a:rPr i="1"/>
              <a:t>P </a:t>
            </a:r>
            <a:r>
              <a:t>(3/2), então </a:t>
            </a:r>
            <a:r>
              <a:rPr i="1"/>
              <a:t>f</a:t>
            </a:r>
            <a:r>
              <a:rPr sz="1400"/>
              <a:t> </a:t>
            </a:r>
            <a:r>
              <a:t>′(5)≈1,5</a:t>
            </a:r>
          </a:p>
        </p:txBody>
      </p:sp>
      <p:pic>
        <p:nvPicPr>
          <p:cNvPr id="454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23822" y="5711044"/>
            <a:ext cx="7157156" cy="37727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39839" y="5633367"/>
            <a:ext cx="6534010" cy="4143023"/>
          </a:xfrm>
          <a:prstGeom prst="rect">
            <a:avLst/>
          </a:prstGeom>
          <a:ln w="12700">
            <a:miter lim="400000"/>
          </a:ln>
        </p:spPr>
      </p:pic>
      <p:sp>
        <p:nvSpPr>
          <p:cNvPr id="457" name="Exercício 6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6</a:t>
            </a:r>
          </a:p>
        </p:txBody>
      </p:sp>
      <p:sp>
        <p:nvSpPr>
          <p:cNvPr id="458" name="Repetindo esse procedimento em vários pontos obtém-se o esboço da derivada"/>
          <p:cNvSpPr txBox="1"/>
          <p:nvPr>
            <p:ph type="body" sz="half" idx="1"/>
          </p:nvPr>
        </p:nvSpPr>
        <p:spPr>
          <a:xfrm>
            <a:off x="952500" y="2590800"/>
            <a:ext cx="5034228" cy="6286500"/>
          </a:xfrm>
          <a:prstGeom prst="rect">
            <a:avLst/>
          </a:prstGeom>
        </p:spPr>
        <p:txBody>
          <a:bodyPr anchor="t"/>
          <a:lstStyle>
            <a:lvl1pPr marL="416378" indent="-416378" defTabSz="1300480">
              <a:lnSpc>
                <a:spcPct val="120000"/>
              </a:lnSpc>
              <a:spcBef>
                <a:spcPts val="0"/>
              </a:spcBef>
              <a:defRPr sz="3000"/>
            </a:lvl1pPr>
          </a:lstStyle>
          <a:p>
            <a:pPr/>
            <a:r>
              <a:t>Repetindo esse procedimento em vários pontos obtém-se o esboço da derivada</a:t>
            </a:r>
          </a:p>
        </p:txBody>
      </p:sp>
      <p:pic>
        <p:nvPicPr>
          <p:cNvPr id="459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17166" y="1691710"/>
            <a:ext cx="7157156" cy="37727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56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Not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Notações</a:t>
            </a:r>
          </a:p>
        </p:txBody>
      </p:sp>
      <p:sp>
        <p:nvSpPr>
          <p:cNvPr id="462" name="Se usarmos a notação tradicional y = f (x) para indicar que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74769" indent="-374769" defTabSz="414781">
              <a:lnSpc>
                <a:spcPct val="130000"/>
              </a:lnSpc>
              <a:spcBef>
                <a:spcPts val="600"/>
              </a:spcBef>
              <a:defRPr sz="2698"/>
            </a:pPr>
            <a:r>
              <a:t>Se usarmos a </a:t>
            </a:r>
            <a:r>
              <a:rPr b="1"/>
              <a:t>notação</a:t>
            </a:r>
            <a:r>
              <a:t> tradicional y = f (x) para indicar que:</a:t>
            </a:r>
          </a:p>
          <a:p>
            <a:pPr lvl="1" marL="690364" indent="-374769" defTabSz="414781">
              <a:lnSpc>
                <a:spcPct val="130000"/>
              </a:lnSpc>
              <a:spcBef>
                <a:spcPts val="600"/>
              </a:spcBef>
              <a:defRPr sz="2698"/>
            </a:pPr>
            <a:r>
              <a:t>a variável independente é x</a:t>
            </a:r>
          </a:p>
          <a:p>
            <a:pPr lvl="1" marL="690364" indent="-374769" defTabSz="414781">
              <a:lnSpc>
                <a:spcPct val="130000"/>
              </a:lnSpc>
              <a:spcBef>
                <a:spcPts val="600"/>
              </a:spcBef>
              <a:defRPr sz="2698"/>
            </a:pPr>
            <a:r>
              <a:t>a variável dependente é y </a:t>
            </a:r>
          </a:p>
          <a:p>
            <a:pPr marL="0" indent="0" defTabSz="414781">
              <a:lnSpc>
                <a:spcPct val="130000"/>
              </a:lnSpc>
              <a:spcBef>
                <a:spcPts val="600"/>
              </a:spcBef>
              <a:buSzTx/>
              <a:buNone/>
              <a:defRPr sz="2698"/>
            </a:pPr>
            <a:r>
              <a:t>então algumas notações alternativas para a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derivada</a:t>
            </a:r>
            <a:r>
              <a:t> são as seguintes:    </a:t>
            </a:r>
          </a:p>
          <a:p>
            <a:pPr marL="374769" indent="-374769" defTabSz="414781">
              <a:lnSpc>
                <a:spcPct val="130000"/>
              </a:lnSpc>
              <a:spcBef>
                <a:spcPts val="600"/>
              </a:spcBef>
              <a:defRPr sz="2698"/>
            </a:pPr>
          </a:p>
          <a:p>
            <a:pPr marL="374769" indent="-374769" defTabSz="414781">
              <a:lnSpc>
                <a:spcPct val="130000"/>
              </a:lnSpc>
              <a:spcBef>
                <a:spcPts val="600"/>
              </a:spcBef>
              <a:defRPr sz="2698"/>
            </a:pPr>
          </a:p>
          <a:p>
            <a:pPr marL="374769" indent="-374769" defTabSz="414781">
              <a:lnSpc>
                <a:spcPct val="130000"/>
              </a:lnSpc>
              <a:spcBef>
                <a:spcPts val="600"/>
              </a:spcBef>
              <a:defRPr sz="2698"/>
            </a:pPr>
          </a:p>
          <a:p>
            <a:pPr marL="374769" indent="-374769" defTabSz="414781">
              <a:lnSpc>
                <a:spcPct val="130000"/>
              </a:lnSpc>
              <a:spcBef>
                <a:spcPts val="600"/>
              </a:spcBef>
              <a:defRPr sz="2698"/>
            </a:pPr>
          </a:p>
          <a:p>
            <a:pPr marL="374769" indent="-374769" defTabSz="414781">
              <a:lnSpc>
                <a:spcPct val="130000"/>
              </a:lnSpc>
              <a:spcBef>
                <a:spcPts val="600"/>
              </a:spcBef>
              <a:defRPr sz="2698"/>
            </a:pPr>
            <a:r>
              <a:t>Os símbolos D e d/dx são chamados operadores diferenciais, pois indicam a operação de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diferenciação</a:t>
            </a:r>
          </a:p>
        </p:txBody>
      </p:sp>
      <p:pic>
        <p:nvPicPr>
          <p:cNvPr id="463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8204" y="5601532"/>
            <a:ext cx="10128392" cy="11040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Not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Notações</a:t>
            </a:r>
          </a:p>
        </p:txBody>
      </p:sp>
      <p:sp>
        <p:nvSpPr>
          <p:cNvPr id="466" name="O símbolo dy/dx, introduzido por Leibniz, não deve ser encarado como um quociente (por ora); trata-se simplesmente de um sinônimo para f′(x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22275" indent="-422275" defTabSz="467359">
              <a:lnSpc>
                <a:spcPct val="130000"/>
              </a:lnSpc>
              <a:spcBef>
                <a:spcPts val="700"/>
              </a:spcBef>
              <a:defRPr sz="3040"/>
            </a:pPr>
            <a:r>
              <a:t>O símbolo dy/dx, introduzido por Leibniz, não deve ser encarado como um quociente (por ora); trata-se simplesmente de um sinônimo para f′(x)</a:t>
            </a:r>
          </a:p>
          <a:p>
            <a:pPr marL="422275" indent="-422275" defTabSz="467359">
              <a:lnSpc>
                <a:spcPct val="130000"/>
              </a:lnSpc>
              <a:spcBef>
                <a:spcPts val="700"/>
              </a:spcBef>
              <a:defRPr sz="3040"/>
            </a:pPr>
          </a:p>
          <a:p>
            <a:pPr marL="422275" indent="-422275" defTabSz="467359">
              <a:lnSpc>
                <a:spcPct val="130000"/>
              </a:lnSpc>
              <a:spcBef>
                <a:spcPts val="700"/>
              </a:spcBef>
              <a:defRPr sz="3040"/>
            </a:pPr>
            <a:r>
              <a:t>Essa notação é muito útil e proveitosa, especialmente quando usada em conjunto com a notação de incremento</a:t>
            </a:r>
          </a:p>
          <a:p>
            <a:pPr marL="422275" indent="-422275" defTabSz="467359">
              <a:lnSpc>
                <a:spcPct val="130000"/>
              </a:lnSpc>
              <a:spcBef>
                <a:spcPts val="700"/>
              </a:spcBef>
              <a:defRPr sz="3040"/>
            </a:pPr>
          </a:p>
          <a:p>
            <a:pPr lvl="1" marL="777875" indent="-422275" defTabSz="467359">
              <a:lnSpc>
                <a:spcPct val="130000"/>
              </a:lnSpc>
              <a:spcBef>
                <a:spcPts val="700"/>
              </a:spcBef>
              <a:defRPr sz="3040"/>
            </a:pPr>
            <a:r>
              <a:t>Podemos reescrever a definição de derivada como</a:t>
            </a:r>
            <a:br/>
            <a:br/>
          </a:p>
        </p:txBody>
      </p:sp>
      <p:pic>
        <p:nvPicPr>
          <p:cNvPr id="467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96462" y="7940719"/>
            <a:ext cx="3011876" cy="12711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Notaç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Notações</a:t>
            </a:r>
          </a:p>
        </p:txBody>
      </p:sp>
      <p:sp>
        <p:nvSpPr>
          <p:cNvPr id="470" name="Para indicar o valor de uma derivada dy/dx na notação de Leibniz em um número específico a, usamos a notaçã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527843" indent="-527843">
              <a:lnSpc>
                <a:spcPct val="130000"/>
              </a:lnSpc>
              <a:spcBef>
                <a:spcPts val="900"/>
              </a:spcBef>
              <a:defRPr sz="3500"/>
            </a:pPr>
            <a:r>
              <a:t>Para indicar o valor de uma derivada dy/dx na notação de Leibniz em um número específico a, usamos a notação    </a:t>
            </a:r>
          </a:p>
          <a:p>
            <a:pPr marL="527843" indent="-527843">
              <a:lnSpc>
                <a:spcPct val="130000"/>
              </a:lnSpc>
              <a:spcBef>
                <a:spcPts val="900"/>
              </a:spcBef>
              <a:defRPr sz="3500"/>
            </a:pPr>
          </a:p>
          <a:p>
            <a:pPr marL="527843" indent="-527843">
              <a:lnSpc>
                <a:spcPct val="130000"/>
              </a:lnSpc>
              <a:spcBef>
                <a:spcPts val="900"/>
              </a:spcBef>
              <a:defRPr sz="3500"/>
            </a:pPr>
          </a:p>
          <a:p>
            <a:pPr marL="0" indent="0">
              <a:lnSpc>
                <a:spcPct val="130000"/>
              </a:lnSpc>
              <a:spcBef>
                <a:spcPts val="900"/>
              </a:spcBef>
              <a:buSzTx/>
              <a:buNone/>
              <a:defRPr sz="3500"/>
            </a:pPr>
            <a:r>
              <a:t>que é um sinônimo para f′(a)</a:t>
            </a:r>
          </a:p>
        </p:txBody>
      </p:sp>
      <p:pic>
        <p:nvPicPr>
          <p:cNvPr id="471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23359" y="4630324"/>
            <a:ext cx="4958082" cy="1578188"/>
          </a:xfrm>
          <a:prstGeom prst="rect">
            <a:avLst/>
          </a:prstGeom>
          <a:ln w="12700">
            <a:miter lim="400000"/>
          </a:ln>
        </p:spPr>
      </p:pic>
      <p:sp>
        <p:nvSpPr>
          <p:cNvPr id="472" name="Definição: Uma função f é derivável ou diferenciável em a, se f’(a) exisitir. É derivável ou diferencial em um intervalo aberto (a, b) [ou (a, ∞) ou (-∞, a)] se for diferenciável em cada número do intervalo"/>
          <p:cNvSpPr txBox="1"/>
          <p:nvPr/>
        </p:nvSpPr>
        <p:spPr>
          <a:xfrm>
            <a:off x="952500" y="7746692"/>
            <a:ext cx="11099800" cy="1122196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0" sz="2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Definição: </a:t>
            </a:r>
            <a:r>
              <a:t>Uma função f é derivável ou diferenciável em a, se f’(a) exisitir. É derivável ou diferencial em um intervalo aberto (a, b) [ou (a, ∞) ou (-∞, a)] se for diferenciável em cada número do intervalo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Exemp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Exemplo</a:t>
            </a:r>
          </a:p>
        </p:txBody>
      </p:sp>
      <p:sp>
        <p:nvSpPr>
          <p:cNvPr id="475" name="Considerando a função…"/>
          <p:cNvSpPr txBox="1"/>
          <p:nvPr>
            <p:ph type="body" sz="quarter" idx="1"/>
          </p:nvPr>
        </p:nvSpPr>
        <p:spPr>
          <a:xfrm>
            <a:off x="952500" y="2590800"/>
            <a:ext cx="11099800" cy="2065418"/>
          </a:xfrm>
          <a:prstGeom prst="rect">
            <a:avLst/>
          </a:prstGeom>
        </p:spPr>
        <p:txBody>
          <a:bodyPr anchor="t"/>
          <a:lstStyle/>
          <a:p>
            <a:pPr marL="377825" indent="-377825" defTabSz="1040384">
              <a:lnSpc>
                <a:spcPct val="110000"/>
              </a:lnSpc>
              <a:spcBef>
                <a:spcPts val="0"/>
              </a:spcBef>
              <a:defRPr sz="2720"/>
            </a:pPr>
            <a:r>
              <a:t>Considerando a função </a:t>
            </a:r>
            <a14:m>
              <m:oMath>
                <m:r>
                  <a:rPr xmlns:a="http://schemas.openxmlformats.org/drawingml/2006/main" sz="3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3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3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3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ctrlPr>
                      <a:rPr xmlns:a="http://schemas.openxmlformats.org/drawingml/2006/main"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degHide m:val="on"/>
                  </m:radPr>
                  <m:deg/>
                  <m:e>
                    <m:r>
                      <a:rPr xmlns:a="http://schemas.openxmlformats.org/drawingml/2006/main" sz="3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</m:rad>
              </m:oMath>
            </a14:m>
          </a:p>
          <a:p>
            <a:pPr lvl="1" marL="733425" indent="-377825" defTabSz="1040384">
              <a:lnSpc>
                <a:spcPct val="110000"/>
              </a:lnSpc>
              <a:spcBef>
                <a:spcPts val="0"/>
              </a:spcBef>
              <a:defRPr sz="2720"/>
            </a:pPr>
            <a:r>
              <a:t>Quando </a:t>
            </a:r>
            <a:r>
              <a:rPr i="1"/>
              <a:t>x</a:t>
            </a:r>
            <a:r>
              <a:t> estiver próximo de 0, </a:t>
            </a:r>
            <a14:m>
              <m:oMath>
                <m:rad>
                  <m:radPr>
                    <m:ctrlPr>
                      <a:rPr xmlns:a="http://schemas.openxmlformats.org/drawingml/2006/main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degHide m:val="on"/>
                  </m:radPr>
                  <m:deg/>
                  <m:e>
                    <m:r>
                      <a:rPr xmlns:a="http://schemas.openxmlformats.org/drawingml/2006/main" sz="3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</m:rad>
              </m:oMath>
            </a14:m>
            <a:r>
              <a:t> estará próximo a 0, logo, </a:t>
            </a:r>
            <a:r>
              <a:rPr i="1"/>
              <a:t>f</a:t>
            </a:r>
            <a:r>
              <a:rPr sz="880"/>
              <a:t> </a:t>
            </a:r>
            <a:r>
              <a:t>′(</a:t>
            </a:r>
            <a:r>
              <a:rPr i="1"/>
              <a:t>x</a:t>
            </a:r>
            <a:r>
              <a:t>) é muito grande, e isso corresponde a retas tangentes íngremes</a:t>
            </a:r>
            <a:endParaRPr sz="3400"/>
          </a:p>
        </p:txBody>
      </p:sp>
      <p:grpSp>
        <p:nvGrpSpPr>
          <p:cNvPr id="480" name="Grupo"/>
          <p:cNvGrpSpPr/>
          <p:nvPr/>
        </p:nvGrpSpPr>
        <p:grpSpPr>
          <a:xfrm>
            <a:off x="1788159" y="5140814"/>
            <a:ext cx="9428482" cy="3702756"/>
            <a:chOff x="0" y="0"/>
            <a:chExt cx="9428479" cy="3702755"/>
          </a:xfrm>
        </p:grpSpPr>
        <p:pic>
          <p:nvPicPr>
            <p:cNvPr id="476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135662" y="3007360"/>
              <a:ext cx="1573672" cy="44026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7" name="image.tif" descr="image.ti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802684" y="2919306"/>
              <a:ext cx="1975557" cy="7834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8" name="Picture51" descr="Picture51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4249138" cy="28357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79" name="Picture52" descr="Picture52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5283200" y="18062"/>
              <a:ext cx="4145280" cy="27228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Onde a função f (x) = | x | é diferenciável?…"/>
          <p:cNvSpPr txBox="1"/>
          <p:nvPr>
            <p:ph type="body" idx="1"/>
          </p:nvPr>
        </p:nvSpPr>
        <p:spPr>
          <a:xfrm>
            <a:off x="965200" y="2590800"/>
            <a:ext cx="11099800" cy="6286500"/>
          </a:xfrm>
          <a:prstGeom prst="rect">
            <a:avLst/>
          </a:prstGeom>
        </p:spPr>
        <p:txBody>
          <a:bodyPr/>
          <a:lstStyle/>
          <a:p>
            <a:pPr marL="469780" indent="-469780" defTabSz="519937">
              <a:lnSpc>
                <a:spcPct val="130000"/>
              </a:lnSpc>
              <a:spcBef>
                <a:spcPts val="800"/>
              </a:spcBef>
              <a:defRPr sz="2759"/>
            </a:pPr>
            <a:r>
              <a:t>Onde a função f (x) = | x | é diferenciável?</a:t>
            </a:r>
          </a:p>
          <a:p>
            <a:pPr marL="0" indent="0" defTabSz="519937">
              <a:lnSpc>
                <a:spcPct val="130000"/>
              </a:lnSpc>
              <a:spcBef>
                <a:spcPts val="800"/>
              </a:spcBef>
              <a:buSzTx/>
              <a:buNone/>
              <a:defRPr sz="2759"/>
            </a:pPr>
          </a:p>
          <a:p>
            <a:pPr marL="0" indent="0" defTabSz="519937">
              <a:lnSpc>
                <a:spcPct val="130000"/>
              </a:lnSpc>
              <a:spcBef>
                <a:spcPts val="800"/>
              </a:spcBef>
              <a:buSzTx/>
              <a:buNone/>
              <a:defRPr sz="2759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Solução: </a:t>
            </a:r>
            <a:r>
              <a:t>Se x &gt; 0, então | x |=x podemos escolher h suficientemente pequeno suficiente para que x+h&gt;0 e portanto |x+h|=x+h. Para x &gt; 0, temos</a:t>
            </a:r>
            <a:br/>
            <a:br/>
            <a:br/>
            <a:br/>
            <a:br/>
            <a:br/>
            <a:r>
              <a:t>e, dessa forma, f é diferenciável para qualquer x &gt; 0</a:t>
            </a:r>
          </a:p>
        </p:txBody>
      </p:sp>
      <p:sp>
        <p:nvSpPr>
          <p:cNvPr id="483" name="Exercício 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7</a:t>
            </a:r>
          </a:p>
        </p:txBody>
      </p:sp>
      <p:grpSp>
        <p:nvGrpSpPr>
          <p:cNvPr id="487" name="Grupo"/>
          <p:cNvGrpSpPr/>
          <p:nvPr/>
        </p:nvGrpSpPr>
        <p:grpSpPr>
          <a:xfrm>
            <a:off x="2666435" y="5582475"/>
            <a:ext cx="7671930" cy="2519681"/>
            <a:chOff x="0" y="0"/>
            <a:chExt cx="7671929" cy="2519680"/>
          </a:xfrm>
        </p:grpSpPr>
        <p:pic>
          <p:nvPicPr>
            <p:cNvPr id="484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4590063" cy="12756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5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4928" t="10443" r="0" b="0"/>
            <a:stretch>
              <a:fillRect/>
            </a:stretch>
          </p:blipFill>
          <p:spPr>
            <a:xfrm>
              <a:off x="1036320" y="1377245"/>
              <a:ext cx="3571805" cy="11424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86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4551680" y="180622"/>
              <a:ext cx="3120250" cy="111985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87" grpId="2"/>
      <p:bldP build="p" bldLvl="5" animBg="1" rev="0" advAuto="0" spid="482" grpId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Analogamente, para x &lt; 0 temos | x | = –x e podemos escolher h suficientemente pequeno para que x + h &lt; 0, e assim | x + h | = –(x + h). Portanto, para x &lt; 0,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3655" indent="-353655" defTabSz="391414">
              <a:lnSpc>
                <a:spcPct val="130000"/>
              </a:lnSpc>
              <a:spcBef>
                <a:spcPts val="600"/>
              </a:spcBef>
              <a:defRPr sz="2546"/>
            </a:pPr>
            <a:r>
              <a:t>Analogamente, para x &lt; 0 temos | x | = –x e podemos escolher h suficientemente pequeno para que x + h &lt; 0, e assim | x + h | = –(x + h). Portanto, para x &lt; 0,</a:t>
            </a:r>
          </a:p>
          <a:p>
            <a:pPr marL="0" indent="0" defTabSz="391414">
              <a:lnSpc>
                <a:spcPct val="130000"/>
              </a:lnSpc>
              <a:spcBef>
                <a:spcPts val="600"/>
              </a:spcBef>
              <a:buSzTx/>
              <a:buNone/>
              <a:defRPr sz="2546"/>
            </a:pPr>
          </a:p>
          <a:p>
            <a:pPr marL="0" indent="0" defTabSz="391414">
              <a:lnSpc>
                <a:spcPct val="130000"/>
              </a:lnSpc>
              <a:spcBef>
                <a:spcPts val="600"/>
              </a:spcBef>
              <a:buSzTx/>
              <a:buNone/>
              <a:defRPr sz="2546"/>
            </a:pPr>
          </a:p>
          <a:p>
            <a:pPr marL="0" indent="0" defTabSz="391414">
              <a:lnSpc>
                <a:spcPct val="130000"/>
              </a:lnSpc>
              <a:spcBef>
                <a:spcPts val="600"/>
              </a:spcBef>
              <a:buSzTx/>
              <a:buNone/>
              <a:defRPr sz="2546"/>
            </a:pPr>
          </a:p>
          <a:p>
            <a:pPr marL="0" indent="0" defTabSz="391414">
              <a:lnSpc>
                <a:spcPct val="130000"/>
              </a:lnSpc>
              <a:spcBef>
                <a:spcPts val="600"/>
              </a:spcBef>
              <a:buSzTx/>
              <a:buNone/>
              <a:defRPr sz="2546"/>
            </a:pPr>
          </a:p>
          <a:p>
            <a:pPr marL="0" indent="0" defTabSz="391414">
              <a:lnSpc>
                <a:spcPct val="130000"/>
              </a:lnSpc>
              <a:spcBef>
                <a:spcPts val="600"/>
              </a:spcBef>
              <a:buSzTx/>
              <a:buNone/>
              <a:defRPr sz="2546"/>
            </a:pPr>
          </a:p>
          <a:p>
            <a:pPr marL="0" indent="0" defTabSz="391414">
              <a:lnSpc>
                <a:spcPct val="130000"/>
              </a:lnSpc>
              <a:spcBef>
                <a:spcPts val="600"/>
              </a:spcBef>
              <a:buSzTx/>
              <a:buNone/>
              <a:defRPr sz="2546"/>
            </a:pPr>
          </a:p>
          <a:p>
            <a:pPr marL="0" indent="0" defTabSz="391414">
              <a:lnSpc>
                <a:spcPct val="130000"/>
              </a:lnSpc>
              <a:spcBef>
                <a:spcPts val="600"/>
              </a:spcBef>
              <a:buSzTx/>
              <a:buNone/>
              <a:defRPr sz="2546"/>
            </a:pPr>
          </a:p>
          <a:p>
            <a:pPr marL="0" indent="0" defTabSz="391414">
              <a:lnSpc>
                <a:spcPct val="130000"/>
              </a:lnSpc>
              <a:spcBef>
                <a:spcPts val="600"/>
              </a:spcBef>
              <a:buSzTx/>
              <a:buNone/>
              <a:defRPr sz="2546"/>
            </a:pPr>
            <a:r>
              <a:t>e, dessa forma, f é diferenciável para qualquer x &lt; 0</a:t>
            </a:r>
          </a:p>
        </p:txBody>
      </p:sp>
      <p:sp>
        <p:nvSpPr>
          <p:cNvPr id="490" name="Exercício 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7</a:t>
            </a:r>
          </a:p>
        </p:txBody>
      </p:sp>
      <p:grpSp>
        <p:nvGrpSpPr>
          <p:cNvPr id="494" name="Grupo"/>
          <p:cNvGrpSpPr/>
          <p:nvPr/>
        </p:nvGrpSpPr>
        <p:grpSpPr>
          <a:xfrm>
            <a:off x="3251200" y="4161084"/>
            <a:ext cx="6285654" cy="3779521"/>
            <a:chOff x="0" y="0"/>
            <a:chExt cx="6285653" cy="3779519"/>
          </a:xfrm>
        </p:grpSpPr>
        <p:pic>
          <p:nvPicPr>
            <p:cNvPr id="491" name="image.tif" descr="image.ti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5201921" cy="12756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2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072444" y="2481297"/>
              <a:ext cx="5213210" cy="129822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3" name="image.tif" descr="image.tif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072444" y="1275644"/>
              <a:ext cx="4481690" cy="12056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Exercício 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7</a:t>
            </a:r>
          </a:p>
        </p:txBody>
      </p:sp>
      <p:sp>
        <p:nvSpPr>
          <p:cNvPr id="497" name="Para x = 0 devemos averiguar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527843" indent="-527843">
              <a:lnSpc>
                <a:spcPct val="130000"/>
              </a:lnSpc>
              <a:spcBef>
                <a:spcPts val="900"/>
              </a:spcBef>
              <a:defRPr sz="3800"/>
            </a:pPr>
            <a:r>
              <a:t>Para x = 0 devemos averiguar</a:t>
            </a:r>
          </a:p>
          <a:p>
            <a:pPr marL="527843" indent="-527843">
              <a:lnSpc>
                <a:spcPct val="130000"/>
              </a:lnSpc>
              <a:spcBef>
                <a:spcPts val="900"/>
              </a:spcBef>
              <a:defRPr sz="3800"/>
            </a:pPr>
          </a:p>
          <a:p>
            <a:pPr marL="527843" indent="-527843">
              <a:lnSpc>
                <a:spcPct val="130000"/>
              </a:lnSpc>
              <a:spcBef>
                <a:spcPts val="900"/>
              </a:spcBef>
              <a:defRPr sz="3800"/>
            </a:pPr>
          </a:p>
          <a:p>
            <a:pPr marL="527843" indent="-527843">
              <a:lnSpc>
                <a:spcPct val="130000"/>
              </a:lnSpc>
              <a:spcBef>
                <a:spcPts val="900"/>
              </a:spcBef>
              <a:defRPr sz="3800"/>
            </a:pPr>
          </a:p>
          <a:p>
            <a:pPr marL="527843" indent="-527843">
              <a:lnSpc>
                <a:spcPct val="130000"/>
              </a:lnSpc>
              <a:spcBef>
                <a:spcPts val="900"/>
              </a:spcBef>
              <a:defRPr sz="3800"/>
            </a:pPr>
            <a:r>
              <a:t>Vamos calcular os limites à esquerda e à direita: </a:t>
            </a:r>
          </a:p>
        </p:txBody>
      </p:sp>
      <p:grpSp>
        <p:nvGrpSpPr>
          <p:cNvPr id="500" name="Grupo"/>
          <p:cNvGrpSpPr/>
          <p:nvPr/>
        </p:nvGrpSpPr>
        <p:grpSpPr>
          <a:xfrm>
            <a:off x="3263617" y="3308227"/>
            <a:ext cx="6477566" cy="2124569"/>
            <a:chOff x="0" y="0"/>
            <a:chExt cx="6477564" cy="2124568"/>
          </a:xfrm>
        </p:grpSpPr>
        <p:pic>
          <p:nvPicPr>
            <p:cNvPr id="498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4849707" cy="127338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9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706684" y="1153724"/>
              <a:ext cx="5770881" cy="970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501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78088" y="7185227"/>
            <a:ext cx="10848624" cy="21742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Exercício 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7</a:t>
            </a:r>
          </a:p>
        </p:txBody>
      </p:sp>
      <p:sp>
        <p:nvSpPr>
          <p:cNvPr id="504" name="Uma vez que esses limites são diferentes, f ′(0) não existe.  Logo, f é diferenciável para todo x, exceto 0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27553" indent="-427553" defTabSz="473201">
              <a:lnSpc>
                <a:spcPct val="130000"/>
              </a:lnSpc>
              <a:spcBef>
                <a:spcPts val="700"/>
              </a:spcBef>
              <a:defRPr sz="3078"/>
            </a:pPr>
            <a:r>
              <a:t>Uma vez que esses limites são diferentes, f ′(0) não existe.  Logo, f é diferenciável para todo x, exceto 0.</a:t>
            </a:r>
          </a:p>
          <a:p>
            <a:pPr marL="427553" indent="-427553" defTabSz="473201">
              <a:lnSpc>
                <a:spcPct val="130000"/>
              </a:lnSpc>
              <a:spcBef>
                <a:spcPts val="700"/>
              </a:spcBef>
              <a:defRPr sz="3078"/>
            </a:pPr>
          </a:p>
          <a:p>
            <a:pPr marL="427553" indent="-427553" defTabSz="473201">
              <a:lnSpc>
                <a:spcPct val="130000"/>
              </a:lnSpc>
              <a:spcBef>
                <a:spcPts val="700"/>
              </a:spcBef>
              <a:defRPr sz="3078"/>
            </a:pPr>
            <a:r>
              <a:t>Uma fórmula para f′ é dada por   </a:t>
            </a:r>
            <a:br/>
            <a:br/>
            <a:br/>
            <a:br/>
            <a:br/>
            <a:br/>
          </a:p>
        </p:txBody>
      </p:sp>
      <p:grpSp>
        <p:nvGrpSpPr>
          <p:cNvPr id="507" name="Grupo"/>
          <p:cNvGrpSpPr/>
          <p:nvPr/>
        </p:nvGrpSpPr>
        <p:grpSpPr>
          <a:xfrm>
            <a:off x="8099886" y="5571092"/>
            <a:ext cx="4043681" cy="2973975"/>
            <a:chOff x="0" y="0"/>
            <a:chExt cx="4043679" cy="2973973"/>
          </a:xfrm>
        </p:grpSpPr>
        <p:sp>
          <p:nvSpPr>
            <p:cNvPr id="505" name="y = f ′(x)"/>
            <p:cNvSpPr txBox="1"/>
            <p:nvPr/>
          </p:nvSpPr>
          <p:spPr>
            <a:xfrm>
              <a:off x="1569156" y="2564835"/>
              <a:ext cx="967629" cy="409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pPr algn="l" defTabSz="1300480">
                <a:lnSpc>
                  <a:spcPct val="120000"/>
                </a:lnSpc>
                <a:defRPr b="0" i="1" sz="1800">
                  <a:latin typeface="Arial"/>
                  <a:ea typeface="Arial"/>
                  <a:cs typeface="Arial"/>
                  <a:sym typeface="Arial"/>
                </a:defRPr>
              </a:pPr>
              <a:r>
                <a:t>y</a:t>
              </a:r>
              <a:r>
                <a:rPr i="0"/>
                <a:t> = </a:t>
              </a:r>
              <a:r>
                <a:t>f</a:t>
              </a:r>
              <a:r>
                <a:rPr i="0"/>
                <a:t> </a:t>
              </a:r>
              <a:r>
                <a:rPr i="0">
                  <a:latin typeface="Symbol"/>
                  <a:ea typeface="Symbol"/>
                  <a:cs typeface="Symbol"/>
                  <a:sym typeface="Symbol"/>
                </a:rPr>
                <a:t>¢</a:t>
              </a:r>
              <a:r>
                <a:rPr i="0"/>
                <a:t>(</a:t>
              </a:r>
              <a:r>
                <a:t>x</a:t>
              </a:r>
              <a:r>
                <a:rPr i="0"/>
                <a:t>)</a:t>
              </a:r>
            </a:p>
          </p:txBody>
        </p:sp>
        <p:pic>
          <p:nvPicPr>
            <p:cNvPr id="506" name="Picture6" descr="Picture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4043680" cy="25467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508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19441" y="5750278"/>
            <a:ext cx="4438792" cy="11717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Exercício 7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7</a:t>
            </a:r>
          </a:p>
        </p:txBody>
      </p:sp>
      <p:sp>
        <p:nvSpPr>
          <p:cNvPr id="511" name="O fato de que f′(0) não existe está refletido geometricamente no fato de que a curva y = | x | não tem reta tangente em (0, 0)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>
            <a:lvl1pPr marL="527843" indent="-527843">
              <a:lnSpc>
                <a:spcPct val="130000"/>
              </a:lnSpc>
              <a:spcBef>
                <a:spcPts val="900"/>
              </a:spcBef>
              <a:defRPr sz="3800"/>
            </a:lvl1pPr>
          </a:lstStyle>
          <a:p>
            <a:pPr/>
            <a:r>
              <a:t>O fato de que f′(0) não existe está refletido geometricamente no fato de que a curva y = | x | não tem reta tangente em (0, 0)</a:t>
            </a:r>
          </a:p>
        </p:txBody>
      </p:sp>
      <p:grpSp>
        <p:nvGrpSpPr>
          <p:cNvPr id="514" name="Grupo"/>
          <p:cNvGrpSpPr/>
          <p:nvPr/>
        </p:nvGrpSpPr>
        <p:grpSpPr>
          <a:xfrm>
            <a:off x="4343964" y="5537028"/>
            <a:ext cx="4316872" cy="3728523"/>
            <a:chOff x="0" y="0"/>
            <a:chExt cx="4316871" cy="3728522"/>
          </a:xfrm>
        </p:grpSpPr>
        <p:sp>
          <p:nvSpPr>
            <p:cNvPr id="512" name="y = f (x) = | x |"/>
            <p:cNvSpPr txBox="1"/>
            <p:nvPr/>
          </p:nvSpPr>
          <p:spPr>
            <a:xfrm>
              <a:off x="1253066" y="3339253"/>
              <a:ext cx="1436494" cy="3892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pPr algn="l" defTabSz="1300480">
                <a:lnSpc>
                  <a:spcPct val="120000"/>
                </a:lnSpc>
                <a:defRPr b="0" i="1" sz="1800">
                  <a:latin typeface="Arial"/>
                  <a:ea typeface="Arial"/>
                  <a:cs typeface="Arial"/>
                  <a:sym typeface="Arial"/>
                </a:defRPr>
              </a:pPr>
              <a:r>
                <a:t>y</a:t>
              </a:r>
              <a:r>
                <a:rPr i="0"/>
                <a:t> = </a:t>
              </a:r>
              <a:r>
                <a:t>f</a:t>
              </a:r>
              <a:r>
                <a:rPr sz="500"/>
                <a:t> </a:t>
              </a:r>
              <a:r>
                <a:rPr i="0"/>
                <a:t>(x) = |</a:t>
              </a:r>
              <a:r>
                <a:rPr i="0" sz="1100"/>
                <a:t> </a:t>
              </a:r>
              <a:r>
                <a:t>x</a:t>
              </a:r>
              <a:r>
                <a:rPr i="0" sz="1100"/>
                <a:t> </a:t>
              </a:r>
              <a:r>
                <a:rPr i="0"/>
                <a:t>|</a:t>
              </a:r>
            </a:p>
          </p:txBody>
        </p:sp>
        <p:pic>
          <p:nvPicPr>
            <p:cNvPr id="513" name="Picture7" descr="Picture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4316872" cy="3251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Diferenciável vs Continuida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7360"/>
            </a:lvl1pPr>
          </a:lstStyle>
          <a:p>
            <a:pPr/>
            <a:r>
              <a:t>Diferenciável vs Continuidade</a:t>
            </a:r>
          </a:p>
        </p:txBody>
      </p:sp>
      <p:sp>
        <p:nvSpPr>
          <p:cNvPr id="517" name="Tanto a continuidade como a diferenciabilidade são propriedades desejáveis em uma funçã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527843" indent="-527843">
              <a:lnSpc>
                <a:spcPct val="130000"/>
              </a:lnSpc>
              <a:spcBef>
                <a:spcPts val="900"/>
              </a:spcBef>
            </a:pPr>
            <a:r>
              <a:t>Tanto a </a:t>
            </a:r>
            <a:r>
              <a:rPr b="1"/>
              <a:t>continuidade</a:t>
            </a:r>
            <a:r>
              <a:t> como a </a:t>
            </a:r>
            <a:r>
              <a:rPr b="1"/>
              <a:t>diferenciabilidade</a:t>
            </a:r>
            <a:r>
              <a:t> são propriedades desejáveis em uma função</a:t>
            </a:r>
          </a:p>
          <a:p>
            <a:pPr marL="527843" indent="-527843">
              <a:lnSpc>
                <a:spcPct val="130000"/>
              </a:lnSpc>
              <a:spcBef>
                <a:spcPts val="900"/>
              </a:spcBef>
            </a:pPr>
            <a:r>
              <a:t>O seguinte teorema mostra como essas propriedades estão relacionadas</a:t>
            </a:r>
          </a:p>
        </p:txBody>
      </p:sp>
      <p:sp>
        <p:nvSpPr>
          <p:cNvPr id="518" name="A recíproca e falsa!…"/>
          <p:cNvSpPr txBox="1"/>
          <p:nvPr/>
        </p:nvSpPr>
        <p:spPr>
          <a:xfrm>
            <a:off x="1657032" y="7985471"/>
            <a:ext cx="9690736" cy="854392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500">
                <a:solidFill>
                  <a:srgbClr val="FFFFFF"/>
                </a:solidFill>
              </a:defRPr>
            </a:pPr>
            <a:r>
              <a:t>A recíproca e falsa!</a:t>
            </a:r>
          </a:p>
          <a:p>
            <a:pPr>
              <a:defRPr sz="2500">
                <a:solidFill>
                  <a:srgbClr val="FFFFFF"/>
                </a:solidFill>
              </a:defRPr>
            </a:pPr>
            <a:r>
              <a:t>Existem funções que são contínuas mas não são diferenciáveis</a:t>
            </a:r>
          </a:p>
        </p:txBody>
      </p:sp>
      <p:sp>
        <p:nvSpPr>
          <p:cNvPr id="519" name="Teorema:…"/>
          <p:cNvSpPr txBox="1"/>
          <p:nvPr/>
        </p:nvSpPr>
        <p:spPr>
          <a:xfrm>
            <a:off x="952500" y="5737018"/>
            <a:ext cx="11099800" cy="157571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Teorema: 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>
              <a:defRPr b="0"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Se uma função f for diferenciável em a, então é contínua em 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Como uma Função Pode Não Ser Diferenciável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Como uma Função Pode Não Ser Diferenciável?</a:t>
            </a:r>
          </a:p>
        </p:txBody>
      </p:sp>
      <p:sp>
        <p:nvSpPr>
          <p:cNvPr id="522" name="Vimos que a função y = | x | não é diferenciável em x = 0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311794" indent="-311794" defTabSz="391414">
              <a:lnSpc>
                <a:spcPct val="130000"/>
              </a:lnSpc>
              <a:spcBef>
                <a:spcPts val="600"/>
              </a:spcBef>
              <a:defRPr sz="2546"/>
            </a:pPr>
            <a:r>
              <a:t>Vimos que a função y = | x | </a:t>
            </a:r>
            <a:r>
              <a:rPr u="sng"/>
              <a:t>não é diferenciável</a:t>
            </a:r>
            <a:r>
              <a:t> em x = 0</a:t>
            </a:r>
          </a:p>
          <a:p>
            <a:pPr marL="311794" indent="-311794" defTabSz="391414">
              <a:lnSpc>
                <a:spcPct val="130000"/>
              </a:lnSpc>
              <a:spcBef>
                <a:spcPts val="600"/>
              </a:spcBef>
              <a:defRPr sz="2546"/>
            </a:pPr>
          </a:p>
          <a:p>
            <a:pPr marL="311794" indent="-311794" defTabSz="391414">
              <a:lnSpc>
                <a:spcPct val="130000"/>
              </a:lnSpc>
              <a:spcBef>
                <a:spcPts val="600"/>
              </a:spcBef>
              <a:defRPr sz="2546"/>
            </a:pPr>
            <a:r>
              <a:t>Em geral, se o gráfico de uma função f tiver uma </a:t>
            </a:r>
            <a:r>
              <a:rPr u="sng"/>
              <a:t>“quina” ou uma “dobra”</a:t>
            </a:r>
            <a:r>
              <a:t>, então o gráfico de f não terá </a:t>
            </a:r>
            <a:r>
              <a:rPr u="sng"/>
              <a:t>tangente</a:t>
            </a:r>
            <a:r>
              <a:t> nesse ponto, </a:t>
            </a:r>
            <a:r>
              <a:rPr b="1"/>
              <a:t>não será diferenciável</a:t>
            </a:r>
          </a:p>
          <a:p>
            <a:pPr lvl="1" marL="609609" indent="-311794" defTabSz="391414">
              <a:lnSpc>
                <a:spcPct val="130000"/>
              </a:lnSpc>
              <a:spcBef>
                <a:spcPts val="600"/>
              </a:spcBef>
              <a:defRPr sz="2546"/>
            </a:pPr>
            <a:r>
              <a:t>Ao calcular f′(a), vamos descobrir que  os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limites à esquerda e à direita são diferentes</a:t>
            </a:r>
          </a:p>
        </p:txBody>
      </p:sp>
      <p:grpSp>
        <p:nvGrpSpPr>
          <p:cNvPr id="525" name="Grupo"/>
          <p:cNvGrpSpPr/>
          <p:nvPr/>
        </p:nvGrpSpPr>
        <p:grpSpPr>
          <a:xfrm>
            <a:off x="7617597" y="3973433"/>
            <a:ext cx="4064001" cy="4401965"/>
            <a:chOff x="0" y="0"/>
            <a:chExt cx="4064000" cy="4401964"/>
          </a:xfrm>
        </p:grpSpPr>
        <p:sp>
          <p:nvSpPr>
            <p:cNvPr id="523" name="y = f (x) = | x |"/>
            <p:cNvSpPr/>
            <p:nvPr/>
          </p:nvSpPr>
          <p:spPr>
            <a:xfrm>
              <a:off x="1313753" y="3131964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pPr algn="l" defTabSz="1300480">
                <a:lnSpc>
                  <a:spcPct val="120000"/>
                </a:lnSpc>
                <a:defRPr b="0" i="1" sz="1800">
                  <a:latin typeface="Arial"/>
                  <a:ea typeface="Arial"/>
                  <a:cs typeface="Arial"/>
                  <a:sym typeface="Arial"/>
                </a:defRPr>
              </a:pPr>
              <a:r>
                <a:t>y</a:t>
              </a:r>
              <a:r>
                <a:rPr i="0"/>
                <a:t> = </a:t>
              </a:r>
              <a:r>
                <a:t>f</a:t>
              </a:r>
              <a:r>
                <a:rPr sz="500"/>
                <a:t> </a:t>
              </a:r>
              <a:r>
                <a:rPr i="0"/>
                <a:t>(x) = |</a:t>
              </a:r>
              <a:r>
                <a:rPr i="0" sz="1100"/>
                <a:t> </a:t>
              </a:r>
              <a:r>
                <a:t>x</a:t>
              </a:r>
              <a:r>
                <a:rPr i="0" sz="1100"/>
                <a:t> </a:t>
              </a:r>
              <a:r>
                <a:rPr i="0"/>
                <a:t>|</a:t>
              </a:r>
            </a:p>
          </p:txBody>
        </p:sp>
        <p:pic>
          <p:nvPicPr>
            <p:cNvPr id="524" name="Picture9" descr="Picture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4064000" cy="30592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Como uma Função Pode Não Ser Diferenciável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Como uma Função Pode Não Ser Diferenciável?</a:t>
            </a:r>
          </a:p>
        </p:txBody>
      </p:sp>
      <p:sp>
        <p:nvSpPr>
          <p:cNvPr id="528" name="Se f(x) não for contínua em a, então f não é diferenciável em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64502" indent="-464502" defTabSz="514095">
              <a:lnSpc>
                <a:spcPct val="130000"/>
              </a:lnSpc>
              <a:spcBef>
                <a:spcPts val="800"/>
              </a:spcBef>
              <a:defRPr sz="3343"/>
            </a:pPr>
            <a:r>
              <a:t>Se f(x) não for contínua em a, então f não é diferenciável em a</a:t>
            </a:r>
          </a:p>
          <a:p>
            <a:pPr lvl="1" marL="855662" indent="-464502" defTabSz="514095">
              <a:lnSpc>
                <a:spcPct val="130000"/>
              </a:lnSpc>
              <a:spcBef>
                <a:spcPts val="800"/>
              </a:spcBef>
              <a:defRPr sz="3343"/>
            </a:pPr>
            <a:r>
              <a:t>Em qualquer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descontinuidade</a:t>
            </a:r>
            <a:r>
              <a:t> (por exemplo, uma descontinuidade de salto) f deixa de ser diferenciável</a:t>
            </a:r>
          </a:p>
          <a:p>
            <a:pPr lvl="1" marL="855662" indent="-464502" defTabSz="514095">
              <a:lnSpc>
                <a:spcPct val="130000"/>
              </a:lnSpc>
              <a:spcBef>
                <a:spcPts val="800"/>
              </a:spcBef>
              <a:defRPr sz="3343"/>
            </a:pPr>
          </a:p>
          <a:p>
            <a:pPr marL="464502" indent="-464502" defTabSz="514095">
              <a:lnSpc>
                <a:spcPct val="130000"/>
              </a:lnSpc>
              <a:spcBef>
                <a:spcPts val="800"/>
              </a:spcBef>
              <a:defRPr sz="3343"/>
            </a:pPr>
            <a:r>
              <a:t>Uma terceira possibilidade surge quando a curva tem uma reta tangente vertical quando x = a; isto é, f é contínua em a e</a:t>
            </a:r>
            <a:br/>
          </a:p>
        </p:txBody>
      </p:sp>
      <p:pic>
        <p:nvPicPr>
          <p:cNvPr id="529" name="image.tif" descr="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97120" y="8140485"/>
            <a:ext cx="3210561" cy="9347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Como uma Função Pode Não Ser Diferenciável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Como uma Função Pode Não Ser Diferenciável?</a:t>
            </a:r>
          </a:p>
        </p:txBody>
      </p:sp>
      <p:sp>
        <p:nvSpPr>
          <p:cNvPr id="532" name="Isso significa que a reta tangente fica cada vez mais íngreme quando x → a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>
            <a:lvl1pPr marL="527843" indent="-527843">
              <a:lnSpc>
                <a:spcPct val="130000"/>
              </a:lnSpc>
              <a:spcBef>
                <a:spcPts val="900"/>
              </a:spcBef>
              <a:defRPr sz="3800"/>
            </a:lvl1pPr>
          </a:lstStyle>
          <a:p>
            <a:pPr/>
            <a:r>
              <a:t>Isso significa que a reta tangente fica cada vez mais íngreme quando x → a</a:t>
            </a:r>
          </a:p>
        </p:txBody>
      </p:sp>
      <p:sp>
        <p:nvSpPr>
          <p:cNvPr id="533" name="Uma tangente vertical"/>
          <p:cNvSpPr txBox="1"/>
          <p:nvPr/>
        </p:nvSpPr>
        <p:spPr>
          <a:xfrm>
            <a:off x="7976728" y="8283786"/>
            <a:ext cx="2366353" cy="38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>
            <a:lvl1pPr algn="l" defTabSz="1300480">
              <a:lnSpc>
                <a:spcPct val="120000"/>
              </a:lnSpc>
              <a:defRPr b="0" sz="18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Uma tangente vertical</a:t>
            </a:r>
          </a:p>
        </p:txBody>
      </p:sp>
      <p:pic>
        <p:nvPicPr>
          <p:cNvPr id="534" name="Picture11" descr="Picture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74933" y="4599093"/>
            <a:ext cx="4395894" cy="371856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5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00479" y="4623929"/>
            <a:ext cx="4136251" cy="38246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Como uma Função Pode Não Ser Diferenciável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pPr/>
            <a:r>
              <a:t>Como uma Função Pode Não Ser Diferenciável?</a:t>
            </a:r>
          </a:p>
        </p:txBody>
      </p:sp>
      <p:pic>
        <p:nvPicPr>
          <p:cNvPr id="538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9537" y="3844995"/>
            <a:ext cx="10670259" cy="34295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Exercício: (a) Determine a taxa de variação de f(x)=x2 entre os pontos x=3 e x=1 (b) Determine a derivada de f(x) para um ponto genérico x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19937">
              <a:spcBef>
                <a:spcPts val="700"/>
              </a:spcBef>
              <a:buSzTx/>
              <a:buNone/>
              <a:defRPr sz="2848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</a:t>
            </a:r>
            <a:r>
              <a:t> (a) Determine a taxa de variação de f(x)=x</a:t>
            </a:r>
            <a:r>
              <a:rPr baseline="31999"/>
              <a:t>2</a:t>
            </a:r>
            <a:r>
              <a:t> entre os pontos x=3 e x=1</a:t>
            </a:r>
            <a:br/>
            <a:r>
              <a:t>(b) Determine a derivada de f(x) para um ponto genérico x</a:t>
            </a:r>
          </a:p>
          <a:p>
            <a:pPr marL="420330" indent="-420330" defTabSz="519937">
              <a:spcBef>
                <a:spcPts val="700"/>
              </a:spcBef>
              <a:defRPr sz="2848"/>
            </a:pPr>
          </a:p>
          <a:p>
            <a:pPr marL="0" indent="0" defTabSz="519937">
              <a:spcBef>
                <a:spcPts val="700"/>
              </a:spcBef>
              <a:buSzTx/>
              <a:buNone/>
              <a:defRPr sz="2848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Solução:</a:t>
            </a:r>
            <a:r>
              <a:t> (a) Seja a função f(x)=x</a:t>
            </a:r>
            <a:r>
              <a:rPr baseline="30314"/>
              <a:t>2</a:t>
            </a:r>
            <a:r>
              <a:t> , o ponto inicial de abscissa x</a:t>
            </a:r>
            <a:r>
              <a:rPr baseline="-22011"/>
              <a:t>0</a:t>
            </a:r>
            <a:r>
              <a:t>=1 e a variação </a:t>
            </a:r>
            <a:r>
              <a:t>Δ</a:t>
            </a:r>
            <a:r>
              <a:t>x=2 (isto é, temos os seguintes pontos: (1, f(1)) e (3, f(3)):</a:t>
            </a:r>
          </a:p>
          <a:p>
            <a:pPr marL="0" indent="0" algn="ctr" defTabSz="519937">
              <a:spcBef>
                <a:spcPts val="800"/>
              </a:spcBef>
              <a:buSzTx/>
              <a:buNone/>
              <a:defRPr sz="2848"/>
            </a:pPr>
            <a14:m>
              <m:oMath>
                <m:f>
                  <m:fPr>
                    <m:ctrlP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m:rPr>
                        <m:sty m:val="p"/>
                      </m:rP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num>
                  <m:den>
                    <m:r>
                      <m:rPr>
                        <m:sty m:val="p"/>
                      </m:rP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den>
                </m:f>
                <m:r>
                  <a:rPr xmlns:a="http://schemas.openxmlformats.org/drawingml/2006/main" sz="34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den>
                </m:f>
                <m:r>
                  <a:rPr xmlns:a="http://schemas.openxmlformats.org/drawingml/2006/main" sz="34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p>
                      <m:e>
                        <m:r>
                          <a:rPr xmlns:a="http://schemas.openxmlformats.org/drawingml/2006/main"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xmlns:a="http://schemas.openxmlformats.org/drawingml/2006/main"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sSup>
                      <m:e>
                        <m:r>
                          <a:rPr xmlns:a="http://schemas.openxmlformats.org/drawingml/2006/main"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xmlns:a="http://schemas.openxmlformats.org/drawingml/2006/main"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num>
                  <m:den>
                    <m:r>
                      <a:rPr xmlns:a="http://schemas.openxmlformats.org/drawingml/2006/main"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den>
                </m:f>
                <m:r>
                  <a:rPr xmlns:a="http://schemas.openxmlformats.org/drawingml/2006/main" sz="34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34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</m:t>
                </m:r>
              </m:oMath>
            </a14:m>
            <a:r>
              <a:t> </a:t>
            </a:r>
          </a:p>
          <a:p>
            <a:pPr marL="420330" indent="-420330" defTabSz="519937">
              <a:spcBef>
                <a:spcPts val="800"/>
              </a:spcBef>
              <a:defRPr sz="2848"/>
            </a:pPr>
          </a:p>
          <a:p>
            <a:pPr lvl="1" marL="815935" indent="-420330" defTabSz="519937">
              <a:spcBef>
                <a:spcPts val="700"/>
              </a:spcBef>
              <a:defRPr sz="2848"/>
            </a:pPr>
            <a:r>
              <a:t>Isso significa, que se x variar 2 unidades (a partir de x</a:t>
            </a:r>
            <a:r>
              <a:rPr baseline="-22011"/>
              <a:t>0</a:t>
            </a:r>
            <a:r>
              <a:t>=1), a variação de f será 4 vezes maior, pois </a:t>
            </a:r>
            <a:r>
              <a:t>Δ</a:t>
            </a:r>
            <a:r>
              <a:t>f=8, enquanto </a:t>
            </a:r>
            <a:r>
              <a:t>Δ</a:t>
            </a:r>
            <a:r>
              <a:t>x=2</a:t>
            </a:r>
          </a:p>
        </p:txBody>
      </p:sp>
      <p:sp>
        <p:nvSpPr>
          <p:cNvPr id="541" name="Exercício 8 Taxa de variação dado dois pont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5000"/>
            </a:pPr>
            <a:r>
              <a:t>Exercício 8</a:t>
            </a:r>
            <a:br/>
            <a:r>
              <a:t>Taxa de variação dado dois pontos 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1000"/>
                                        <p:tgtEl>
                                          <p:spTgt spid="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9" dur="1000"/>
                                        <p:tgtEl>
                                          <p:spTgt spid="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3" dur="1000"/>
                                        <p:tgtEl>
                                          <p:spTgt spid="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40" grpId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(b) Seja f(x)=x2 e calculemos a taxa média de variação a partir de um ponto genérico de abscissa x0=x e um acréscimo também genérico Δx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(b) Seja f(x)=x</a:t>
            </a:r>
            <a:r>
              <a:rPr baseline="30000"/>
              <a:t>2</a:t>
            </a:r>
            <a:r>
              <a:t> e calculemos a taxa média de variação a partir </a:t>
            </a:r>
            <a:r>
              <a:rPr b="1">
                <a:solidFill>
                  <a:srgbClr val="FF0000"/>
                </a:solidFill>
              </a:rPr>
              <a:t>de um ponto genérico </a:t>
            </a:r>
            <a:r>
              <a:t>de abscissa x</a:t>
            </a:r>
            <a:r>
              <a:rPr baseline="-25000"/>
              <a:t>0</a:t>
            </a:r>
            <a:r>
              <a:t>=x e um acréscimo também genérico </a:t>
            </a:r>
            <a:r>
              <a:t>Δ</a:t>
            </a:r>
            <a:r>
              <a:t>x</a:t>
            </a:r>
            <a:br/>
          </a:p>
          <a:p>
            <a:pPr marL="0" indent="0" algn="ctr">
              <a:buSzTx/>
              <a:buNone/>
            </a:pPr>
            <a14:m>
              <m:oMathPara>
                <m:oMathParaPr>
                  <m:jc m:val="center"/>
                </m:oMathParaPr>
                <m:oMath>
                  <m:f>
                    <m:fPr>
                      <m:ctrl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sSup>
                        <m:e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sSup>
                        <m:e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sSup>
                        <m:e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30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num>
                    <m:den>
                      <m:r>
                        <m:rPr>
                          <m:sty m:val="p"/>
                        </m:rP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xmlns:a="http://schemas.openxmlformats.org/drawingml/2006/main" sz="30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den>
                  </m:f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m:rPr>
                      <m:sty m:val="p"/>
                    </m:rP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xmlns:a="http://schemas.openxmlformats.org/drawingml/2006/main" sz="30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</m:oMath>
              </m:oMathPara>
            </a14:m>
          </a:p>
          <a:p>
            <a:pPr marL="0" indent="0" algn="ctr">
              <a:buSzTx/>
              <a:buNone/>
            </a:pPr>
            <a14:m>
              <m:oMath>
                <m:r>
                  <a:rPr xmlns:a="http://schemas.openxmlformats.org/drawingml/2006/main" sz="3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3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m:rPr>
                        <m:sty m:val="p"/>
                      </m:rPr>
                      <a:rPr xmlns:a="http://schemas.openxmlformats.org/drawingml/2006/main"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m:rPr>
                        <m:sty m:val="p"/>
                      </m:rPr>
                      <a:rPr xmlns:a="http://schemas.openxmlformats.org/drawingml/2006/main"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num>
                  <m:den>
                    <m:r>
                      <m:rPr>
                        <m:sty m:val="p"/>
                      </m:rPr>
                      <a:rPr xmlns:a="http://schemas.openxmlformats.org/drawingml/2006/main"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xmlns:a="http://schemas.openxmlformats.org/drawingml/2006/main" sz="3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den>
                </m:f>
                <m:r>
                  <a:rPr xmlns:a="http://schemas.openxmlformats.org/drawingml/2006/main" sz="3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3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3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r>
              <a:t> </a:t>
            </a:r>
          </a:p>
        </p:txBody>
      </p:sp>
      <p:sp>
        <p:nvSpPr>
          <p:cNvPr id="544" name="Exercício 8 Função derivada para um ponto genéric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73887">
              <a:defRPr sz="5119"/>
            </a:pPr>
            <a:r>
              <a:t>Exercício 8</a:t>
            </a:r>
            <a:br/>
            <a:r>
              <a:t>Função derivada para um ponto genérico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Exercício 9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9</a:t>
            </a:r>
          </a:p>
        </p:txBody>
      </p:sp>
      <p:sp>
        <p:nvSpPr>
          <p:cNvPr id="547" name="Exercício: Determinar a derivada da função f(x) = 4x2 + 1, através da definiçã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/>
            </a:pP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 </a:t>
            </a:r>
            <a:r>
              <a:rPr b="0"/>
              <a:t>Determinar a derivada da função f(x) = 4x</a:t>
            </a:r>
            <a:r>
              <a:rPr b="0" baseline="30257"/>
              <a:t>2</a:t>
            </a:r>
            <a:r>
              <a:rPr b="0"/>
              <a:t> + 1, através da </a:t>
            </a:r>
            <a:r>
              <a:t>definição</a:t>
            </a:r>
            <a:br>
              <a:rPr b="0"/>
            </a:br>
            <a:br>
              <a:rPr b="0"/>
            </a:br>
          </a:p>
          <a:p>
            <a:pPr marL="0" indent="0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Solução: </a:t>
            </a:r>
            <a:r>
              <a:rPr b="0">
                <a:solidFill>
                  <a:srgbClr val="000000"/>
                </a:solidFill>
              </a:rPr>
              <a:t>Calculando f(x) e f(x+h), temos:</a:t>
            </a:r>
            <a:endParaRPr b="0">
              <a:solidFill>
                <a:srgbClr val="000000"/>
              </a:solidFill>
            </a:endParaRPr>
          </a:p>
          <a:p>
            <a:pPr marL="0" indent="0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endParaRPr b="0">
              <a:solidFill>
                <a:srgbClr val="000000"/>
              </a:solidFill>
            </a:endParaRPr>
          </a:p>
          <a:p>
            <a:pPr lvl="2" marL="0" indent="749808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f</m:t>
                  </m:r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4</m:t>
                  </m:r>
                  <m:sSup>
                    <m:e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p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 b="0">
              <a:solidFill>
                <a:srgbClr val="000000"/>
              </a:solidFill>
            </a:endParaRPr>
          </a:p>
          <a:p>
            <a:pPr lvl="2" marL="0" indent="749808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br>
              <a:rPr b="0">
                <a:solidFill>
                  <a:srgbClr val="000000"/>
                </a:solidFill>
              </a:rPr>
            </a:br>
            <a14:m>
              <m:oMath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sSup>
                  <m:e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  <m:sup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[</m:t>
                </m:r>
                <m:sSup>
                  <m:e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p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sSup>
                  <m:e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  <m:sup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]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</m:oMath>
            </a14:m>
            <a:r>
              <a:rPr b="0">
                <a:solidFill>
                  <a:srgbClr val="000000"/>
                </a:solidFill>
              </a:rPr>
              <a:t>  </a:t>
            </a:r>
            <a:endParaRPr b="0">
              <a:solidFill>
                <a:srgbClr val="000000"/>
              </a:solidFill>
            </a:endParaRPr>
          </a:p>
          <a:p>
            <a:pPr lvl="2" marL="0" indent="749808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b="0">
                <a:solidFill>
                  <a:srgbClr val="000000"/>
                </a:solidFill>
              </a:rPr>
              <a:t>                </a:t>
            </a:r>
            <a14:m>
              <m:oMath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</m:t>
                </m:r>
                <m:sSup>
                  <m:e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  <m:sup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8</m:t>
                </m:r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sSup>
                  <m:e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  <m:sup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endParaRPr b="0">
              <a:solidFill>
                <a:srgbClr val="000000"/>
              </a:solidFill>
            </a:endParaRPr>
          </a:p>
          <a:p>
            <a:pPr lvl="2" marL="0" indent="749808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endParaRPr b="0">
              <a:solidFill>
                <a:srgbClr val="000000"/>
              </a:solidFill>
            </a:endParaRPr>
          </a:p>
          <a:p>
            <a:pPr lvl="2" marL="0" indent="749808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b="0">
                <a:solidFill>
                  <a:srgbClr val="000000"/>
                </a:solidFill>
              </a:rPr>
              <a:t>Pela definição,</a:t>
            </a:r>
            <a:endParaRPr b="0">
              <a:solidFill>
                <a:srgbClr val="000000"/>
              </a:solidFill>
            </a:endParaRPr>
          </a:p>
          <a:p>
            <a:pPr lvl="2" marL="0" indent="749808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endParaRPr b="0">
              <a:solidFill>
                <a:srgbClr val="000000"/>
              </a:solidFill>
            </a:endParaRPr>
          </a:p>
          <a:p>
            <a:pPr lvl="1" marL="0" indent="374904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sSub>
                    <m:e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f>
                    <m:fPr>
                      <m:ctrlP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den>
                  </m:f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sSub>
                    <m:e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f>
                    <m:fPr>
                      <m:ctrlP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e>
                          <m:r>
                            <a:rPr xmlns:a="http://schemas.openxmlformats.org/drawingml/2006/main" sz="2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xmlns:a="http://schemas.openxmlformats.org/drawingml/2006/main" sz="2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sSup>
                        <m:e>
                          <m:r>
                            <a:rPr xmlns:a="http://schemas.openxmlformats.org/drawingml/2006/main" sz="2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xmlns:a="http://schemas.openxmlformats.org/drawingml/2006/main" sz="2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e>
                          <m:r>
                            <a:rPr xmlns:a="http://schemas.openxmlformats.org/drawingml/2006/main" sz="2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xmlns:a="http://schemas.openxmlformats.org/drawingml/2006/main" sz="27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num>
                    <m:den>
                      <m:r>
                        <a:rPr xmlns:a="http://schemas.openxmlformats.org/drawingml/2006/main" sz="2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den>
                  </m:f>
                  <m:r>
                    <a:rPr xmlns:a="http://schemas.openxmlformats.org/drawingml/2006/main" sz="2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</m:oMath>
              </m:oMathPara>
            </a14:m>
            <a:endParaRPr b="0">
              <a:solidFill>
                <a:srgbClr val="000000"/>
              </a:solidFill>
            </a:endParaRPr>
          </a:p>
          <a:p>
            <a:pPr lvl="7" marL="0" indent="0" defTabSz="1066393">
              <a:spcBef>
                <a:spcPts val="0"/>
              </a:spcBef>
              <a:buSzTx/>
              <a:buNone/>
              <a:tabLst>
                <a:tab pos="254000" algn="l"/>
              </a:tabLst>
              <a:defRPr b="1" sz="2296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rPr b="0">
                <a:solidFill>
                  <a:srgbClr val="000000"/>
                </a:solidFill>
              </a:rPr>
              <a:t>                                                </a:t>
            </a:r>
            <a14:m>
              <m:oMath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sSup>
                      <m:e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num>
                  <m:den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8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8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</m:oMath>
            </a14:m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4" dur="1000"/>
                                        <p:tgtEl>
                                          <p:spTgt spid="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7" dur="1000"/>
                                        <p:tgtEl>
                                          <p:spTgt spid="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0" dur="1000"/>
                                        <p:tgtEl>
                                          <p:spTgt spid="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3" dur="1000"/>
                                        <p:tgtEl>
                                          <p:spTgt spid="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6" dur="1000"/>
                                        <p:tgtEl>
                                          <p:spTgt spid="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9" dur="1000"/>
                                        <p:tgtEl>
                                          <p:spTgt spid="5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2" dur="1000"/>
                                        <p:tgtEl>
                                          <p:spTgt spid="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5" dur="1000"/>
                                        <p:tgtEl>
                                          <p:spTgt spid="5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547" grpId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Exercício 10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10</a:t>
            </a:r>
          </a:p>
        </p:txBody>
      </p:sp>
      <p:sp>
        <p:nvSpPr>
          <p:cNvPr id="550" name="Exercício: Encontre a derivada de   e x&gt;0                USAR A DEFINIÇÃO…"/>
          <p:cNvSpPr txBox="1"/>
          <p:nvPr>
            <p:ph type="body" idx="1"/>
          </p:nvPr>
        </p:nvSpPr>
        <p:spPr>
          <a:xfrm>
            <a:off x="952500" y="2603500"/>
            <a:ext cx="11099800" cy="6273800"/>
          </a:xfrm>
          <a:prstGeom prst="rect">
            <a:avLst/>
          </a:prstGeom>
        </p:spPr>
        <p:txBody>
          <a:bodyPr anchor="t"/>
          <a:lstStyle/>
          <a:p>
            <a:pPr marL="0" indent="0" defTabSz="1274470">
              <a:spcBef>
                <a:spcPts val="0"/>
              </a:spcBef>
              <a:buSzTx/>
              <a:buNone/>
              <a:defRPr sz="2352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 </a:t>
            </a:r>
            <a:r>
              <a:t>Encontre a derivada de </a:t>
            </a:r>
            <a14:m>
              <m:oMath>
                <m:r>
                  <a:rPr xmlns:a="http://schemas.openxmlformats.org/drawingml/2006/main" sz="2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2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2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7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ad>
                  <m:radPr>
                    <m:ctrlPr>
                      <a:rPr xmlns:a="http://schemas.openxmlformats.org/drawingml/2006/main" sz="2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degHide m:val="on"/>
                  </m:radPr>
                  <m:deg/>
                  <m:e>
                    <m:r>
                      <a:rPr xmlns:a="http://schemas.openxmlformats.org/drawingml/2006/main" sz="2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e>
                </m:rad>
              </m:oMath>
            </a14:m>
            <a:r>
              <a:t> e x&gt;0            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  </a:t>
            </a:r>
            <a:r>
              <a:rPr b="1" sz="196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USAR A DEFINIÇÃO</a:t>
            </a:r>
            <a:endParaRPr b="1" sz="1960">
              <a:solidFill>
                <a:schemeClr val="accent5">
                  <a:hueOff val="-82419"/>
                  <a:satOff val="-9513"/>
                  <a:lumOff val="-16343"/>
                </a:schemeClr>
              </a:solidFill>
            </a:endParaRPr>
          </a:p>
          <a:p>
            <a:pPr marL="0" indent="0" defTabSz="1274470">
              <a:spcBef>
                <a:spcPts val="0"/>
              </a:spcBef>
              <a:buSzTx/>
              <a:buNone/>
              <a:defRPr sz="2352"/>
            </a:pPr>
            <a:endParaRPr b="1">
              <a:solidFill>
                <a:schemeClr val="accent5">
                  <a:hueOff val="-82419"/>
                  <a:satOff val="-9513"/>
                  <a:lumOff val="-16343"/>
                </a:schemeClr>
              </a:solidFill>
            </a:endParaRPr>
          </a:p>
          <a:p>
            <a:pPr marL="0" indent="0" defTabSz="1274470">
              <a:spcBef>
                <a:spcPts val="0"/>
              </a:spcBef>
              <a:buSzTx/>
              <a:buNone/>
              <a:defRPr sz="2352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Solução: </a:t>
            </a:r>
            <a:r>
              <a:t>Pela definição</a:t>
            </a:r>
          </a:p>
          <a:p>
            <a:pPr marL="0" indent="0" defTabSz="1274470">
              <a:spcBef>
                <a:spcPts val="0"/>
              </a:spcBef>
              <a:buSzTx/>
              <a:buNone/>
              <a:defRPr sz="2352"/>
            </a:pPr>
          </a:p>
          <a:p>
            <a:pPr marL="0" indent="0" defTabSz="1274470">
              <a:spcBef>
                <a:spcPts val="0"/>
              </a:spcBef>
              <a:buSzTx/>
              <a:buNone/>
              <a:defRPr sz="2352"/>
            </a:pPr>
            <a14:m>
              <m:oMathPara>
                <m:oMathParaPr>
                  <m:jc m:val="left"/>
                </m:oMathParaPr>
                <m:oMath>
                  <m:f>
                    <m:f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den>
                  </m:f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ad>
                        <m:ra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rad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ad>
                        <m:radPr>
                          <m:ctrlP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degHide m:val="on"/>
                        </m:radPr>
                        <m:deg/>
                        <m:e>
                          <m:r>
                            <a:rPr xmlns:a="http://schemas.openxmlformats.org/drawingml/2006/mai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rad>
                    </m:num>
                    <m:den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den>
                  </m:f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</m:oMath>
              </m:oMathPara>
            </a14:m>
          </a:p>
          <a:p>
            <a:pPr lvl="7" marL="0" indent="0" defTabSz="1274470">
              <a:spcBef>
                <a:spcPts val="0"/>
              </a:spcBef>
              <a:buSzTx/>
              <a:buNone/>
              <a:defRPr sz="2352"/>
            </a:pPr>
            <a:r>
              <a:t>                          </a:t>
            </a:r>
            <a14:m>
              <m:oMath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num>
                  <m:den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ctrlP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degHide m:val="on"/>
                      </m:radPr>
                      <m:deg/>
                      <m:e>
                        <m: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rad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ctrlP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degHide m:val="on"/>
                      </m:radPr>
                      <m:deg/>
                      <m:e>
                        <m: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rad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den>
                </m:f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</m:oMath>
            </a14:m>
          </a:p>
          <a:p>
            <a:pPr lvl="7" marL="0" indent="0" defTabSz="1274470">
              <a:spcBef>
                <a:spcPts val="0"/>
              </a:spcBef>
              <a:buSzTx/>
              <a:buNone/>
              <a:defRPr sz="2352"/>
            </a:pPr>
            <a:r>
              <a:t>                         </a:t>
            </a:r>
            <a14:m>
              <m:oMath>
                <m:r>
                  <a:rPr xmlns:a="http://schemas.openxmlformats.org/drawingml/2006/main" sz="28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ad>
                      <m:radPr>
                        <m:ctrlP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degHide m:val="on"/>
                      </m:radPr>
                      <m:deg/>
                      <m:e>
                        <m: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rad>
                    <m:r>
                      <a:rPr xmlns:a="http://schemas.openxmlformats.org/drawingml/2006/main" sz="28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ctrlP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degHide m:val="on"/>
                      </m:radPr>
                      <m:deg/>
                      <m:e>
                        <m:r>
                          <a:rPr xmlns:a="http://schemas.openxmlformats.org/drawingml/2006/main"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rad>
                  </m:den>
                </m:f>
              </m:oMath>
            </a14:m>
            <a:br/>
          </a:p>
          <a:p>
            <a:pPr lvl="7" marL="0" indent="0" defTabSz="1274470">
              <a:spcBef>
                <a:spcPts val="0"/>
              </a:spcBef>
              <a:buSzTx/>
              <a:buNone/>
              <a:defRPr sz="2352"/>
            </a:pPr>
          </a:p>
          <a:p>
            <a:pPr lvl="7" marL="0" indent="0" algn="ctr" defTabSz="1274470">
              <a:spcBef>
                <a:spcPts val="0"/>
              </a:spcBef>
              <a:buSzTx/>
              <a:buNone/>
              <a:defRPr sz="2352"/>
            </a:pPr>
            <a14:m>
              <m:oMath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ad>
                      <m:radPr>
                        <m:ctrlP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degHide m:val="on"/>
                      </m:radPr>
                      <m:deg/>
                      <m:e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rad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ctrlP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degHide m:val="on"/>
                      </m:radPr>
                      <m:deg/>
                      <m:e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rad>
                  </m:den>
                </m:f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num>
                  <m:den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ctrlP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  <m:degHide m:val="on"/>
                      </m:radPr>
                      <m:deg/>
                      <m:e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rad>
                  </m:den>
                </m:f>
              </m:oMath>
            </a14:m>
            <a:r>
              <a:t> </a:t>
            </a:r>
            <a:endParaRPr sz="24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5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5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1000"/>
                                        <p:tgtEl>
                                          <p:spTgt spid="5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5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8" dur="1000"/>
                                        <p:tgtEl>
                                          <p:spTgt spid="5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1" dur="1000"/>
                                        <p:tgtEl>
                                          <p:spTgt spid="5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4" dur="1000"/>
                                        <p:tgtEl>
                                          <p:spTgt spid="5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7" dur="1000"/>
                                        <p:tgtEl>
                                          <p:spTgt spid="5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550" grpId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Exercício 1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11</a:t>
            </a:r>
          </a:p>
        </p:txBody>
      </p:sp>
      <p:sp>
        <p:nvSpPr>
          <p:cNvPr id="553" name="Exercício: Calcule as derivadas abaixo através da definiçã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572516">
              <a:spcBef>
                <a:spcPts val="900"/>
              </a:spcBef>
              <a:buSzTx/>
              <a:buNone/>
              <a:defRPr sz="3136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</a:t>
            </a:r>
            <a:r>
              <a:t>Calcule as derivadas abaixo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através da definição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indent="0" algn="ctr" defTabSz="572516">
              <a:spcBef>
                <a:spcPts val="900"/>
              </a:spcBef>
              <a:buSzTx/>
              <a:buNone/>
              <a:defRPr sz="3136"/>
            </a:pPr>
            <a14:m>
              <m:oMathPara>
                <m:oMathParaPr>
                  <m:jc m:val="center"/>
                </m:oMathParaPr>
                <m:oMath>
                  <m:r>
                    <a:rPr xmlns:a="http://schemas.openxmlformats.org/drawingml/2006/main" sz="3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</m:t>
                  </m:r>
                  <m:r>
                    <a:rPr xmlns:a="http://schemas.openxmlformats.org/drawingml/2006/main" sz="375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i</m:t>
                  </m:r>
                  <m:sSub>
                    <m:e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e>
                    <m:sub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f>
                    <m:fPr>
                      <m:ctrlP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num>
                    <m:den>
                      <m:r>
                        <a:rPr xmlns:a="http://schemas.openxmlformats.org/drawingml/2006/main" sz="375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den>
                  </m:f>
                </m:oMath>
              </m:oMathPara>
            </a14:m>
          </a:p>
          <a:p>
            <a:pPr marL="0" indent="0" algn="ctr" defTabSz="572516">
              <a:spcBef>
                <a:spcPts val="900"/>
              </a:spcBef>
              <a:buSzTx/>
              <a:buNone/>
              <a:defRPr sz="3136"/>
            </a:pPr>
          </a:p>
          <a:p>
            <a:pPr marL="0" indent="0" defTabSz="572516">
              <a:spcBef>
                <a:spcPts val="900"/>
              </a:spcBef>
              <a:buSzTx/>
              <a:buNone/>
              <a:defRPr sz="3136"/>
            </a:pPr>
            <a:r>
              <a:t>a) f(x) = 3x + 2 			</a:t>
            </a:r>
          </a:p>
          <a:p>
            <a:pPr marL="0" indent="0" defTabSz="572516">
              <a:spcBef>
                <a:spcPts val="900"/>
              </a:spcBef>
              <a:buSzTx/>
              <a:buNone/>
              <a:defRPr sz="3136"/>
            </a:pPr>
            <a:r>
              <a:t>b) f(x) = 1 – 4x</a:t>
            </a:r>
            <a:r>
              <a:rPr baseline="30214"/>
              <a:t>2</a:t>
            </a:r>
            <a:r>
              <a:t>  			</a:t>
            </a:r>
          </a:p>
          <a:p>
            <a:pPr marL="0" indent="0" defTabSz="572516">
              <a:spcBef>
                <a:spcPts val="900"/>
              </a:spcBef>
              <a:buSzTx/>
              <a:buNone/>
              <a:defRPr sz="3136"/>
            </a:pPr>
            <a:r>
              <a:t>c) f(x) = 2x</a:t>
            </a:r>
            <a:r>
              <a:rPr baseline="30214"/>
              <a:t>2</a:t>
            </a:r>
            <a:r>
              <a:t> – x – 1 </a:t>
            </a:r>
          </a:p>
          <a:p>
            <a:pPr marL="0" indent="0" defTabSz="572516">
              <a:spcBef>
                <a:spcPts val="900"/>
              </a:spcBef>
              <a:buSzTx/>
              <a:buNone/>
              <a:defRPr sz="3136"/>
            </a:pPr>
          </a:p>
          <a:p>
            <a:pPr marL="0" indent="0" defTabSz="572516">
              <a:spcBef>
                <a:spcPts val="900"/>
              </a:spcBef>
              <a:buSzTx/>
              <a:buNone/>
              <a:defRPr sz="3136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Respostas: </a:t>
            </a:r>
            <a:br/>
            <a:r>
              <a:t>a) 3        b) - 8x           c) 4x –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Exercício 1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12</a:t>
            </a:r>
          </a:p>
        </p:txBody>
      </p:sp>
      <p:sp>
        <p:nvSpPr>
          <p:cNvPr id="556" name="Exercício: (a) Determine a equação da reta tangente ao gráfico da função  f(x) = x2 - 3x + 4 no ponto (1, f(1)) (b) Determine a função derivada pela definição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20624">
              <a:spcBef>
                <a:spcPts val="3000"/>
              </a:spcBef>
              <a:buSzTx/>
              <a:buNone/>
              <a:defRPr sz="2304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 </a:t>
            </a:r>
            <a:r>
              <a:t>(a) Determine a equação da reta tangente ao gráfico da função </a:t>
            </a:r>
            <a:br/>
            <a:r>
              <a:t>f(x) = x</a:t>
            </a:r>
            <a:r>
              <a:rPr baseline="29222"/>
              <a:t>2</a:t>
            </a:r>
            <a:r>
              <a:t> - 3x + 4 no ponto (1, f(1))</a:t>
            </a:r>
            <a:br/>
            <a:r>
              <a:t>(b) Determine a função derivada pela definição</a:t>
            </a:r>
          </a:p>
          <a:p>
            <a:pPr marL="0" indent="0" defTabSz="420624">
              <a:spcBef>
                <a:spcPts val="3000"/>
              </a:spcBef>
              <a:buSzTx/>
              <a:buNone/>
              <a:defRPr sz="2304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Solução:</a:t>
            </a:r>
            <a:br/>
            <a:r>
              <a:t>(a) x=1, f(1)=2</a:t>
            </a:r>
            <a:br/>
            <a14:m>
              <m:oMath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f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sSup>
                  <m:e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  <m:sup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3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sSup>
                  <m:e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p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3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3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4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e>
                  <m:sup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p>
                </m:sSup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</m:oMath>
            </a14:m>
            <a:br/>
            <a14:m>
              <m:oMath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num>
                  <m:den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p>
                      <m:e>
                        <m:r>
                          <a:rPr xmlns:a="http://schemas.openxmlformats.org/drawingml/2006/main"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xmlns:a="http://schemas.openxmlformats.org/drawingml/2006/main" sz="27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num>
                  <m:den>
                    <m:r>
                      <a:rPr xmlns:a="http://schemas.openxmlformats.org/drawingml/2006/main" sz="27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  <m:r>
                  <a:rPr xmlns:a="http://schemas.openxmlformats.org/drawingml/2006/main" sz="27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</m:oMath>
            </a14:m>
            <a:br/>
            <a:r>
              <a:t>                                      </a:t>
            </a:r>
            <a14:m>
              <m:oMath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f>
                  <m:fPr>
                    <m:ctrlP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p>
                      <m:e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xmlns:a="http://schemas.openxmlformats.org/drawingml/2006/mai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num>
                  <m:den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</m:den>
                </m:f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</m:t>
                </m:r>
                <m:sSub>
                  <m:e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m</m:t>
                    </m:r>
                  </m:e>
                  <m:sub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xmlns:a="http://schemas.openxmlformats.org/drawingml/2006/mai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h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br/>
            <a:br/>
            <a:r>
              <a:t>(b) y=ax+b, a=-1, b=?</a:t>
            </a:r>
            <a:br/>
            <a:r>
              <a:t>Quando x=1, y=f(1)=2, então</a:t>
            </a:r>
            <a:br/>
            <a14:m>
              <m:oMath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2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28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</m:oMath>
            </a14:m>
            <a:br/>
            <a14:m>
              <m:oMath>
                <m:r>
                  <a:rPr xmlns:a="http://schemas.openxmlformats.org/drawingml/2006/main" sz="2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b</m:t>
                </m:r>
                <m:r>
                  <a:rPr xmlns:a="http://schemas.openxmlformats.org/drawingml/2006/main" sz="2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29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3</m:t>
                </m:r>
              </m:oMath>
            </a14:m>
            <a:endParaRPr sz="32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5" animBg="1" rev="0" advAuto="0" spid="556" grpId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Imagem" descr="Imagem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2929" t="0" r="2929" b="0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559" name="DERIVADAS DE ORDEM SUPERIOR"/>
          <p:cNvSpPr txBox="1"/>
          <p:nvPr/>
        </p:nvSpPr>
        <p:spPr>
          <a:xfrm>
            <a:off x="1050607" y="4447859"/>
            <a:ext cx="10903586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/>
            <a:r>
              <a:t>DERIVADAS DE ORDEM SUPERIOR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Derivadas de Ordem Superi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7360"/>
            </a:lvl1pPr>
          </a:lstStyle>
          <a:p>
            <a:pPr/>
            <a:r>
              <a:t>Derivadas de Ordem Superior</a:t>
            </a:r>
          </a:p>
        </p:txBody>
      </p:sp>
      <p:sp>
        <p:nvSpPr>
          <p:cNvPr id="562" name="Se f for uma função diferenciável, então sua derivada f′ também é uma função, de modo que f′ pode ter sua própria derivada, denotada por (f′)′ = f′′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22275" indent="-422275" defTabSz="467359">
              <a:lnSpc>
                <a:spcPct val="130000"/>
              </a:lnSpc>
              <a:spcBef>
                <a:spcPts val="700"/>
              </a:spcBef>
              <a:defRPr sz="3040"/>
            </a:pPr>
            <a:r>
              <a:t>Se f for uma 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função diferenciável</a:t>
            </a:r>
            <a:r>
              <a:t>, então sua derivada f′ também é uma função, de modo que f′ pode ter sua própria derivada, denotada por (f′)′ = f′′</a:t>
            </a:r>
          </a:p>
          <a:p>
            <a:pPr lvl="1" marL="777875" indent="-422275" defTabSz="467359">
              <a:lnSpc>
                <a:spcPct val="130000"/>
              </a:lnSpc>
              <a:spcBef>
                <a:spcPts val="700"/>
              </a:spcBef>
              <a:defRPr sz="3040"/>
            </a:pPr>
            <a:r>
              <a:t>Esta nova função f′′ é chamada de segunda derivada de f  pois é a derivada de </a:t>
            </a:r>
            <a:r>
              <a:rPr b="1"/>
              <a:t>ordem dois</a:t>
            </a:r>
            <a:r>
              <a:t>, de f</a:t>
            </a:r>
          </a:p>
          <a:p>
            <a:pPr lvl="1" marL="777875" indent="-422275" defTabSz="467359">
              <a:lnSpc>
                <a:spcPct val="130000"/>
              </a:lnSpc>
              <a:spcBef>
                <a:spcPts val="700"/>
              </a:spcBef>
              <a:defRPr sz="3040"/>
            </a:pPr>
          </a:p>
          <a:p>
            <a:pPr marL="422275" indent="-422275" defTabSz="467359">
              <a:lnSpc>
                <a:spcPct val="130000"/>
              </a:lnSpc>
              <a:spcBef>
                <a:spcPts val="700"/>
              </a:spcBef>
              <a:defRPr sz="3040"/>
            </a:pPr>
            <a:r>
              <a:t>Usando a </a:t>
            </a:r>
            <a:r>
              <a:rPr u="sng"/>
              <a:t>notação de Leibniz</a:t>
            </a:r>
            <a:r>
              <a:t>, escrevemos a segunda derivada de y = f (x) como</a:t>
            </a:r>
            <a:br/>
            <a:br/>
          </a:p>
        </p:txBody>
      </p:sp>
      <p:pic>
        <p:nvPicPr>
          <p:cNvPr id="56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97404" y="7758605"/>
            <a:ext cx="2609992" cy="9550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Exercício 1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13</a:t>
            </a:r>
          </a:p>
        </p:txBody>
      </p:sp>
      <p:sp>
        <p:nvSpPr>
          <p:cNvPr id="566" name="Exercício: Se f (x) = x3 – x, encontre e interprete f′′(x)…"/>
          <p:cNvSpPr txBox="1"/>
          <p:nvPr>
            <p:ph type="body" sz="half" idx="1"/>
          </p:nvPr>
        </p:nvSpPr>
        <p:spPr>
          <a:xfrm>
            <a:off x="952500" y="2590800"/>
            <a:ext cx="11099800" cy="3032374"/>
          </a:xfrm>
          <a:prstGeom prst="rect">
            <a:avLst/>
          </a:prstGeom>
        </p:spPr>
        <p:txBody>
          <a:bodyPr anchor="t"/>
          <a:lstStyle/>
          <a:p>
            <a:pPr marL="0" indent="0" defTabSz="432308">
              <a:lnSpc>
                <a:spcPct val="130000"/>
              </a:lnSpc>
              <a:spcBef>
                <a:spcPts val="700"/>
              </a:spcBef>
              <a:buSzTx/>
              <a:buNone/>
              <a:defRPr sz="2812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Exercício: </a:t>
            </a:r>
            <a:r>
              <a:t>Se f (x) = x</a:t>
            </a:r>
            <a:r>
              <a:rPr baseline="31999"/>
              <a:t>3</a:t>
            </a:r>
            <a:r>
              <a:t> – x, encontre e interprete f′′(x)</a:t>
            </a:r>
          </a:p>
          <a:p>
            <a:pPr marL="344369" indent="-344369" defTabSz="432308">
              <a:lnSpc>
                <a:spcPct val="130000"/>
              </a:lnSpc>
              <a:spcBef>
                <a:spcPts val="700"/>
              </a:spcBef>
              <a:defRPr sz="2812"/>
            </a:pPr>
          </a:p>
          <a:p>
            <a:pPr marL="0" indent="0" defTabSz="432308">
              <a:lnSpc>
                <a:spcPct val="130000"/>
              </a:lnSpc>
              <a:spcBef>
                <a:spcPts val="700"/>
              </a:spcBef>
              <a:buSzTx/>
              <a:buNone/>
              <a:defRPr sz="2812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Solução: </a:t>
            </a:r>
            <a:r>
              <a:t>A primeira derivada de f(x)=x</a:t>
            </a:r>
            <a:r>
              <a:rPr baseline="31999"/>
              <a:t>3</a:t>
            </a:r>
            <a:r>
              <a:t> – x é </a:t>
            </a:r>
            <a:br/>
            <a:r>
              <a:t>f′(x) = 3x</a:t>
            </a:r>
            <a:r>
              <a:rPr baseline="31999"/>
              <a:t>2</a:t>
            </a:r>
            <a:r>
              <a:t> – 1</a:t>
            </a:r>
          </a:p>
          <a:p>
            <a:pPr marL="344369" indent="-344369" defTabSz="432308">
              <a:lnSpc>
                <a:spcPct val="130000"/>
              </a:lnSpc>
              <a:spcBef>
                <a:spcPts val="700"/>
              </a:spcBef>
              <a:defRPr sz="2812"/>
            </a:pPr>
            <a:r>
              <a:t>Assim, a segunda derivada é</a:t>
            </a:r>
          </a:p>
        </p:txBody>
      </p:sp>
      <p:grpSp>
        <p:nvGrpSpPr>
          <p:cNvPr id="574" name="Grupo"/>
          <p:cNvGrpSpPr/>
          <p:nvPr/>
        </p:nvGrpSpPr>
        <p:grpSpPr>
          <a:xfrm>
            <a:off x="6615968" y="5407351"/>
            <a:ext cx="6087507" cy="4138508"/>
            <a:chOff x="0" y="0"/>
            <a:chExt cx="6087506" cy="4138507"/>
          </a:xfrm>
        </p:grpSpPr>
        <p:pic>
          <p:nvPicPr>
            <p:cNvPr id="567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2085339" cy="4840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8" name="image.tif" descr="image.ti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712773" y="539860"/>
              <a:ext cx="3231847" cy="8907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69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33370" y="1446082"/>
              <a:ext cx="4625505" cy="8907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0" name="image.tif" descr="image.ti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693923" y="2431885"/>
              <a:ext cx="5393584" cy="9019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1" name="image.tif" descr="image.tif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685678" y="3398146"/>
              <a:ext cx="2202945" cy="7403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72" name="image.png" descr="image.png"/>
            <p:cNvPicPr>
              <a:picLocks noChangeAspect="1"/>
            </p:cNvPicPr>
            <p:nvPr/>
          </p:nvPicPr>
          <p:blipFill>
            <a:blip r:embed="rId7">
              <a:extLst/>
            </a:blip>
            <a:srcRect l="0" t="15315" r="0" b="0"/>
            <a:stretch>
              <a:fillRect/>
            </a:stretch>
          </p:blipFill>
          <p:spPr>
            <a:xfrm>
              <a:off x="2901810" y="3492134"/>
              <a:ext cx="740365" cy="4649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3" name="."/>
            <p:cNvSpPr txBox="1"/>
            <p:nvPr/>
          </p:nvSpPr>
          <p:spPr>
            <a:xfrm>
              <a:off x="3523452" y="3492134"/>
              <a:ext cx="166100" cy="3473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noAutofit/>
            </a:bodyPr>
            <a:lstStyle>
              <a:lvl1pPr algn="l" defTabSz="1300480">
                <a:lnSpc>
                  <a:spcPct val="120000"/>
                </a:lnSpc>
                <a:defRPr b="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.</a:t>
              </a:r>
            </a:p>
          </p:txBody>
        </p:sp>
      </p:grpSp>
      <p:sp>
        <p:nvSpPr>
          <p:cNvPr id="575" name="NOTA: Como fazer o gráfico da função?…"/>
          <p:cNvSpPr txBox="1"/>
          <p:nvPr/>
        </p:nvSpPr>
        <p:spPr>
          <a:xfrm>
            <a:off x="271789" y="7049975"/>
            <a:ext cx="5092530" cy="2431770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NOTA: Como fazer o gráfico da função?</a:t>
            </a:r>
          </a:p>
          <a:p>
            <a:pPr marL="305593" indent="-305593" algn="l">
              <a:buSzPct val="145000"/>
              <a:buChar char="•"/>
              <a:defRPr b="0"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Raízes (zeros, intersecção com o eixo x, f(x)=0)</a:t>
            </a:r>
          </a:p>
          <a:p>
            <a:pPr marL="305593" indent="-305593" algn="l">
              <a:buSzPct val="145000"/>
              <a:buChar char="•"/>
              <a:defRPr b="0"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Intersecção com o eixo y (f(x=0))</a:t>
            </a:r>
          </a:p>
          <a:p>
            <a:pPr marL="305593" indent="-305593" algn="l">
              <a:buSzPct val="145000"/>
              <a:buChar char="•"/>
              <a:defRPr b="0"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Descontinuidades (raízes de denominador na funções racionais p.e. - assíntotas verticais?)</a:t>
            </a:r>
          </a:p>
          <a:p>
            <a:pPr marL="305593" indent="-305593" algn="l">
              <a:buSzPct val="145000"/>
              <a:buChar char="•"/>
              <a:defRPr b="0" sz="18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r>
              <a:t>Limites no infinito (assíntotas horizontais?)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566" grpId="1"/>
      <p:bldP build="whole" bldLvl="1" animBg="1" rev="0" advAuto="0" spid="574" grpId="2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Exercício 1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Exercício 13</a:t>
            </a:r>
          </a:p>
        </p:txBody>
      </p:sp>
      <p:sp>
        <p:nvSpPr>
          <p:cNvPr id="578" name="Podemos interpretar f′′(x) como a inclinação da curva y = f′(x) no ponto (x, f ′(x)) (a taxa de variação da inclinação da curva original y = f (x))"/>
          <p:cNvSpPr txBox="1"/>
          <p:nvPr>
            <p:ph type="body" sz="quarter" idx="1"/>
          </p:nvPr>
        </p:nvSpPr>
        <p:spPr>
          <a:xfrm>
            <a:off x="952500" y="2590800"/>
            <a:ext cx="11099800" cy="1663700"/>
          </a:xfrm>
          <a:prstGeom prst="rect">
            <a:avLst/>
          </a:prstGeom>
        </p:spPr>
        <p:txBody>
          <a:bodyPr anchor="t"/>
          <a:lstStyle>
            <a:lvl1pPr marL="401161" indent="-401161" defTabSz="443991">
              <a:lnSpc>
                <a:spcPct val="130000"/>
              </a:lnSpc>
              <a:spcBef>
                <a:spcPts val="700"/>
              </a:spcBef>
              <a:defRPr sz="2888"/>
            </a:lvl1pPr>
          </a:lstStyle>
          <a:p>
            <a:pPr/>
            <a:r>
              <a:t>Podemos interpretar f′′(x) como a inclinação da curva y = f′(x) no ponto (x, f ′(x)) (a taxa de variação da inclinação da curva original y = f (x))</a:t>
            </a:r>
          </a:p>
        </p:txBody>
      </p:sp>
      <p:pic>
        <p:nvPicPr>
          <p:cNvPr id="579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38802" y="4928205"/>
            <a:ext cx="5527196" cy="36411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Derivadas de Ordem Superi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7360"/>
            </a:lvl1pPr>
          </a:lstStyle>
          <a:p>
            <a:pPr/>
            <a:r>
              <a:t>Derivadas de Ordem Superior</a:t>
            </a:r>
          </a:p>
        </p:txBody>
      </p:sp>
      <p:sp>
        <p:nvSpPr>
          <p:cNvPr id="582" name="A taxa instantânea de variação da velocidade com relação ao tempo é chamada aceleração a(t) do objeto…"/>
          <p:cNvSpPr txBox="1"/>
          <p:nvPr>
            <p:ph type="body" idx="1"/>
          </p:nvPr>
        </p:nvSpPr>
        <p:spPr>
          <a:xfrm>
            <a:off x="952500" y="3109515"/>
            <a:ext cx="11099800" cy="5767785"/>
          </a:xfrm>
          <a:prstGeom prst="rect">
            <a:avLst/>
          </a:prstGeom>
        </p:spPr>
        <p:txBody>
          <a:bodyPr/>
          <a:lstStyle/>
          <a:p>
            <a:pPr marL="411718" indent="-411718" defTabSz="455675">
              <a:lnSpc>
                <a:spcPct val="130000"/>
              </a:lnSpc>
              <a:spcBef>
                <a:spcPts val="700"/>
              </a:spcBef>
              <a:defRPr sz="2964"/>
            </a:pPr>
            <a:r>
              <a:t>A taxa instantânea de variação da velocidade com relação ao tempo é chamada aceleração a(t) do objeto</a:t>
            </a:r>
          </a:p>
          <a:p>
            <a:pPr marL="411718" indent="-411718" defTabSz="455675">
              <a:lnSpc>
                <a:spcPct val="130000"/>
              </a:lnSpc>
              <a:spcBef>
                <a:spcPts val="700"/>
              </a:spcBef>
              <a:defRPr sz="2964"/>
            </a:pPr>
            <a:r>
              <a:t>A função aceleração é a derivada da função velocidade e, portanto, é a segunda derivada da função posição:</a:t>
            </a:r>
          </a:p>
          <a:p>
            <a:pPr lvl="1" marL="0" indent="0" algn="ctr" defTabSz="455675">
              <a:lnSpc>
                <a:spcPct val="130000"/>
              </a:lnSpc>
              <a:spcBef>
                <a:spcPts val="700"/>
              </a:spcBef>
              <a:buSzTx/>
              <a:buNone/>
              <a:defRPr sz="2964"/>
            </a:pPr>
            <a14:m>
              <m:oMath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′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s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′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′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t</m:t>
                </m:r>
                <m:r>
                  <a:rPr xmlns:a="http://schemas.openxmlformats.org/drawingml/2006/main" sz="36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br/>
          </a:p>
          <a:p>
            <a:pPr marL="0" indent="0" defTabSz="455675">
              <a:lnSpc>
                <a:spcPct val="130000"/>
              </a:lnSpc>
              <a:spcBef>
                <a:spcPts val="700"/>
              </a:spcBef>
              <a:buSzTx/>
              <a:buNone/>
              <a:defRPr sz="2964"/>
            </a:pPr>
            <a:r>
              <a:t>ou, na notação de Leibniz,</a:t>
            </a:r>
          </a:p>
          <a:p>
            <a:pPr marL="0" indent="0" algn="ctr" defTabSz="455675">
              <a:lnSpc>
                <a:spcPct val="130000"/>
              </a:lnSpc>
              <a:spcBef>
                <a:spcPts val="700"/>
              </a:spcBef>
              <a:buSzTx/>
              <a:buNone/>
              <a:defRPr sz="2964"/>
            </a:pPr>
            <a14:m>
              <m:oMath>
                <m:r>
                  <a:rPr xmlns:a="http://schemas.openxmlformats.org/drawingml/2006/main" sz="3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</m:t>
                </m:r>
                <m:r>
                  <a:rPr xmlns:a="http://schemas.openxmlformats.org/drawingml/2006/main" sz="3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</m:t>
                    </m:r>
                  </m:num>
                  <m:den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den>
                </m:f>
                <m:r>
                  <a:rPr xmlns:a="http://schemas.openxmlformats.org/drawingml/2006/main" sz="35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p>
                      <m:e>
                        <m:r>
                          <a:rPr xmlns:a="http://schemas.openxmlformats.org/drawingml/2006/main"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xmlns:a="http://schemas.openxmlformats.org/drawingml/2006/main"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</m:num>
                  <m:den>
                    <m:r>
                      <a:rPr xmlns:a="http://schemas.openxmlformats.org/drawingml/2006/main"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sSup>
                      <m:e>
                        <m:r>
                          <a:rPr xmlns:a="http://schemas.openxmlformats.org/drawingml/2006/main"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xmlns:a="http://schemas.openxmlformats.org/drawingml/2006/main"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</m:oMath>
            </a14:m>
            <a:r>
              <a:t> </a:t>
            </a:r>
            <a:endParaRPr sz="3800"/>
          </a:p>
        </p:txBody>
      </p:sp>
      <p:sp>
        <p:nvSpPr>
          <p:cNvPr id="583" name="Exemplo: Deslocamento / Velocidade / Aceleração"/>
          <p:cNvSpPr txBox="1"/>
          <p:nvPr/>
        </p:nvSpPr>
        <p:spPr>
          <a:xfrm>
            <a:off x="1554835" y="2094052"/>
            <a:ext cx="9895130" cy="585112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/>
            <a:r>
              <a:t>Exemplo: Deslocamento / Velocidade / Aceleração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Derivadas de Ordem Superi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7463">
              <a:defRPr sz="7360"/>
            </a:lvl1pPr>
          </a:lstStyle>
          <a:p>
            <a:pPr/>
            <a:r>
              <a:t>Derivadas de Ordem Superior</a:t>
            </a:r>
          </a:p>
        </p:txBody>
      </p:sp>
      <p:sp>
        <p:nvSpPr>
          <p:cNvPr id="586" name="O processo pode continuar, terceira derivad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 marL="480337" indent="-480337" defTabSz="531622">
              <a:lnSpc>
                <a:spcPct val="130000"/>
              </a:lnSpc>
              <a:spcBef>
                <a:spcPts val="800"/>
              </a:spcBef>
              <a:defRPr sz="3458"/>
            </a:pPr>
            <a:r>
              <a:t>O processo pode continuar, terceira derivada</a:t>
            </a:r>
          </a:p>
          <a:p>
            <a:pPr marL="0" indent="0" algn="ctr" defTabSz="531622">
              <a:lnSpc>
                <a:spcPct val="130000"/>
              </a:lnSpc>
              <a:spcBef>
                <a:spcPts val="800"/>
              </a:spcBef>
              <a:buSzTx/>
              <a:buNone/>
              <a:defRPr sz="3458"/>
            </a:pPr>
            <a14:m>
              <m:oMath>
                <m:sSup>
                  <m:e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e>
                  <m:sup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sup>
                </m:sSup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</m:num>
                  <m:den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x</m:t>
                    </m:r>
                  </m:den>
                </m:f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f>
                  <m:fPr>
                    <m:ctrlP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p>
                      <m:e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num>
                  <m:den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sSup>
                      <m:e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den>
                </m:f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p>
                      <m:e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num>
                  <m:den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sSup>
                      <m:e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den>
                </m:f>
              </m:oMath>
            </a14:m>
            <a:br/>
          </a:p>
          <a:p>
            <a:pPr marL="480337" indent="-480337" defTabSz="531622">
              <a:lnSpc>
                <a:spcPct val="130000"/>
              </a:lnSpc>
              <a:spcBef>
                <a:spcPts val="800"/>
              </a:spcBef>
              <a:defRPr sz="3458"/>
            </a:pPr>
            <a:r>
              <a:t>A n-ésima derivada de f é denotada por f</a:t>
            </a:r>
            <a:r>
              <a:rPr baseline="31999"/>
              <a:t>(n)</a:t>
            </a:r>
            <a:r>
              <a:t> e é obtida a partir de f, derivado n vezes. Se y=f(x), escrevemos</a:t>
            </a:r>
          </a:p>
          <a:p>
            <a:pPr marL="0" indent="0" algn="ctr" defTabSz="531622">
              <a:lnSpc>
                <a:spcPct val="130000"/>
              </a:lnSpc>
              <a:spcBef>
                <a:spcPts val="800"/>
              </a:spcBef>
              <a:buSzTx/>
              <a:buNone/>
              <a:defRPr sz="3458"/>
            </a:pPr>
            <a14:m>
              <m:oMath>
                <m:sSup>
                  <m:e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e>
                  <m:sup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sup>
                </m:sSup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p>
                  <m:e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</m:e>
                  <m:sup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sup>
                </m:sSup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x</m:t>
                </m:r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41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</m:ctrlPr>
                    <m:type m:val="bar"/>
                  </m:fPr>
                  <m:num>
                    <m:sSup>
                      <m:e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y</m:t>
                    </m:r>
                  </m:num>
                  <m:den>
                    <m:r>
                      <a:rPr xmlns:a="http://schemas.openxmlformats.org/drawingml/2006/main" sz="4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sSup>
                      <m:e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xmlns:a="http://schemas.openxmlformats.org/drawingml/2006/main" sz="41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den>
                </m:f>
              </m:oMath>
            </a14:m>
            <a:r>
              <a:t> </a:t>
            </a:r>
            <a:endParaRPr sz="3800"/>
          </a:p>
        </p:txBody>
      </p:sp>
      <p:sp>
        <p:nvSpPr>
          <p:cNvPr id="587" name="."/>
          <p:cNvSpPr txBox="1"/>
          <p:nvPr/>
        </p:nvSpPr>
        <p:spPr>
          <a:xfrm>
            <a:off x="8288302" y="5527040"/>
            <a:ext cx="262717" cy="611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>
            <a:lvl1pPr algn="l" defTabSz="1300480">
              <a:lnSpc>
                <a:spcPct val="120000"/>
              </a:lnSpc>
              <a:defRPr b="0"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Imagem" descr="Imagem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16376" y="3827178"/>
            <a:ext cx="8517533" cy="476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90" name="Regras de Derivação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3300"/>
            </a:lvl1pPr>
          </a:lstStyle>
          <a:p>
            <a:pPr/>
            <a:r>
              <a:t>Regras de Derivação</a:t>
            </a:r>
          </a:p>
        </p:txBody>
      </p:sp>
      <p:sp>
        <p:nvSpPr>
          <p:cNvPr id="591" name="Próxima Aul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Próxima Aula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tewart, J. (2013). Cálculo, vol. 1, 7ª edição. Editora Thompson, 34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2264" indent="-342264" defTabSz="449833">
              <a:spcBef>
                <a:spcPts val="3200"/>
              </a:spcBef>
              <a:defRPr sz="2464"/>
            </a:pPr>
            <a:r>
              <a:t>Stewart, J. (2013). Cálculo, vol. 1, 7ª edição. Editora Thompson, 34.</a:t>
            </a:r>
          </a:p>
          <a:p>
            <a:pPr marL="342264" indent="-342264" defTabSz="449833">
              <a:spcBef>
                <a:spcPts val="3200"/>
              </a:spcBef>
              <a:defRPr sz="2464"/>
            </a:pPr>
            <a:r>
              <a:t>Material didático, CENGAGE, Stewart, J. (2013). Cálculo, vol. 1, 7ª edição.</a:t>
            </a:r>
            <a:br/>
            <a:r>
              <a:rPr u="sng">
                <a:hlinkClick r:id="rId2" invalidUrl="" action="" tgtFrame="" tooltip="" history="1" highlightClick="0" endSnd="0"/>
              </a:rPr>
              <a:t>http://www.cengage.com.br</a:t>
            </a:r>
          </a:p>
          <a:p>
            <a:pPr marL="342264" indent="-342264" defTabSz="449833">
              <a:spcBef>
                <a:spcPts val="3200"/>
              </a:spcBef>
              <a:defRPr sz="2464"/>
            </a:pPr>
            <a:r>
              <a:t>Iezzi, G., Murakami, C., Stewart, J., &amp; Learning, E. T. (2004). Fundamentos de Matemática Elementar: Limites, Derivadas, Noções de Integral, volume 8. São Paulo: Atual Editora.</a:t>
            </a:r>
          </a:p>
          <a:p>
            <a:pPr marL="342264" indent="-342264" defTabSz="449833">
              <a:spcBef>
                <a:spcPts val="3200"/>
              </a:spcBef>
              <a:defRPr sz="2464"/>
            </a:pPr>
            <a:r>
              <a:t>Material didático Matemática Aplicada II, Análise e Desenvolvimento de Sistemas, Tásia do Vale, EAJ-UFRN</a:t>
            </a:r>
          </a:p>
          <a:p>
            <a:pPr marL="342264" indent="-342264" defTabSz="449833">
              <a:spcBef>
                <a:spcPts val="3200"/>
              </a:spcBef>
              <a:defRPr sz="2464"/>
            </a:pPr>
            <a:r>
              <a:t>Ávila, G. (1998). Introdução ao cálculo. Rio de Janeiro: LTC, 3.</a:t>
            </a:r>
          </a:p>
          <a:p>
            <a:pPr marL="342264" indent="-342264" defTabSz="449833">
              <a:spcBef>
                <a:spcPts val="3200"/>
              </a:spcBef>
              <a:defRPr sz="2464"/>
            </a:pPr>
            <a:r>
              <a:t>Barboni, A., &amp; Paulette, W. (2007). Fundamentos de Matemática: Cálculo e Análise. Editora LTC, São Paulo.</a:t>
            </a:r>
          </a:p>
        </p:txBody>
      </p:sp>
      <p:sp>
        <p:nvSpPr>
          <p:cNvPr id="594" name="Referênci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Referências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Imagem" descr="Imagem"/>
          <p:cNvPicPr>
            <a:picLocks noChangeAspect="1"/>
          </p:cNvPicPr>
          <p:nvPr>
            <p:ph type="pic" idx="13"/>
          </p:nvPr>
        </p:nvPicPr>
        <p:blipFill>
          <a:blip r:embed="rId2">
            <a:extLst/>
          </a:blip>
          <a:srcRect l="2929" t="0" r="2929" b="0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  <p:sp>
        <p:nvSpPr>
          <p:cNvPr id="597" name="EXTRA"/>
          <p:cNvSpPr txBox="1"/>
          <p:nvPr/>
        </p:nvSpPr>
        <p:spPr>
          <a:xfrm>
            <a:off x="5387022" y="4447859"/>
            <a:ext cx="2230756" cy="857882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/>
            <a:r>
              <a:t>EXTRA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Questõ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Questões</a:t>
            </a:r>
          </a:p>
        </p:txBody>
      </p:sp>
      <p:sp>
        <p:nvSpPr>
          <p:cNvPr id="600" name="O que é uma reta tangente e uma reta secante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74687" indent="-674687">
              <a:spcBef>
                <a:spcPts val="800"/>
              </a:spcBef>
              <a:buSzPct val="100000"/>
              <a:buAutoNum type="arabicPeriod" startAt="1"/>
              <a:defRPr sz="3400"/>
            </a:pPr>
            <a:r>
              <a:t>O que é uma reta tangente e uma reta secante? </a:t>
            </a:r>
          </a:p>
          <a:p>
            <a:pPr marL="674687" indent="-674687">
              <a:spcBef>
                <a:spcPts val="800"/>
              </a:spcBef>
              <a:buSzPct val="100000"/>
              <a:buAutoNum type="arabicPeriod" startAt="1"/>
              <a:defRPr sz="3400"/>
            </a:pPr>
            <a:r>
              <a:t>Numa função, o que significa dizer que o coeficiente de retas tangente e secante são iguais?</a:t>
            </a:r>
          </a:p>
          <a:p>
            <a:pPr marL="674687" indent="-674687">
              <a:spcBef>
                <a:spcPts val="800"/>
              </a:spcBef>
              <a:buSzPct val="100000"/>
              <a:buAutoNum type="arabicPeriod" startAt="1"/>
              <a:defRPr sz="3400"/>
            </a:pPr>
            <a:r>
              <a:t>Qual a definição de derivada?</a:t>
            </a:r>
          </a:p>
          <a:p>
            <a:pPr marL="674687" indent="-674687">
              <a:spcBef>
                <a:spcPts val="800"/>
              </a:spcBef>
              <a:buSzPct val="100000"/>
              <a:buAutoNum type="arabicPeriod" startAt="1"/>
              <a:defRPr sz="3400"/>
            </a:pPr>
            <a:r>
              <a:t>O que é? Para que serve? Onde se aplica uma derivada?</a:t>
            </a:r>
          </a:p>
          <a:p>
            <a:pPr marL="674687" indent="-674687">
              <a:spcBef>
                <a:spcPts val="800"/>
              </a:spcBef>
              <a:buSzPct val="100000"/>
              <a:buAutoNum type="arabicPeriod" startAt="1"/>
              <a:defRPr sz="3400">
                <a:solidFill>
                  <a:srgbClr val="FF0000"/>
                </a:solidFill>
              </a:defRPr>
            </a:pPr>
            <a:r>
              <a:t>Pesquise sobre a história ou desenvolvimento e motivação para a pesquisa desses conceitos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Y – Y0 = m (X-X0)…"/>
          <p:cNvSpPr txBox="1"/>
          <p:nvPr>
            <p:ph type="body" sz="half" idx="1"/>
          </p:nvPr>
        </p:nvSpPr>
        <p:spPr>
          <a:xfrm>
            <a:off x="952500" y="1270000"/>
            <a:ext cx="5454792" cy="72136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900"/>
              </a:spcBef>
              <a:buSzTx/>
              <a:buNone/>
              <a:defRPr sz="3800"/>
            </a:pPr>
            <a:r>
              <a:t>Y – Y</a:t>
            </a:r>
            <a:r>
              <a:rPr sz="2400"/>
              <a:t>0</a:t>
            </a:r>
            <a:r>
              <a:t> = m (X-X</a:t>
            </a:r>
            <a:r>
              <a:rPr sz="2400"/>
              <a:t>0</a:t>
            </a:r>
            <a:r>
              <a:t>)</a:t>
            </a:r>
          </a:p>
          <a:p>
            <a:pPr marL="0" indent="0">
              <a:spcBef>
                <a:spcPts val="900"/>
              </a:spcBef>
              <a:buSzTx/>
              <a:buNone/>
              <a:defRPr sz="3800"/>
            </a:pPr>
            <a:r>
              <a:t> Se soubermos o coeficiente angular m dessa reta saberemos qual a única reta que passa por esse ponto e a equação da reta </a:t>
            </a:r>
          </a:p>
        </p:txBody>
      </p:sp>
      <p:pic>
        <p:nvPicPr>
          <p:cNvPr id="60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42533" y="3304793"/>
            <a:ext cx="5454792" cy="3833708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406400" dist="190500" dir="2700000">
              <a:srgbClr val="333333">
                <a:alpha val="64999"/>
              </a:srgbClr>
            </a:outerShdw>
          </a:effectLst>
        </p:spPr>
      </p:pic>
      <p:sp>
        <p:nvSpPr>
          <p:cNvPr id="604" name="Pág 87- Stewart. Equação da reta que passa pelo ponto (X0,Y0)"/>
          <p:cNvSpPr txBox="1"/>
          <p:nvPr>
            <p:ph type="title" idx="4294967295"/>
          </p:nvPr>
        </p:nvSpPr>
        <p:spPr>
          <a:xfrm>
            <a:off x="693137" y="677333"/>
            <a:ext cx="11704322" cy="1950721"/>
          </a:xfrm>
          <a:prstGeom prst="rect">
            <a:avLst/>
          </a:prstGeom>
        </p:spPr>
        <p:txBody>
          <a:bodyPr lIns="65023" tIns="65023" rIns="65023" bIns="65023"/>
          <a:lstStyle/>
          <a:p>
            <a:pPr>
              <a:defRPr sz="5000"/>
            </a:pPr>
            <a:r>
              <a:t>Pág 87- Stewart. Equação da reta que passa pelo ponto (X</a:t>
            </a:r>
            <a:r>
              <a:rPr sz="2800"/>
              <a:t>0</a:t>
            </a:r>
            <a:r>
              <a:t>,Y</a:t>
            </a:r>
            <a:r>
              <a:rPr sz="2800"/>
              <a:t>0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Tangente e a Velocida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Tangente e a Velocidade</a:t>
            </a:r>
          </a:p>
        </p:txBody>
      </p:sp>
      <p:sp>
        <p:nvSpPr>
          <p:cNvPr id="607" name="Na Física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 Física</a:t>
            </a:r>
          </a:p>
        </p:txBody>
      </p:sp>
      <p:pic>
        <p:nvPicPr>
          <p:cNvPr id="608" name="Imagem" descr="Imagem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52597" y="2319930"/>
            <a:ext cx="5601305" cy="6184774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70000"/>
              </a:srgbClr>
            </a:outerShdw>
          </a:effectLst>
        </p:spPr>
      </p:pic>
      <p:sp>
        <p:nvSpPr>
          <p:cNvPr id="609" name="http://ecalculo.if.usp.br/derivadas/popups/interp_geom.htm"/>
          <p:cNvSpPr txBox="1"/>
          <p:nvPr/>
        </p:nvSpPr>
        <p:spPr>
          <a:xfrm>
            <a:off x="7959426" y="8824858"/>
            <a:ext cx="4187648" cy="275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0" sz="1200" u="sng"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http://ecalculo.if.usp.br/derivadas/popups/interp_geom.htm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Então o que é uma Derivad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4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Então o que é uma Derivada? </a:t>
            </a:r>
          </a:p>
        </p:txBody>
      </p:sp>
      <p:sp>
        <p:nvSpPr>
          <p:cNvPr id="612" name="É uma taxa de variação instantânea de uma variável em relação a outr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22275" indent="-422275" defTabSz="554990">
              <a:spcBef>
                <a:spcPts val="3900"/>
              </a:spcBef>
              <a:defRPr sz="3040"/>
            </a:pPr>
            <a:r>
              <a:t>É uma taxa de variação </a:t>
            </a:r>
            <a:r>
              <a:rPr b="1">
                <a:solidFill>
                  <a:srgbClr val="FF0000"/>
                </a:solidFill>
              </a:rPr>
              <a:t>instantânea</a:t>
            </a:r>
            <a:r>
              <a:rPr>
                <a:solidFill>
                  <a:srgbClr val="FF0000"/>
                </a:solidFill>
              </a:rPr>
              <a:t> </a:t>
            </a:r>
            <a:r>
              <a:t>de uma variável em relação a outra</a:t>
            </a:r>
          </a:p>
          <a:p>
            <a:pPr marL="422275" indent="-422275" defTabSz="554990">
              <a:spcBef>
                <a:spcPts val="3900"/>
              </a:spcBef>
              <a:defRPr sz="3040"/>
            </a:pPr>
          </a:p>
          <a:p>
            <a:pPr marL="422275" indent="-422275" defTabSz="554990">
              <a:spcBef>
                <a:spcPts val="3900"/>
              </a:spcBef>
              <a:defRPr sz="3040"/>
            </a:pPr>
            <a:r>
              <a:t>Instantânea, pois a diferença Δx tende a zero. Por isso o cálculo do Limite</a:t>
            </a:r>
          </a:p>
          <a:p>
            <a:pPr marL="422275" indent="-422275" defTabSz="554990">
              <a:spcBef>
                <a:spcPts val="3900"/>
              </a:spcBef>
              <a:defRPr sz="3040"/>
            </a:pPr>
          </a:p>
          <a:p>
            <a:pPr marL="422275" indent="-422275" defTabSz="554990">
              <a:spcBef>
                <a:spcPts val="3900"/>
              </a:spcBef>
              <a:defRPr sz="3040"/>
            </a:pPr>
            <a:r>
              <a:t>Nesse caso a reta secante aproxima o ponto (x</a:t>
            </a:r>
            <a:r>
              <a:rPr sz="2280"/>
              <a:t>1</a:t>
            </a:r>
            <a:r>
              <a:t> ,f(x</a:t>
            </a:r>
            <a:r>
              <a:rPr sz="2280"/>
              <a:t>1</a:t>
            </a:r>
            <a:r>
              <a:t>)) na função tendendo a ficar infinitamente próximo a tangente no ponto (x</a:t>
            </a:r>
            <a:r>
              <a:rPr sz="2280"/>
              <a:t>0</a:t>
            </a:r>
            <a:r>
              <a:t> ,f(x</a:t>
            </a:r>
            <a:r>
              <a:rPr sz="2280"/>
              <a:t>0</a:t>
            </a:r>
            <a:r>
              <a:t>))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Exercício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Exercício 1</a:t>
            </a:r>
          </a:p>
        </p:txBody>
      </p:sp>
      <p:sp>
        <p:nvSpPr>
          <p:cNvPr id="615" name="(UFSC-2011) A reta que passa pela origem e pelo ponto médio do segmento AB com A=(0,3) e B=(5,0) tem qual coeficiente angular?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b="1"/>
            </a:pPr>
            <a:r>
              <a:rPr b="0"/>
              <a:t>(UFSC-2011) A reta que passa pela origem e pelo ponto médio do segmento AB com A=(0,3) e B=(5,0) tem qual coeficiente angular?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Exercício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Exercício 2</a:t>
            </a:r>
          </a:p>
        </p:txBody>
      </p:sp>
      <p:sp>
        <p:nvSpPr>
          <p:cNvPr id="618" name="(UDESC-2008) A soma do coeficiente angular com o coeficiente linear da reta que passa pelos pontos A(1, 5) e B(4, 14) é: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 b="1"/>
            </a:pPr>
            <a:r>
              <a:rPr b="0"/>
              <a:t>(UDESC-2008) A soma do coeficiente angular com o coeficiente linear da reta que passa pelos pontos A(1, 5) e B(4, 14) é: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-1"/>
            <a:ext cx="13004801" cy="9753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1" name="image.pdf" descr="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53119" y="2926079"/>
            <a:ext cx="2634828" cy="758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622" name="image.pdf" descr="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02880" y="6285653"/>
            <a:ext cx="3072837" cy="1318543"/>
          </a:xfrm>
          <a:prstGeom prst="rect">
            <a:avLst/>
          </a:prstGeom>
          <a:ln w="12700">
            <a:miter lim="400000"/>
          </a:ln>
        </p:spPr>
      </p:pic>
      <p:sp>
        <p:nvSpPr>
          <p:cNvPr id="623" name="Reta tangente que passa por (2,        )"/>
          <p:cNvSpPr txBox="1"/>
          <p:nvPr/>
        </p:nvSpPr>
        <p:spPr>
          <a:xfrm>
            <a:off x="6935893" y="758613"/>
            <a:ext cx="3793068" cy="831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1300480">
              <a:spcBef>
                <a:spcPts val="1500"/>
              </a:spcBef>
              <a:defRPr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Reta tangente que passa por (2,        )</a:t>
            </a:r>
          </a:p>
        </p:txBody>
      </p:sp>
      <p:pic>
        <p:nvPicPr>
          <p:cNvPr id="624" name="image.pdf" descr="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251200" y="1517226"/>
            <a:ext cx="3513103" cy="2158437"/>
          </a:xfrm>
          <a:prstGeom prst="rect">
            <a:avLst/>
          </a:prstGeom>
          <a:ln w="12700">
            <a:miter lim="400000"/>
          </a:ln>
        </p:spPr>
      </p:pic>
      <p:pic>
        <p:nvPicPr>
          <p:cNvPr id="625" name="image.pdf" descr="image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211733" y="1289190"/>
            <a:ext cx="650241" cy="5825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